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5"/>
  </p:notesMasterIdLst>
  <p:sldIdLst>
    <p:sldId id="256" r:id="rId2"/>
    <p:sldId id="278" r:id="rId3"/>
    <p:sldId id="257" r:id="rId4"/>
    <p:sldId id="259" r:id="rId5"/>
    <p:sldId id="270" r:id="rId6"/>
    <p:sldId id="279" r:id="rId7"/>
    <p:sldId id="280" r:id="rId8"/>
    <p:sldId id="258" r:id="rId9"/>
    <p:sldId id="260" r:id="rId10"/>
    <p:sldId id="264" r:id="rId11"/>
    <p:sldId id="268" r:id="rId12"/>
    <p:sldId id="261" r:id="rId13"/>
    <p:sldId id="273" r:id="rId14"/>
    <p:sldId id="265" r:id="rId15"/>
    <p:sldId id="269" r:id="rId16"/>
    <p:sldId id="262" r:id="rId17"/>
    <p:sldId id="274" r:id="rId18"/>
    <p:sldId id="266" r:id="rId19"/>
    <p:sldId id="272" r:id="rId20"/>
    <p:sldId id="271" r:id="rId21"/>
    <p:sldId id="275" r:id="rId22"/>
    <p:sldId id="276" r:id="rId23"/>
    <p:sldId id="277" r:id="rId24"/>
  </p:sldIdLst>
  <p:sldSz cx="9144000" cy="6858000" type="screen4x3"/>
  <p:notesSz cx="6997700" cy="92837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crosoft Corp."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147" autoAdjust="0"/>
    <p:restoredTop sz="79929" autoAdjust="0"/>
  </p:normalViewPr>
  <p:slideViewPr>
    <p:cSldViewPr>
      <p:cViewPr>
        <p:scale>
          <a:sx n="64" d="100"/>
          <a:sy n="64" d="100"/>
        </p:scale>
        <p:origin x="-1584" y="-7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Rectangle 2"/>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defTabSz="930275" eaLnBrk="1" hangingPunct="1">
              <a:defRPr sz="1200"/>
            </a:lvl1pPr>
          </a:lstStyle>
          <a:p>
            <a:endParaRPr lang="en-US"/>
          </a:p>
        </p:txBody>
      </p:sp>
      <p:sp>
        <p:nvSpPr>
          <p:cNvPr id="45059" name="Rectangle 3"/>
          <p:cNvSpPr>
            <a:spLocks noGrp="1" noChangeArrowheads="1"/>
          </p:cNvSpPr>
          <p:nvPr>
            <p:ph type="dt" idx="1"/>
          </p:nvPr>
        </p:nvSpPr>
        <p:spPr bwMode="auto">
          <a:xfrm>
            <a:off x="3963988" y="0"/>
            <a:ext cx="3032125" cy="463550"/>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lvl1pPr algn="r" defTabSz="930275" eaLnBrk="1" hangingPunct="1">
              <a:defRPr sz="1200"/>
            </a:lvl1pPr>
          </a:lstStyle>
          <a:p>
            <a:endParaRPr lang="en-US"/>
          </a:p>
        </p:txBody>
      </p:sp>
      <p:sp>
        <p:nvSpPr>
          <p:cNvPr id="45060"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ffectLst/>
        </p:spPr>
      </p:sp>
      <p:sp>
        <p:nvSpPr>
          <p:cNvPr id="45061" name="Rectangle 5"/>
          <p:cNvSpPr>
            <a:spLocks noGrp="1" noChangeArrowheads="1"/>
          </p:cNvSpPr>
          <p:nvPr>
            <p:ph type="body" sz="quarter" idx="3"/>
          </p:nvPr>
        </p:nvSpPr>
        <p:spPr bwMode="auto">
          <a:xfrm>
            <a:off x="700088" y="4410075"/>
            <a:ext cx="5597525" cy="4176713"/>
          </a:xfrm>
          <a:prstGeom prst="rect">
            <a:avLst/>
          </a:prstGeom>
          <a:noFill/>
          <a:ln w="9525">
            <a:noFill/>
            <a:miter lim="800000"/>
            <a:headEnd/>
            <a:tailEnd/>
          </a:ln>
          <a:effectLst/>
        </p:spPr>
        <p:txBody>
          <a:bodyPr vert="horz" wrap="square" lIns="93029" tIns="46514" rIns="93029" bIns="46514"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5062" name="Rectangle 6"/>
          <p:cNvSpPr>
            <a:spLocks noGrp="1" noChangeArrowheads="1"/>
          </p:cNvSpPr>
          <p:nvPr>
            <p:ph type="ftr" sz="quarter" idx="4"/>
          </p:nvPr>
        </p:nvSpPr>
        <p:spPr bwMode="auto">
          <a:xfrm>
            <a:off x="0"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defTabSz="930275" eaLnBrk="1" hangingPunct="1">
              <a:defRPr sz="1200"/>
            </a:lvl1pPr>
          </a:lstStyle>
          <a:p>
            <a:endParaRPr lang="en-US"/>
          </a:p>
        </p:txBody>
      </p:sp>
      <p:sp>
        <p:nvSpPr>
          <p:cNvPr id="45063" name="Rectangle 7"/>
          <p:cNvSpPr>
            <a:spLocks noGrp="1" noChangeArrowheads="1"/>
          </p:cNvSpPr>
          <p:nvPr>
            <p:ph type="sldNum" sz="quarter" idx="5"/>
          </p:nvPr>
        </p:nvSpPr>
        <p:spPr bwMode="auto">
          <a:xfrm>
            <a:off x="3963988" y="8818563"/>
            <a:ext cx="3032125" cy="463550"/>
          </a:xfrm>
          <a:prstGeom prst="rect">
            <a:avLst/>
          </a:prstGeom>
          <a:noFill/>
          <a:ln w="9525">
            <a:noFill/>
            <a:miter lim="800000"/>
            <a:headEnd/>
            <a:tailEnd/>
          </a:ln>
          <a:effectLst/>
        </p:spPr>
        <p:txBody>
          <a:bodyPr vert="horz" wrap="square" lIns="93029" tIns="46514" rIns="93029" bIns="46514" numCol="1" anchor="b" anchorCtr="0" compatLnSpc="1">
            <a:prstTxWarp prst="textNoShape">
              <a:avLst/>
            </a:prstTxWarp>
          </a:bodyPr>
          <a:lstStyle>
            <a:lvl1pPr algn="r" defTabSz="930275" eaLnBrk="1" hangingPunct="1">
              <a:defRPr sz="1200"/>
            </a:lvl1pPr>
          </a:lstStyle>
          <a:p>
            <a:fld id="{988C7076-7580-465C-B955-B9485B2A6B37}" type="slidenum">
              <a:rPr lang="en-US"/>
              <a:pPr/>
              <a:t>‹#›</a:t>
            </a:fld>
            <a:endParaRPr lang="en-US"/>
          </a:p>
        </p:txBody>
      </p:sp>
    </p:spTree>
    <p:extLst>
      <p:ext uri="{BB962C8B-B14F-4D97-AF65-F5344CB8AC3E}">
        <p14:creationId xmlns:p14="http://schemas.microsoft.com/office/powerpoint/2010/main" xmlns="" val="13106177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99D941-4160-4CD7-8C16-D6AAB81388E8}" type="slidenum">
              <a:rPr lang="en-US"/>
              <a:pPr/>
              <a:t>1</a:t>
            </a:fld>
            <a:endParaRPr lang="en-US"/>
          </a:p>
        </p:txBody>
      </p:sp>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p:txBody>
          <a:bodyPr/>
          <a:lstStyle/>
          <a:p>
            <a:r>
              <a:rPr lang="en-US"/>
              <a:t>Click to add notes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3FA2D8-4BAB-4B11-8D33-FA39BF77D7D4}" type="slidenum">
              <a:rPr lang="en-US"/>
              <a:pPr/>
              <a:t>3</a:t>
            </a:fld>
            <a:endParaRPr 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pPr lvl="1">
              <a:buFontTx/>
              <a:buChar char="•"/>
            </a:pPr>
            <a:r>
              <a:rPr lang="en-US"/>
              <a:t>How presentation will benefit audience: Adult learners are more interested in a subject if they know how or why it is important to them.</a:t>
            </a:r>
          </a:p>
          <a:p>
            <a:pPr lvl="1">
              <a:buFontTx/>
              <a:buChar char="•"/>
            </a:pPr>
            <a:r>
              <a:rPr lang="en-US"/>
              <a:t>Presenter’s level of expertise in the subject: Briefly state your credentials in this area, or explain why participants should listen to you.</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CD88D0-B809-40C9-BB02-4284DFBCDCC5}" type="slidenum">
              <a:rPr lang="en-US"/>
              <a:pPr/>
              <a:t>4</a:t>
            </a:fld>
            <a:endParaRPr lang="en-US"/>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r>
              <a:rPr lang="en-US"/>
              <a:t>Lesson descriptions should be brief.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Microfilm reader using is not convenient</a:t>
            </a:r>
          </a:p>
          <a:p>
            <a:r>
              <a:rPr lang="en-US" dirty="0" smtClean="0"/>
              <a:t>1.Sometimes,</a:t>
            </a:r>
            <a:r>
              <a:rPr lang="en-US" baseline="0" dirty="0" smtClean="0"/>
              <a:t> the patron has to load and unload many microfilms to reader until they find what they want.</a:t>
            </a:r>
          </a:p>
          <a:p>
            <a:r>
              <a:rPr lang="en-US" dirty="0" smtClean="0"/>
              <a:t>2. It</a:t>
            </a:r>
            <a:r>
              <a:rPr lang="en-US" baseline="0" dirty="0" smtClean="0"/>
              <a:t> is painful to browse the microfilm page by page.</a:t>
            </a:r>
          </a:p>
          <a:p>
            <a:r>
              <a:rPr lang="en-US" baseline="0" dirty="0" smtClean="0"/>
              <a:t>3. There is no way to use metadata and information retrieval efficiency is low.</a:t>
            </a:r>
          </a:p>
          <a:p>
            <a:endParaRPr lang="en-US" dirty="0"/>
          </a:p>
        </p:txBody>
      </p:sp>
      <p:sp>
        <p:nvSpPr>
          <p:cNvPr id="4" name="Slide Number Placeholder 3"/>
          <p:cNvSpPr>
            <a:spLocks noGrp="1"/>
          </p:cNvSpPr>
          <p:nvPr>
            <p:ph type="sldNum" sz="quarter" idx="10"/>
          </p:nvPr>
        </p:nvSpPr>
        <p:spPr/>
        <p:txBody>
          <a:bodyPr/>
          <a:lstStyle/>
          <a:p>
            <a:fld id="{988C7076-7580-465C-B955-B9485B2A6B37}"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752430A-3C21-4FE1-8434-277B6457C11B}" type="slidenum">
              <a:rPr lang="en-US"/>
              <a:pPr/>
              <a:t>8</a:t>
            </a:fld>
            <a:endParaRPr lang="en-US"/>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pPr>
              <a:buFontTx/>
              <a:buNone/>
            </a:pPr>
            <a:r>
              <a:rPr lang="en-US" dirty="0" smtClean="0"/>
              <a:t>SIP</a:t>
            </a:r>
            <a:r>
              <a:rPr lang="en-US" baseline="0" dirty="0" smtClean="0"/>
              <a:t> - </a:t>
            </a:r>
            <a:r>
              <a:rPr lang="en-US" dirty="0" smtClean="0"/>
              <a:t>Submission Information Packages </a:t>
            </a:r>
          </a:p>
          <a:p>
            <a:pPr>
              <a:buFontTx/>
              <a:buNone/>
            </a:pPr>
            <a:endParaRPr lang="en-US" dirty="0" smtClean="0"/>
          </a:p>
          <a:p>
            <a:pPr>
              <a:buFontTx/>
              <a:buNone/>
            </a:pPr>
            <a:r>
              <a:rPr lang="en-US" dirty="0" smtClean="0"/>
              <a:t>Advantages:</a:t>
            </a:r>
          </a:p>
          <a:p>
            <a:pPr marL="228600" indent="-228600">
              <a:buFontTx/>
              <a:buAutoNum type="arabicPeriod"/>
            </a:pPr>
            <a:r>
              <a:rPr lang="en-US" baseline="0" dirty="0" smtClean="0"/>
              <a:t>GUI </a:t>
            </a:r>
          </a:p>
          <a:p>
            <a:pPr marL="228600" indent="-228600">
              <a:buFontTx/>
              <a:buAutoNum type="arabicPeriod"/>
            </a:pPr>
            <a:r>
              <a:rPr lang="en-US" baseline="0" dirty="0" smtClean="0"/>
              <a:t>Workflow – </a:t>
            </a:r>
            <a:r>
              <a:rPr lang="en-US" baseline="0" dirty="0" err="1" smtClean="0"/>
              <a:t>rold</a:t>
            </a:r>
            <a:r>
              <a:rPr lang="en-US" baseline="0" dirty="0" smtClean="0"/>
              <a:t> definition</a:t>
            </a:r>
          </a:p>
          <a:p>
            <a:pPr marL="228600" indent="-228600">
              <a:buFontTx/>
              <a:buAutoNum type="arabicPeriod"/>
            </a:pPr>
            <a:r>
              <a:rPr lang="en-US" baseline="0" dirty="0" smtClean="0"/>
              <a:t>OAI- open archives initiative</a:t>
            </a:r>
          </a:p>
          <a:p>
            <a:pPr marL="228600" indent="-228600">
              <a:buFontTx/>
              <a:buAutoNum type="arabicPeriod"/>
            </a:pPr>
            <a:r>
              <a:rPr lang="en-US" baseline="0" dirty="0" smtClean="0"/>
              <a:t>Persistent identifiers</a:t>
            </a:r>
          </a:p>
          <a:p>
            <a:pPr marL="228600" indent="-228600">
              <a:buFontTx/>
              <a:buAutoNum type="arabicPeriod"/>
            </a:pPr>
            <a:r>
              <a:rPr lang="en-US" dirty="0" smtClean="0"/>
              <a:t>Access control</a:t>
            </a:r>
          </a:p>
          <a:p>
            <a:pPr marL="228600" indent="-228600">
              <a:buFontTx/>
              <a:buAutoNum type="arabicPeriod"/>
            </a:pPr>
            <a:r>
              <a:rPr lang="en-US" dirty="0" err="1" smtClean="0"/>
              <a:t>Dupline</a:t>
            </a:r>
            <a:r>
              <a:rPr lang="en-US" dirty="0" smtClean="0"/>
              <a:t> core metadata</a:t>
            </a:r>
            <a:r>
              <a:rPr lang="en-US" baseline="0" dirty="0" smtClean="0"/>
              <a:t> schema</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smtClean="0">
                <a:solidFill>
                  <a:schemeClr val="tx1"/>
                </a:solidFill>
                <a:latin typeface="Arial" charset="0"/>
                <a:ea typeface="+mn-ea"/>
                <a:cs typeface="+mn-cs"/>
              </a:rPr>
              <a:t>Apache Tomcat </a:t>
            </a:r>
            <a:r>
              <a:rPr lang="en-US" sz="1200" b="0" i="0" kern="1200" dirty="0" smtClean="0">
                <a:solidFill>
                  <a:schemeClr val="tx1"/>
                </a:solidFill>
                <a:latin typeface="Arial" charset="0"/>
                <a:ea typeface="+mn-ea"/>
                <a:cs typeface="+mn-cs"/>
              </a:rPr>
              <a:t>is an open source software implementation of the Java </a:t>
            </a:r>
            <a:r>
              <a:rPr lang="en-US" sz="1200" b="0" i="0" kern="1200" dirty="0" err="1" smtClean="0">
                <a:solidFill>
                  <a:schemeClr val="tx1"/>
                </a:solidFill>
                <a:latin typeface="Arial" charset="0"/>
                <a:ea typeface="+mn-ea"/>
                <a:cs typeface="+mn-cs"/>
              </a:rPr>
              <a:t>Servlet</a:t>
            </a:r>
            <a:r>
              <a:rPr lang="en-US" sz="1200" b="0" i="0" kern="1200" dirty="0" smtClean="0">
                <a:solidFill>
                  <a:schemeClr val="tx1"/>
                </a:solidFill>
                <a:latin typeface="Arial" charset="0"/>
                <a:ea typeface="+mn-ea"/>
                <a:cs typeface="+mn-cs"/>
              </a:rPr>
              <a:t> and </a:t>
            </a:r>
            <a:r>
              <a:rPr lang="en-US" sz="1200" b="0" i="0" kern="1200" dirty="0" err="1" smtClean="0">
                <a:solidFill>
                  <a:schemeClr val="tx1"/>
                </a:solidFill>
                <a:latin typeface="Arial" charset="0"/>
                <a:ea typeface="+mn-ea"/>
                <a:cs typeface="+mn-cs"/>
              </a:rPr>
              <a:t>JavaServer</a:t>
            </a:r>
            <a:r>
              <a:rPr lang="en-US" sz="1200" b="0" i="0" kern="1200" dirty="0" smtClean="0">
                <a:solidFill>
                  <a:schemeClr val="tx1"/>
                </a:solidFill>
                <a:latin typeface="Arial" charset="0"/>
                <a:ea typeface="+mn-ea"/>
                <a:cs typeface="+mn-cs"/>
              </a:rPr>
              <a:t> Pages technologies. </a:t>
            </a:r>
          </a:p>
          <a:p>
            <a:r>
              <a:rPr lang="en-US" sz="1200" b="1" i="0" kern="1200" dirty="0" smtClean="0">
                <a:solidFill>
                  <a:schemeClr val="tx1"/>
                </a:solidFill>
                <a:latin typeface="Arial" charset="0"/>
                <a:ea typeface="+mn-ea"/>
                <a:cs typeface="+mn-cs"/>
              </a:rPr>
              <a:t>Apache Maven </a:t>
            </a:r>
            <a:r>
              <a:rPr lang="en-US" sz="1200" b="0" i="0" kern="1200" dirty="0" smtClean="0">
                <a:solidFill>
                  <a:schemeClr val="tx1"/>
                </a:solidFill>
                <a:latin typeface="Arial" charset="0"/>
                <a:ea typeface="+mn-ea"/>
                <a:cs typeface="+mn-cs"/>
              </a:rPr>
              <a:t>is a software project management and comprehension tool. Based on the concept of a project object model (POM), Maven can manage a project's build, reporting and documentation from a central piece of information.</a:t>
            </a:r>
          </a:p>
          <a:p>
            <a:r>
              <a:rPr lang="en-US" sz="1200" b="1" i="0" kern="1200" dirty="0" smtClean="0">
                <a:solidFill>
                  <a:schemeClr val="tx1"/>
                </a:solidFill>
                <a:latin typeface="Arial" charset="0"/>
                <a:ea typeface="+mn-ea"/>
                <a:cs typeface="+mn-cs"/>
              </a:rPr>
              <a:t>Apache Ant </a:t>
            </a:r>
            <a:r>
              <a:rPr lang="en-US" sz="1200" b="0" i="0" kern="1200" dirty="0" smtClean="0">
                <a:solidFill>
                  <a:schemeClr val="tx1"/>
                </a:solidFill>
                <a:latin typeface="Arial" charset="0"/>
                <a:ea typeface="+mn-ea"/>
                <a:cs typeface="+mn-cs"/>
              </a:rPr>
              <a:t>is a Java library and command-line tool whose mission is to drive processes described in build files as targets and extension points dependent upon each other. The main known usage of Ant is the build of Java applications.</a:t>
            </a:r>
          </a:p>
          <a:p>
            <a:endParaRPr lang="en-US" dirty="0"/>
          </a:p>
        </p:txBody>
      </p:sp>
      <p:sp>
        <p:nvSpPr>
          <p:cNvPr id="4" name="Slide Number Placeholder 3"/>
          <p:cNvSpPr>
            <a:spLocks noGrp="1"/>
          </p:cNvSpPr>
          <p:nvPr>
            <p:ph type="sldNum" sz="quarter" idx="10"/>
          </p:nvPr>
        </p:nvSpPr>
        <p:spPr/>
        <p:txBody>
          <a:bodyPr/>
          <a:lstStyle/>
          <a:p>
            <a:fld id="{988C7076-7580-465C-B955-B9485B2A6B37}" type="slidenum">
              <a:rPr lang="en-US" smtClean="0"/>
              <a:pPr/>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SIP: </a:t>
            </a:r>
            <a:r>
              <a:rPr lang="en-US" sz="1200" b="0" i="0" kern="1200" dirty="0" smtClean="0">
                <a:solidFill>
                  <a:schemeClr val="tx1"/>
                </a:solidFill>
                <a:latin typeface="Arial" charset="0"/>
                <a:ea typeface="+mn-ea"/>
                <a:cs typeface="+mn-cs"/>
              </a:rPr>
              <a:t>Submission Information Packages (SIPs).</a:t>
            </a:r>
            <a:endParaRPr lang="en-US" dirty="0"/>
          </a:p>
        </p:txBody>
      </p:sp>
      <p:sp>
        <p:nvSpPr>
          <p:cNvPr id="4" name="Slide Number Placeholder 3"/>
          <p:cNvSpPr>
            <a:spLocks noGrp="1"/>
          </p:cNvSpPr>
          <p:nvPr>
            <p:ph type="sldNum" sz="quarter" idx="10"/>
          </p:nvPr>
        </p:nvSpPr>
        <p:spPr/>
        <p:txBody>
          <a:bodyPr/>
          <a:lstStyle/>
          <a:p>
            <a:fld id="{988C7076-7580-465C-B955-B9485B2A6B37}" type="slidenum">
              <a:rPr lang="en-US" smtClean="0"/>
              <a:pPr/>
              <a:t>12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SIP: </a:t>
            </a:r>
            <a:r>
              <a:rPr lang="en-US" sz="1200" b="0" i="0" kern="1200" dirty="0" smtClean="0">
                <a:solidFill>
                  <a:schemeClr val="tx1"/>
                </a:solidFill>
                <a:latin typeface="Arial" charset="0"/>
                <a:ea typeface="+mn-ea"/>
                <a:cs typeface="+mn-cs"/>
              </a:rPr>
              <a:t>Submission Information Packages (SIPs).</a:t>
            </a:r>
            <a:endParaRPr lang="en-US" dirty="0" smtClean="0"/>
          </a:p>
          <a:p>
            <a:endParaRPr lang="en-US" dirty="0"/>
          </a:p>
        </p:txBody>
      </p:sp>
      <p:sp>
        <p:nvSpPr>
          <p:cNvPr id="4" name="Slide Number Placeholder 3"/>
          <p:cNvSpPr>
            <a:spLocks noGrp="1"/>
          </p:cNvSpPr>
          <p:nvPr>
            <p:ph type="sldNum" sz="quarter" idx="10"/>
          </p:nvPr>
        </p:nvSpPr>
        <p:spPr/>
        <p:txBody>
          <a:bodyPr/>
          <a:lstStyle/>
          <a:p>
            <a:fld id="{988C7076-7580-465C-B955-B9485B2A6B37}" type="slidenum">
              <a:rPr lang="en-US" smtClean="0"/>
              <a:pPr/>
              <a:t>13</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t>
            </a:r>
          </a:p>
          <a:p>
            <a:pPr>
              <a:buFont typeface="Arial" charset="0"/>
              <a:buNone/>
            </a:pPr>
            <a:r>
              <a:rPr lang="en-US" sz="1200" kern="1200" dirty="0" smtClean="0">
                <a:solidFill>
                  <a:schemeClr val="tx1"/>
                </a:solidFill>
                <a:latin typeface="Arial" charset="0"/>
                <a:ea typeface="+mn-ea"/>
                <a:cs typeface="+mn-cs"/>
              </a:rPr>
              <a:t>*the beginning to process the xml folder and xml file</a:t>
            </a:r>
          </a:p>
          <a:p>
            <a:pPr>
              <a:buFont typeface="Arial" charset="0"/>
              <a:buNone/>
            </a:pPr>
            <a:r>
              <a:rPr lang="en-US" sz="1200" kern="1200" dirty="0" smtClean="0">
                <a:solidFill>
                  <a:schemeClr val="tx1"/>
                </a:solidFill>
                <a:latin typeface="Arial" charset="0"/>
                <a:ea typeface="+mn-ea"/>
                <a:cs typeface="+mn-cs"/>
              </a:rPr>
              <a:t>*copyright:</a:t>
            </a:r>
            <a:r>
              <a:rPr lang="en-US" sz="1200" kern="1200" baseline="0" dirty="0" smtClean="0">
                <a:solidFill>
                  <a:schemeClr val="tx1"/>
                </a:solidFill>
                <a:latin typeface="Arial" charset="0"/>
                <a:ea typeface="+mn-ea"/>
                <a:cs typeface="+mn-cs"/>
              </a:rPr>
              <a:t> Andy Tang</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t>
            </a: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Form1.Command1.click</a:t>
            </a:r>
          </a:p>
          <a:p>
            <a:endParaRPr lang="en-US" sz="1200" kern="1200" dirty="0" smtClean="0">
              <a:solidFill>
                <a:schemeClr val="tx1"/>
              </a:solidFill>
              <a:latin typeface="Arial" charset="0"/>
              <a:ea typeface="+mn-ea"/>
              <a:cs typeface="+mn-cs"/>
            </a:endParaRPr>
          </a:p>
          <a:p>
            <a:r>
              <a:rPr lang="en-US" sz="1200" kern="1200" dirty="0" err="1" smtClean="0">
                <a:solidFill>
                  <a:schemeClr val="tx1"/>
                </a:solidFill>
                <a:latin typeface="Arial" charset="0"/>
                <a:ea typeface="+mn-ea"/>
                <a:cs typeface="+mn-cs"/>
              </a:rPr>
              <a:t>stringa</a:t>
            </a:r>
            <a:r>
              <a:rPr lang="en-US" sz="1200" kern="1200" dirty="0" smtClean="0">
                <a:solidFill>
                  <a:schemeClr val="tx1"/>
                </a:solidFill>
                <a:latin typeface="Arial" charset="0"/>
                <a:ea typeface="+mn-ea"/>
                <a:cs typeface="+mn-cs"/>
              </a:rPr>
              <a:t>=FILETOSTR( Form1.Text1.value) </a:t>
            </a:r>
          </a:p>
          <a:p>
            <a:r>
              <a:rPr lang="en-US" sz="1200" kern="1200" dirty="0" smtClean="0">
                <a:solidFill>
                  <a:schemeClr val="tx1"/>
                </a:solidFill>
                <a:latin typeface="Arial" charset="0"/>
                <a:ea typeface="+mn-ea"/>
                <a:cs typeface="+mn-cs"/>
              </a:rPr>
              <a:t>&amp;&amp;?</a:t>
            </a:r>
            <a:r>
              <a:rPr lang="en-US" sz="1200" kern="1200" dirty="0" err="1" smtClean="0">
                <a:solidFill>
                  <a:schemeClr val="tx1"/>
                </a:solidFill>
                <a:latin typeface="Arial" charset="0"/>
                <a:ea typeface="+mn-ea"/>
                <a:cs typeface="+mn-cs"/>
              </a:rPr>
              <a:t>stringa</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&amp;&amp;? LEN(</a:t>
            </a:r>
            <a:r>
              <a:rPr lang="en-US" sz="1200" kern="1200" dirty="0" err="1" smtClean="0">
                <a:solidFill>
                  <a:schemeClr val="tx1"/>
                </a:solidFill>
                <a:latin typeface="Arial" charset="0"/>
                <a:ea typeface="+mn-ea"/>
                <a:cs typeface="+mn-cs"/>
              </a:rPr>
              <a:t>stringa</a:t>
            </a:r>
            <a:r>
              <a:rPr lang="en-US" sz="1200" kern="1200" dirty="0" smtClean="0">
                <a:solidFill>
                  <a:schemeClr val="tx1"/>
                </a:solidFill>
                <a:latin typeface="Arial" charset="0"/>
                <a:ea typeface="+mn-ea"/>
                <a:cs typeface="+mn-cs"/>
              </a:rPr>
              <a:t>)</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&amp;&amp;MESSAGEBOX(Form1.Text3.value)</a:t>
            </a:r>
          </a:p>
          <a:p>
            <a:r>
              <a:rPr lang="en-US" sz="1200" kern="1200" dirty="0" err="1" smtClean="0">
                <a:solidFill>
                  <a:schemeClr val="tx1"/>
                </a:solidFill>
                <a:latin typeface="Arial" charset="0"/>
                <a:ea typeface="+mn-ea"/>
                <a:cs typeface="+mn-cs"/>
              </a:rPr>
              <a:t>arrayvalue</a:t>
            </a:r>
            <a:r>
              <a:rPr lang="en-US" sz="1200" kern="1200" dirty="0" smtClean="0">
                <a:solidFill>
                  <a:schemeClr val="tx1"/>
                </a:solidFill>
                <a:latin typeface="Arial" charset="0"/>
                <a:ea typeface="+mn-ea"/>
                <a:cs typeface="+mn-cs"/>
              </a:rPr>
              <a:t>=Form1.Text3.value</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&amp;&amp;</a:t>
            </a:r>
            <a:r>
              <a:rPr lang="en-US" sz="1200" kern="1200" dirty="0" err="1" smtClean="0">
                <a:solidFill>
                  <a:schemeClr val="tx1"/>
                </a:solidFill>
                <a:latin typeface="Arial" charset="0"/>
                <a:ea typeface="+mn-ea"/>
                <a:cs typeface="+mn-cs"/>
              </a:rPr>
              <a:t>arrayvalue</a:t>
            </a:r>
            <a:endParaRPr lang="en-US" sz="1200" kern="1200" dirty="0" smtClean="0">
              <a:solidFill>
                <a:schemeClr val="tx1"/>
              </a:solidFill>
              <a:latin typeface="Arial" charset="0"/>
              <a:ea typeface="+mn-ea"/>
              <a:cs typeface="+mn-cs"/>
            </a:endParaRPr>
          </a:p>
          <a:p>
            <a:r>
              <a:rPr lang="en-US" sz="1200" kern="1200" dirty="0" err="1" smtClean="0">
                <a:solidFill>
                  <a:schemeClr val="tx1"/>
                </a:solidFill>
                <a:latin typeface="Arial" charset="0"/>
                <a:ea typeface="+mn-ea"/>
                <a:cs typeface="+mn-cs"/>
              </a:rPr>
              <a:t>arrayvalue</a:t>
            </a:r>
            <a:r>
              <a:rPr lang="en-US" sz="1200" kern="1200" dirty="0" smtClean="0">
                <a:solidFill>
                  <a:schemeClr val="tx1"/>
                </a:solidFill>
                <a:latin typeface="Arial" charset="0"/>
                <a:ea typeface="+mn-ea"/>
                <a:cs typeface="+mn-cs"/>
              </a:rPr>
              <a:t>=VAL(ALLTRIM(Form1.Text3.value))</a:t>
            </a:r>
          </a:p>
          <a:p>
            <a:r>
              <a:rPr lang="en-US" sz="1200" kern="1200" dirty="0" smtClean="0">
                <a:solidFill>
                  <a:schemeClr val="tx1"/>
                </a:solidFill>
                <a:latin typeface="Arial" charset="0"/>
                <a:ea typeface="+mn-ea"/>
                <a:cs typeface="+mn-cs"/>
              </a:rPr>
              <a:t>&amp;&amp;MESSAGEBOX(</a:t>
            </a:r>
            <a:r>
              <a:rPr lang="en-US" sz="1200" kern="1200" dirty="0" err="1" smtClean="0">
                <a:solidFill>
                  <a:schemeClr val="tx1"/>
                </a:solidFill>
                <a:latin typeface="Arial" charset="0"/>
                <a:ea typeface="+mn-ea"/>
                <a:cs typeface="+mn-cs"/>
              </a:rPr>
              <a:t>arrayvalue</a:t>
            </a:r>
            <a:r>
              <a:rPr lang="en-US" sz="1200" kern="1200" dirty="0" smtClean="0">
                <a:solidFill>
                  <a:schemeClr val="tx1"/>
                </a:solidFill>
                <a:latin typeface="Arial" charset="0"/>
                <a:ea typeface="+mn-ea"/>
                <a:cs typeface="+mn-cs"/>
              </a:rPr>
              <a:t>)</a:t>
            </a: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DIMENSION </a:t>
            </a:r>
            <a:r>
              <a:rPr lang="en-US" sz="1200" kern="1200" dirty="0" err="1" smtClean="0">
                <a:solidFill>
                  <a:schemeClr val="tx1"/>
                </a:solidFill>
                <a:latin typeface="Arial" charset="0"/>
                <a:ea typeface="+mn-ea"/>
                <a:cs typeface="+mn-cs"/>
              </a:rPr>
              <a:t>arrayt</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arrayvalue</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isolator=LEN("&lt;/</a:t>
            </a:r>
            <a:r>
              <a:rPr lang="en-US" sz="1200" kern="1200" dirty="0" err="1" smtClean="0">
                <a:solidFill>
                  <a:schemeClr val="tx1"/>
                </a:solidFill>
                <a:latin typeface="Arial" charset="0"/>
                <a:ea typeface="+mn-ea"/>
                <a:cs typeface="+mn-cs"/>
              </a:rPr>
              <a:t>dublin_core</a:t>
            </a:r>
            <a:r>
              <a:rPr lang="en-US" sz="1200" kern="1200" dirty="0" smtClean="0">
                <a:solidFill>
                  <a:schemeClr val="tx1"/>
                </a:solidFill>
                <a:latin typeface="Arial" charset="0"/>
                <a:ea typeface="+mn-ea"/>
                <a:cs typeface="+mn-cs"/>
              </a:rPr>
              <a:t>&gt;")</a:t>
            </a:r>
          </a:p>
          <a:p>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a:t>
            </a:r>
          </a:p>
          <a:p>
            <a:r>
              <a:rPr lang="en-US" sz="1200" kern="1200" dirty="0" smtClean="0">
                <a:solidFill>
                  <a:schemeClr val="tx1"/>
                </a:solidFill>
                <a:latin typeface="Arial" charset="0"/>
                <a:ea typeface="+mn-ea"/>
                <a:cs typeface="+mn-cs"/>
              </a:rPr>
              <a:t>FOR </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 TO </a:t>
            </a:r>
            <a:r>
              <a:rPr lang="en-US" sz="1200" kern="1200" dirty="0" err="1" smtClean="0">
                <a:solidFill>
                  <a:schemeClr val="tx1"/>
                </a:solidFill>
                <a:latin typeface="Arial" charset="0"/>
                <a:ea typeface="+mn-ea"/>
                <a:cs typeface="+mn-cs"/>
              </a:rPr>
              <a:t>arrayvalue</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&amp;&amp;</a:t>
            </a:r>
            <a:r>
              <a:rPr lang="en-US" sz="1200" kern="1200" dirty="0" err="1" smtClean="0">
                <a:solidFill>
                  <a:schemeClr val="tx1"/>
                </a:solidFill>
                <a:latin typeface="Arial" charset="0"/>
                <a:ea typeface="+mn-ea"/>
                <a:cs typeface="+mn-cs"/>
              </a:rPr>
              <a:t>arrayt</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)=STR(</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 "+"victory"</a:t>
            </a:r>
          </a:p>
          <a:p>
            <a:r>
              <a:rPr lang="en-US" sz="1200" kern="1200" dirty="0" smtClean="0">
                <a:solidFill>
                  <a:schemeClr val="tx1"/>
                </a:solidFill>
                <a:latin typeface="Arial" charset="0"/>
                <a:ea typeface="+mn-ea"/>
                <a:cs typeface="+mn-cs"/>
              </a:rPr>
              <a:t>&amp;&amp;? </a:t>
            </a:r>
            <a:r>
              <a:rPr lang="en-US" sz="1200" kern="1200" dirty="0" err="1" smtClean="0">
                <a:solidFill>
                  <a:schemeClr val="tx1"/>
                </a:solidFill>
                <a:latin typeface="Arial" charset="0"/>
                <a:ea typeface="+mn-ea"/>
                <a:cs typeface="+mn-cs"/>
              </a:rPr>
              <a:t>arrayt</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IF </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a:t>
            </a:r>
          </a:p>
          <a:p>
            <a:r>
              <a:rPr lang="en-US" sz="1200" kern="1200" dirty="0" err="1" smtClean="0">
                <a:solidFill>
                  <a:schemeClr val="tx1"/>
                </a:solidFill>
                <a:latin typeface="Arial" charset="0"/>
                <a:ea typeface="+mn-ea"/>
                <a:cs typeface="+mn-cs"/>
              </a:rPr>
              <a:t>arrayt</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)=SUBSTR(stringa,1, </a:t>
            </a:r>
            <a:r>
              <a:rPr lang="en-US" sz="1200" kern="1200" dirty="0" err="1" smtClean="0">
                <a:solidFill>
                  <a:schemeClr val="tx1"/>
                </a:solidFill>
                <a:latin typeface="Arial" charset="0"/>
                <a:ea typeface="+mn-ea"/>
                <a:cs typeface="+mn-cs"/>
              </a:rPr>
              <a:t>ATc</a:t>
            </a:r>
            <a:r>
              <a:rPr lang="en-US" sz="1200" kern="1200" dirty="0" smtClean="0">
                <a:solidFill>
                  <a:schemeClr val="tx1"/>
                </a:solidFill>
                <a:latin typeface="Arial" charset="0"/>
                <a:ea typeface="+mn-ea"/>
                <a:cs typeface="+mn-cs"/>
              </a:rPr>
              <a:t>("&lt;/</a:t>
            </a:r>
            <a:r>
              <a:rPr lang="en-US" sz="1200" kern="1200" dirty="0" err="1" smtClean="0">
                <a:solidFill>
                  <a:schemeClr val="tx1"/>
                </a:solidFill>
                <a:latin typeface="Arial" charset="0"/>
                <a:ea typeface="+mn-ea"/>
                <a:cs typeface="+mn-cs"/>
              </a:rPr>
              <a:t>dublin_core</a:t>
            </a:r>
            <a:r>
              <a:rPr lang="en-US" sz="1200" kern="1200" dirty="0" smtClean="0">
                <a:solidFill>
                  <a:schemeClr val="tx1"/>
                </a:solidFill>
                <a:latin typeface="Arial" charset="0"/>
                <a:ea typeface="+mn-ea"/>
                <a:cs typeface="+mn-cs"/>
              </a:rPr>
              <a:t>&gt;", stringa,1)+isolator)</a:t>
            </a:r>
          </a:p>
          <a:p>
            <a:r>
              <a:rPr lang="en-US" sz="1200" kern="1200" dirty="0" smtClean="0">
                <a:solidFill>
                  <a:schemeClr val="tx1"/>
                </a:solidFill>
                <a:latin typeface="Arial" charset="0"/>
                <a:ea typeface="+mn-ea"/>
                <a:cs typeface="+mn-cs"/>
              </a:rPr>
              <a:t>    ELSE</a:t>
            </a:r>
          </a:p>
          <a:p>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arrayt</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)=SUBSTR(</a:t>
            </a:r>
            <a:r>
              <a:rPr lang="en-US" sz="1200" kern="1200" dirty="0" err="1" smtClean="0">
                <a:solidFill>
                  <a:schemeClr val="tx1"/>
                </a:solidFill>
                <a:latin typeface="Arial" charset="0"/>
                <a:ea typeface="+mn-ea"/>
                <a:cs typeface="+mn-cs"/>
              </a:rPr>
              <a:t>stringa</a:t>
            </a:r>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ATc</a:t>
            </a:r>
            <a:r>
              <a:rPr lang="en-US" sz="1200" kern="1200" dirty="0" smtClean="0">
                <a:solidFill>
                  <a:schemeClr val="tx1"/>
                </a:solidFill>
                <a:latin typeface="Arial" charset="0"/>
                <a:ea typeface="+mn-ea"/>
                <a:cs typeface="+mn-cs"/>
              </a:rPr>
              <a:t>("&lt;/</a:t>
            </a:r>
            <a:r>
              <a:rPr lang="en-US" sz="1200" kern="1200" dirty="0" err="1" smtClean="0">
                <a:solidFill>
                  <a:schemeClr val="tx1"/>
                </a:solidFill>
                <a:latin typeface="Arial" charset="0"/>
                <a:ea typeface="+mn-ea"/>
                <a:cs typeface="+mn-cs"/>
              </a:rPr>
              <a:t>dublin_core</a:t>
            </a:r>
            <a:r>
              <a:rPr lang="en-US" sz="1200" kern="1200" dirty="0" smtClean="0">
                <a:solidFill>
                  <a:schemeClr val="tx1"/>
                </a:solidFill>
                <a:latin typeface="Arial" charset="0"/>
                <a:ea typeface="+mn-ea"/>
                <a:cs typeface="+mn-cs"/>
              </a:rPr>
              <a:t>&gt;", stringa,jj-1)+isolator+2,ATc("&lt;/</a:t>
            </a:r>
            <a:r>
              <a:rPr lang="en-US" sz="1200" kern="1200" dirty="0" err="1" smtClean="0">
                <a:solidFill>
                  <a:schemeClr val="tx1"/>
                </a:solidFill>
                <a:latin typeface="Arial" charset="0"/>
                <a:ea typeface="+mn-ea"/>
                <a:cs typeface="+mn-cs"/>
              </a:rPr>
              <a:t>dublin_core</a:t>
            </a:r>
            <a:r>
              <a:rPr lang="en-US" sz="1200" kern="1200" dirty="0" smtClean="0">
                <a:solidFill>
                  <a:schemeClr val="tx1"/>
                </a:solidFill>
                <a:latin typeface="Arial" charset="0"/>
                <a:ea typeface="+mn-ea"/>
                <a:cs typeface="+mn-cs"/>
              </a:rPr>
              <a:t>&gt;", </a:t>
            </a:r>
            <a:r>
              <a:rPr lang="en-US" sz="1200" kern="1200" dirty="0" err="1" smtClean="0">
                <a:solidFill>
                  <a:schemeClr val="tx1"/>
                </a:solidFill>
                <a:latin typeface="Arial" charset="0"/>
                <a:ea typeface="+mn-ea"/>
                <a:cs typeface="+mn-cs"/>
              </a:rPr>
              <a:t>stringa,jj</a:t>
            </a:r>
            <a:r>
              <a:rPr lang="en-US" sz="1200" kern="1200" dirty="0" smtClean="0">
                <a:solidFill>
                  <a:schemeClr val="tx1"/>
                </a:solidFill>
                <a:latin typeface="Arial" charset="0"/>
                <a:ea typeface="+mn-ea"/>
                <a:cs typeface="+mn-cs"/>
              </a:rPr>
              <a:t>)+isolator-(</a:t>
            </a:r>
            <a:r>
              <a:rPr lang="en-US" sz="1200" kern="1200" dirty="0" err="1" smtClean="0">
                <a:solidFill>
                  <a:schemeClr val="tx1"/>
                </a:solidFill>
                <a:latin typeface="Arial" charset="0"/>
                <a:ea typeface="+mn-ea"/>
                <a:cs typeface="+mn-cs"/>
              </a:rPr>
              <a:t>ATc</a:t>
            </a:r>
            <a:r>
              <a:rPr lang="en-US" sz="1200" kern="1200" dirty="0" smtClean="0">
                <a:solidFill>
                  <a:schemeClr val="tx1"/>
                </a:solidFill>
                <a:latin typeface="Arial" charset="0"/>
                <a:ea typeface="+mn-ea"/>
                <a:cs typeface="+mn-cs"/>
              </a:rPr>
              <a:t>("&lt;/</a:t>
            </a:r>
            <a:r>
              <a:rPr lang="en-US" sz="1200" kern="1200" dirty="0" err="1" smtClean="0">
                <a:solidFill>
                  <a:schemeClr val="tx1"/>
                </a:solidFill>
                <a:latin typeface="Arial" charset="0"/>
                <a:ea typeface="+mn-ea"/>
                <a:cs typeface="+mn-cs"/>
              </a:rPr>
              <a:t>dublin_core</a:t>
            </a:r>
            <a:r>
              <a:rPr lang="en-US" sz="1200" kern="1200" dirty="0" smtClean="0">
                <a:solidFill>
                  <a:schemeClr val="tx1"/>
                </a:solidFill>
                <a:latin typeface="Arial" charset="0"/>
                <a:ea typeface="+mn-ea"/>
                <a:cs typeface="+mn-cs"/>
              </a:rPr>
              <a:t>&gt;", stringa,jj-1)+isolator))</a:t>
            </a:r>
          </a:p>
          <a:p>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    &amp;&amp;? </a:t>
            </a:r>
            <a:r>
              <a:rPr lang="en-US" sz="1200" kern="1200" dirty="0" err="1" smtClean="0">
                <a:solidFill>
                  <a:schemeClr val="tx1"/>
                </a:solidFill>
                <a:latin typeface="Arial" charset="0"/>
                <a:ea typeface="+mn-ea"/>
                <a:cs typeface="+mn-cs"/>
              </a:rPr>
              <a:t>jj</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&amp;&amp;? </a:t>
            </a:r>
            <a:r>
              <a:rPr lang="en-US" sz="1200" kern="1200" dirty="0" err="1" smtClean="0">
                <a:solidFill>
                  <a:schemeClr val="tx1"/>
                </a:solidFill>
                <a:latin typeface="Arial" charset="0"/>
                <a:ea typeface="+mn-ea"/>
                <a:cs typeface="+mn-cs"/>
              </a:rPr>
              <a:t>ATc</a:t>
            </a:r>
            <a:r>
              <a:rPr lang="en-US" sz="1200" kern="1200" dirty="0" smtClean="0">
                <a:solidFill>
                  <a:schemeClr val="tx1"/>
                </a:solidFill>
                <a:latin typeface="Arial" charset="0"/>
                <a:ea typeface="+mn-ea"/>
                <a:cs typeface="+mn-cs"/>
              </a:rPr>
              <a:t>("&lt;/</a:t>
            </a:r>
            <a:r>
              <a:rPr lang="en-US" sz="1200" kern="1200" dirty="0" err="1" smtClean="0">
                <a:solidFill>
                  <a:schemeClr val="tx1"/>
                </a:solidFill>
                <a:latin typeface="Arial" charset="0"/>
                <a:ea typeface="+mn-ea"/>
                <a:cs typeface="+mn-cs"/>
              </a:rPr>
              <a:t>dublin_core</a:t>
            </a:r>
            <a:r>
              <a:rPr lang="en-US" sz="1200" kern="1200" dirty="0" smtClean="0">
                <a:solidFill>
                  <a:schemeClr val="tx1"/>
                </a:solidFill>
                <a:latin typeface="Arial" charset="0"/>
                <a:ea typeface="+mn-ea"/>
                <a:cs typeface="+mn-cs"/>
              </a:rPr>
              <a:t>&gt;", stringa,jj-1)</a:t>
            </a:r>
          </a:p>
          <a:p>
            <a:r>
              <a:rPr lang="en-US" sz="1200" kern="1200" dirty="0" smtClean="0">
                <a:solidFill>
                  <a:schemeClr val="tx1"/>
                </a:solidFill>
                <a:latin typeface="Arial" charset="0"/>
                <a:ea typeface="+mn-ea"/>
                <a:cs typeface="+mn-cs"/>
              </a:rPr>
              <a:t>&amp;&amp;? </a:t>
            </a:r>
            <a:r>
              <a:rPr lang="en-US" sz="1200" kern="1200" dirty="0" err="1" smtClean="0">
                <a:solidFill>
                  <a:schemeClr val="tx1"/>
                </a:solidFill>
                <a:latin typeface="Arial" charset="0"/>
                <a:ea typeface="+mn-ea"/>
                <a:cs typeface="+mn-cs"/>
              </a:rPr>
              <a:t>ATc</a:t>
            </a:r>
            <a:r>
              <a:rPr lang="en-US" sz="1200" kern="1200" dirty="0" smtClean="0">
                <a:solidFill>
                  <a:schemeClr val="tx1"/>
                </a:solidFill>
                <a:latin typeface="Arial" charset="0"/>
                <a:ea typeface="+mn-ea"/>
                <a:cs typeface="+mn-cs"/>
              </a:rPr>
              <a:t>("&lt;/</a:t>
            </a:r>
            <a:r>
              <a:rPr lang="en-US" sz="1200" kern="1200" dirty="0" err="1" smtClean="0">
                <a:solidFill>
                  <a:schemeClr val="tx1"/>
                </a:solidFill>
                <a:latin typeface="Arial" charset="0"/>
                <a:ea typeface="+mn-ea"/>
                <a:cs typeface="+mn-cs"/>
              </a:rPr>
              <a:t>dublin_core</a:t>
            </a:r>
            <a:r>
              <a:rPr lang="en-US" sz="1200" kern="1200" dirty="0" smtClean="0">
                <a:solidFill>
                  <a:schemeClr val="tx1"/>
                </a:solidFill>
                <a:latin typeface="Arial" charset="0"/>
                <a:ea typeface="+mn-ea"/>
                <a:cs typeface="+mn-cs"/>
              </a:rPr>
              <a:t>&gt;", </a:t>
            </a:r>
            <a:r>
              <a:rPr lang="en-US" sz="1200" kern="1200" dirty="0" err="1" smtClean="0">
                <a:solidFill>
                  <a:schemeClr val="tx1"/>
                </a:solidFill>
                <a:latin typeface="Arial" charset="0"/>
                <a:ea typeface="+mn-ea"/>
                <a:cs typeface="+mn-cs"/>
              </a:rPr>
              <a:t>stringa,jj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&amp;&amp;wait</a:t>
            </a:r>
          </a:p>
          <a:p>
            <a:r>
              <a:rPr lang="en-US" sz="1200" kern="1200" dirty="0" smtClean="0">
                <a:solidFill>
                  <a:schemeClr val="tx1"/>
                </a:solidFill>
                <a:latin typeface="Arial" charset="0"/>
                <a:ea typeface="+mn-ea"/>
                <a:cs typeface="+mn-cs"/>
              </a:rPr>
              <a:t>ENDIF</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&amp;&amp;</a:t>
            </a:r>
          </a:p>
          <a:p>
            <a:r>
              <a:rPr lang="en-US" sz="1200" kern="1200" dirty="0" smtClean="0">
                <a:solidFill>
                  <a:schemeClr val="tx1"/>
                </a:solidFill>
                <a:latin typeface="Arial" charset="0"/>
                <a:ea typeface="+mn-ea"/>
                <a:cs typeface="+mn-cs"/>
              </a:rPr>
              <a:t>&amp;&amp;? CHR(10)+CHR(13)</a:t>
            </a:r>
          </a:p>
          <a:p>
            <a:r>
              <a:rPr lang="en-US" sz="1200" kern="1200" dirty="0" smtClean="0">
                <a:solidFill>
                  <a:schemeClr val="tx1"/>
                </a:solidFill>
                <a:latin typeface="Arial" charset="0"/>
                <a:ea typeface="+mn-ea"/>
                <a:cs typeface="+mn-cs"/>
              </a:rPr>
              <a:t>&amp;&amp;? </a:t>
            </a:r>
            <a:r>
              <a:rPr lang="en-US" sz="1200" kern="1200" dirty="0" err="1" smtClean="0">
                <a:solidFill>
                  <a:schemeClr val="tx1"/>
                </a:solidFill>
                <a:latin typeface="Arial" charset="0"/>
                <a:ea typeface="+mn-ea"/>
                <a:cs typeface="+mn-cs"/>
              </a:rPr>
              <a:t>arrayt</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&amp;&amp;? CHR(10)+CHR(13)</a:t>
            </a:r>
          </a:p>
          <a:p>
            <a:r>
              <a:rPr lang="en-US" sz="1200" kern="1200" dirty="0" smtClean="0">
                <a:solidFill>
                  <a:schemeClr val="tx1"/>
                </a:solidFill>
                <a:latin typeface="Arial" charset="0"/>
                <a:ea typeface="+mn-ea"/>
                <a:cs typeface="+mn-cs"/>
              </a:rPr>
              <a:t>&amp;&amp;wait</a:t>
            </a:r>
          </a:p>
          <a:p>
            <a:r>
              <a:rPr lang="en-US" sz="1200" kern="1200" dirty="0" smtClean="0">
                <a:solidFill>
                  <a:schemeClr val="tx1"/>
                </a:solidFill>
                <a:latin typeface="Arial" charset="0"/>
                <a:ea typeface="+mn-ea"/>
                <a:cs typeface="+mn-cs"/>
              </a:rPr>
              <a:t>ENDFOR</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mm=1</a:t>
            </a: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FOR </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 TO </a:t>
            </a:r>
            <a:r>
              <a:rPr lang="en-US" sz="1200" kern="1200" dirty="0" err="1" smtClean="0">
                <a:solidFill>
                  <a:schemeClr val="tx1"/>
                </a:solidFill>
                <a:latin typeface="Arial" charset="0"/>
                <a:ea typeface="+mn-ea"/>
                <a:cs typeface="+mn-cs"/>
              </a:rPr>
              <a:t>arrayvalue</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     MKDIR ALLTRIM(STR(</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CD ALLTRIM(STR(</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IF FILE('dublin_core.xml')</a:t>
            </a:r>
          </a:p>
          <a:p>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     ELSE</a:t>
            </a:r>
          </a:p>
          <a:p>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filehandle</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fcreate</a:t>
            </a:r>
            <a:r>
              <a:rPr lang="en-US" sz="1200" kern="1200" dirty="0" smtClean="0">
                <a:solidFill>
                  <a:schemeClr val="tx1"/>
                </a:solidFill>
                <a:latin typeface="Arial" charset="0"/>
                <a:ea typeface="+mn-ea"/>
                <a:cs typeface="+mn-cs"/>
              </a:rPr>
              <a:t>('dublin_core.xml')</a:t>
            </a:r>
          </a:p>
          <a:p>
            <a:r>
              <a:rPr lang="en-US" sz="1200" kern="1200" dirty="0" smtClean="0">
                <a:solidFill>
                  <a:schemeClr val="tx1"/>
                </a:solidFill>
                <a:latin typeface="Arial" charset="0"/>
                <a:ea typeface="+mn-ea"/>
                <a:cs typeface="+mn-cs"/>
              </a:rPr>
              <a:t>         =FWRITE(</a:t>
            </a:r>
            <a:r>
              <a:rPr lang="en-US" sz="1200" kern="1200" dirty="0" err="1" smtClean="0">
                <a:solidFill>
                  <a:schemeClr val="tx1"/>
                </a:solidFill>
                <a:latin typeface="Arial" charset="0"/>
                <a:ea typeface="+mn-ea"/>
                <a:cs typeface="+mn-cs"/>
              </a:rPr>
              <a:t>filehandle,arrayt</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=FCLOSE(</a:t>
            </a:r>
            <a:r>
              <a:rPr lang="en-US" sz="1200" kern="1200" dirty="0" err="1" smtClean="0">
                <a:solidFill>
                  <a:schemeClr val="tx1"/>
                </a:solidFill>
                <a:latin typeface="Arial" charset="0"/>
                <a:ea typeface="+mn-ea"/>
                <a:cs typeface="+mn-cs"/>
              </a:rPr>
              <a:t>filehandle</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ENDIF</a:t>
            </a:r>
          </a:p>
          <a:p>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cd</a:t>
            </a:r>
            <a:r>
              <a:rPr lang="en-US" sz="1200" kern="1200" dirty="0" smtClean="0">
                <a:solidFill>
                  <a:schemeClr val="tx1"/>
                </a:solidFill>
                <a:latin typeface="Arial" charset="0"/>
                <a:ea typeface="+mn-ea"/>
                <a:cs typeface="+mn-cs"/>
              </a:rPr>
              <a:t>..</a:t>
            </a:r>
          </a:p>
          <a:p>
            <a:r>
              <a:rPr lang="en-US" sz="1200" kern="1200" dirty="0" err="1" smtClean="0">
                <a:solidFill>
                  <a:schemeClr val="tx1"/>
                </a:solidFill>
                <a:latin typeface="Arial" charset="0"/>
                <a:ea typeface="+mn-ea"/>
                <a:cs typeface="+mn-cs"/>
              </a:rPr>
              <a:t>endfor</a:t>
            </a:r>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the beginning to process the filename list</a:t>
            </a:r>
          </a:p>
          <a:p>
            <a:r>
              <a:rPr lang="en-US" sz="1200" kern="1200" dirty="0" smtClean="0">
                <a:solidFill>
                  <a:schemeClr val="tx1"/>
                </a:solidFill>
                <a:latin typeface="Arial" charset="0"/>
                <a:ea typeface="+mn-ea"/>
                <a:cs typeface="+mn-cs"/>
              </a:rPr>
              <a:t>*****************************************************************</a:t>
            </a:r>
          </a:p>
          <a:p>
            <a:endParaRPr lang="en-US" sz="1200" kern="1200" dirty="0" smtClean="0">
              <a:solidFill>
                <a:schemeClr val="tx1"/>
              </a:solidFill>
              <a:latin typeface="Arial" charset="0"/>
              <a:ea typeface="+mn-ea"/>
              <a:cs typeface="+mn-cs"/>
            </a:endParaRPr>
          </a:p>
          <a:p>
            <a:r>
              <a:rPr lang="en-US" sz="1200" kern="1200" dirty="0" err="1" smtClean="0">
                <a:solidFill>
                  <a:schemeClr val="tx1"/>
                </a:solidFill>
                <a:latin typeface="Arial" charset="0"/>
                <a:ea typeface="+mn-ea"/>
                <a:cs typeface="+mn-cs"/>
              </a:rPr>
              <a:t>stringb</a:t>
            </a:r>
            <a:r>
              <a:rPr lang="en-US" sz="1200" kern="1200" dirty="0" smtClean="0">
                <a:solidFill>
                  <a:schemeClr val="tx1"/>
                </a:solidFill>
                <a:latin typeface="Arial" charset="0"/>
                <a:ea typeface="+mn-ea"/>
                <a:cs typeface="+mn-cs"/>
              </a:rPr>
              <a:t>=FILETOSTR(Form1.Text2.value)</a:t>
            </a:r>
          </a:p>
          <a:p>
            <a:r>
              <a:rPr lang="en-US" sz="1200" kern="1200" dirty="0" err="1" smtClean="0">
                <a:solidFill>
                  <a:schemeClr val="tx1"/>
                </a:solidFill>
                <a:latin typeface="Arial" charset="0"/>
                <a:ea typeface="+mn-ea"/>
                <a:cs typeface="+mn-cs"/>
              </a:rPr>
              <a:t>filebar</a:t>
            </a:r>
            <a:r>
              <a:rPr lang="en-US" sz="1200" kern="1200" dirty="0" smtClean="0">
                <a:solidFill>
                  <a:schemeClr val="tx1"/>
                </a:solidFill>
                <a:latin typeface="Arial" charset="0"/>
                <a:ea typeface="+mn-ea"/>
                <a:cs typeface="+mn-cs"/>
              </a:rPr>
              <a:t>=FCREATE('test1.txt')</a:t>
            </a:r>
          </a:p>
          <a:p>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stringb</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=FWRITE(</a:t>
            </a:r>
            <a:r>
              <a:rPr lang="en-US" sz="1200" kern="1200" dirty="0" err="1" smtClean="0">
                <a:solidFill>
                  <a:schemeClr val="tx1"/>
                </a:solidFill>
                <a:latin typeface="Arial" charset="0"/>
                <a:ea typeface="+mn-ea"/>
                <a:cs typeface="+mn-cs"/>
              </a:rPr>
              <a:t>filebar,stringb</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&amp;&amp;=FCLOSE(</a:t>
            </a:r>
            <a:r>
              <a:rPr lang="en-US" sz="1200" kern="1200" dirty="0" err="1" smtClean="0">
                <a:solidFill>
                  <a:schemeClr val="tx1"/>
                </a:solidFill>
                <a:latin typeface="Arial" charset="0"/>
                <a:ea typeface="+mn-ea"/>
                <a:cs typeface="+mn-cs"/>
              </a:rPr>
              <a:t>filebar</a:t>
            </a:r>
            <a:r>
              <a:rPr lang="en-US" sz="1200" kern="1200" dirty="0" smtClean="0">
                <a:solidFill>
                  <a:schemeClr val="tx1"/>
                </a:solidFill>
                <a:latin typeface="Arial" charset="0"/>
                <a:ea typeface="+mn-ea"/>
                <a:cs typeface="+mn-cs"/>
              </a:rPr>
              <a:t>)</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DIMENSION arrays(</a:t>
            </a:r>
            <a:r>
              <a:rPr lang="en-US" sz="1200" kern="1200" dirty="0" err="1" smtClean="0">
                <a:solidFill>
                  <a:schemeClr val="tx1"/>
                </a:solidFill>
                <a:latin typeface="Arial" charset="0"/>
                <a:ea typeface="+mn-ea"/>
                <a:cs typeface="+mn-cs"/>
              </a:rPr>
              <a:t>arrayvalue</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isolator2=4  &amp;&amp;the length of .</a:t>
            </a:r>
            <a:r>
              <a:rPr lang="en-US" sz="1200" kern="1200" dirty="0" err="1" smtClean="0">
                <a:solidFill>
                  <a:schemeClr val="tx1"/>
                </a:solidFill>
                <a:latin typeface="Arial" charset="0"/>
                <a:ea typeface="+mn-ea"/>
                <a:cs typeface="+mn-cs"/>
              </a:rPr>
              <a:t>pdf</a:t>
            </a:r>
            <a:r>
              <a:rPr lang="en-US" sz="1200" kern="1200" dirty="0" smtClean="0">
                <a:solidFill>
                  <a:schemeClr val="tx1"/>
                </a:solidFill>
                <a:latin typeface="Arial" charset="0"/>
                <a:ea typeface="+mn-ea"/>
                <a:cs typeface="+mn-cs"/>
              </a:rPr>
              <a:t> string</a:t>
            </a:r>
          </a:p>
          <a:p>
            <a:endParaRPr lang="en-US" sz="1200" kern="1200" dirty="0" smtClean="0">
              <a:solidFill>
                <a:schemeClr val="tx1"/>
              </a:solidFill>
              <a:latin typeface="Arial" charset="0"/>
              <a:ea typeface="+mn-ea"/>
              <a:cs typeface="+mn-cs"/>
            </a:endParaRPr>
          </a:p>
          <a:p>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a:t>
            </a:r>
          </a:p>
          <a:p>
            <a:r>
              <a:rPr lang="en-US" sz="1200" kern="1200" dirty="0" smtClean="0">
                <a:solidFill>
                  <a:schemeClr val="tx1"/>
                </a:solidFill>
                <a:latin typeface="Arial" charset="0"/>
                <a:ea typeface="+mn-ea"/>
                <a:cs typeface="+mn-cs"/>
              </a:rPr>
              <a:t>FOR </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 TO </a:t>
            </a:r>
            <a:r>
              <a:rPr lang="en-US" sz="1200" kern="1200" dirty="0" err="1" smtClean="0">
                <a:solidFill>
                  <a:schemeClr val="tx1"/>
                </a:solidFill>
                <a:latin typeface="Arial" charset="0"/>
                <a:ea typeface="+mn-ea"/>
                <a:cs typeface="+mn-cs"/>
              </a:rPr>
              <a:t>arrayvalue</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IF </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a:t>
            </a:r>
          </a:p>
          <a:p>
            <a:r>
              <a:rPr lang="en-US" sz="1200" kern="1200" dirty="0" smtClean="0">
                <a:solidFill>
                  <a:schemeClr val="tx1"/>
                </a:solidFill>
                <a:latin typeface="Arial" charset="0"/>
                <a:ea typeface="+mn-ea"/>
                <a:cs typeface="+mn-cs"/>
              </a:rPr>
              <a:t>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)=SUBSTR(stringb,1, </a:t>
            </a:r>
            <a:r>
              <a:rPr lang="en-US" sz="1200" kern="1200" dirty="0" err="1" smtClean="0">
                <a:solidFill>
                  <a:schemeClr val="tx1"/>
                </a:solidFill>
                <a:latin typeface="Arial" charset="0"/>
                <a:ea typeface="+mn-ea"/>
                <a:cs typeface="+mn-cs"/>
              </a:rPr>
              <a:t>ATc</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pdf</a:t>
            </a:r>
            <a:r>
              <a:rPr lang="en-US" sz="1200" kern="1200" dirty="0" smtClean="0">
                <a:solidFill>
                  <a:schemeClr val="tx1"/>
                </a:solidFill>
                <a:latin typeface="Arial" charset="0"/>
                <a:ea typeface="+mn-ea"/>
                <a:cs typeface="+mn-cs"/>
              </a:rPr>
              <a:t>", stringb,1)+isolator2-1)</a:t>
            </a:r>
          </a:p>
          <a:p>
            <a:r>
              <a:rPr lang="en-US" sz="1200" kern="1200" dirty="0" smtClean="0">
                <a:solidFill>
                  <a:schemeClr val="tx1"/>
                </a:solidFill>
                <a:latin typeface="Arial" charset="0"/>
                <a:ea typeface="+mn-ea"/>
                <a:cs typeface="+mn-cs"/>
              </a:rPr>
              <a:t>    ELSE</a:t>
            </a:r>
          </a:p>
          <a:p>
            <a:r>
              <a:rPr lang="en-US" sz="1200" kern="1200" dirty="0" smtClean="0">
                <a:solidFill>
                  <a:schemeClr val="tx1"/>
                </a:solidFill>
                <a:latin typeface="Arial" charset="0"/>
                <a:ea typeface="+mn-ea"/>
                <a:cs typeface="+mn-cs"/>
              </a:rPr>
              <a:t>           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)=SUBSTR(</a:t>
            </a:r>
            <a:r>
              <a:rPr lang="en-US" sz="1200" kern="1200" dirty="0" err="1" smtClean="0">
                <a:solidFill>
                  <a:schemeClr val="tx1"/>
                </a:solidFill>
                <a:latin typeface="Arial" charset="0"/>
                <a:ea typeface="+mn-ea"/>
                <a:cs typeface="+mn-cs"/>
              </a:rPr>
              <a:t>stringb</a:t>
            </a:r>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ATc</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pdf</a:t>
            </a:r>
            <a:r>
              <a:rPr lang="en-US" sz="1200" kern="1200" dirty="0" smtClean="0">
                <a:solidFill>
                  <a:schemeClr val="tx1"/>
                </a:solidFill>
                <a:latin typeface="Arial" charset="0"/>
                <a:ea typeface="+mn-ea"/>
                <a:cs typeface="+mn-cs"/>
              </a:rPr>
              <a:t>", stringb,jj-1)+isolator2,ATc(".</a:t>
            </a:r>
            <a:r>
              <a:rPr lang="en-US" sz="1200" kern="1200" dirty="0" err="1" smtClean="0">
                <a:solidFill>
                  <a:schemeClr val="tx1"/>
                </a:solidFill>
                <a:latin typeface="Arial" charset="0"/>
                <a:ea typeface="+mn-ea"/>
                <a:cs typeface="+mn-cs"/>
              </a:rPr>
              <a:t>pdf</a:t>
            </a:r>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stringb,jj</a:t>
            </a:r>
            <a:r>
              <a:rPr lang="en-US" sz="1200" kern="1200" dirty="0" smtClean="0">
                <a:solidFill>
                  <a:schemeClr val="tx1"/>
                </a:solidFill>
                <a:latin typeface="Arial" charset="0"/>
                <a:ea typeface="+mn-ea"/>
                <a:cs typeface="+mn-cs"/>
              </a:rPr>
              <a:t>)+isolator2-(</a:t>
            </a:r>
            <a:r>
              <a:rPr lang="en-US" sz="1200" kern="1200" dirty="0" err="1" smtClean="0">
                <a:solidFill>
                  <a:schemeClr val="tx1"/>
                </a:solidFill>
                <a:latin typeface="Arial" charset="0"/>
                <a:ea typeface="+mn-ea"/>
                <a:cs typeface="+mn-cs"/>
              </a:rPr>
              <a:t>ATc</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pdf</a:t>
            </a:r>
            <a:r>
              <a:rPr lang="en-US" sz="1200" kern="1200" dirty="0" smtClean="0">
                <a:solidFill>
                  <a:schemeClr val="tx1"/>
                </a:solidFill>
                <a:latin typeface="Arial" charset="0"/>
                <a:ea typeface="+mn-ea"/>
                <a:cs typeface="+mn-cs"/>
              </a:rPr>
              <a:t>", stringb,jj-1)+isolator2))</a:t>
            </a:r>
          </a:p>
          <a:p>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ENDIF</a:t>
            </a:r>
          </a:p>
          <a:p>
            <a:r>
              <a:rPr lang="en-US" sz="1200" kern="1200" dirty="0" smtClean="0">
                <a:solidFill>
                  <a:schemeClr val="tx1"/>
                </a:solidFill>
                <a:latin typeface="Arial" charset="0"/>
                <a:ea typeface="+mn-ea"/>
                <a:cs typeface="+mn-cs"/>
              </a:rPr>
              <a:t>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)=STRTRAN(arrays(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),CHR(13),"")</a:t>
            </a:r>
          </a:p>
          <a:p>
            <a:r>
              <a:rPr lang="en-US" sz="1200" kern="1200" dirty="0" smtClean="0">
                <a:solidFill>
                  <a:schemeClr val="tx1"/>
                </a:solidFill>
                <a:latin typeface="Arial" charset="0"/>
                <a:ea typeface="+mn-ea"/>
                <a:cs typeface="+mn-cs"/>
              </a:rPr>
              <a:t>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)=STRTRAN(arrays(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),CHR(10),"")</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Fputs</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filebar,'exllent</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&amp;&amp;=FWRITE(</a:t>
            </a:r>
            <a:r>
              <a:rPr lang="en-US" sz="1200" kern="1200" dirty="0" err="1" smtClean="0">
                <a:solidFill>
                  <a:schemeClr val="tx1"/>
                </a:solidFill>
                <a:latin typeface="Arial" charset="0"/>
                <a:ea typeface="+mn-ea"/>
                <a:cs typeface="+mn-cs"/>
              </a:rPr>
              <a:t>filebar</a:t>
            </a:r>
            <a:r>
              <a:rPr lang="en-US" sz="1200" kern="1200" dirty="0" smtClean="0">
                <a:solidFill>
                  <a:schemeClr val="tx1"/>
                </a:solidFill>
                <a:latin typeface="Arial" charset="0"/>
                <a:ea typeface="+mn-ea"/>
                <a:cs typeface="+mn-cs"/>
              </a:rPr>
              <a:t>, 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 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&amp;&amp;? 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ENDFOR</a:t>
            </a:r>
          </a:p>
          <a:p>
            <a:r>
              <a:rPr lang="en-US" sz="1200" kern="1200" dirty="0" smtClean="0">
                <a:solidFill>
                  <a:schemeClr val="tx1"/>
                </a:solidFill>
                <a:latin typeface="Arial" charset="0"/>
                <a:ea typeface="+mn-ea"/>
                <a:cs typeface="+mn-cs"/>
              </a:rPr>
              <a:t>=FCLOSE(</a:t>
            </a:r>
            <a:r>
              <a:rPr lang="en-US" sz="1200" kern="1200" dirty="0" err="1" smtClean="0">
                <a:solidFill>
                  <a:schemeClr val="tx1"/>
                </a:solidFill>
                <a:latin typeface="Arial" charset="0"/>
                <a:ea typeface="+mn-ea"/>
                <a:cs typeface="+mn-cs"/>
              </a:rPr>
              <a:t>filebar</a:t>
            </a:r>
            <a:r>
              <a:rPr lang="en-US" sz="1200" kern="1200" dirty="0" smtClean="0">
                <a:solidFill>
                  <a:schemeClr val="tx1"/>
                </a:solidFill>
                <a:latin typeface="Arial" charset="0"/>
                <a:ea typeface="+mn-ea"/>
                <a:cs typeface="+mn-cs"/>
              </a:rPr>
              <a:t>)</a:t>
            </a:r>
          </a:p>
          <a:p>
            <a:endParaRPr lang="en-US" sz="1200" kern="1200" dirty="0" smtClean="0">
              <a:solidFill>
                <a:schemeClr val="tx1"/>
              </a:solidFill>
              <a:latin typeface="Arial" charset="0"/>
              <a:ea typeface="+mn-ea"/>
              <a:cs typeface="+mn-cs"/>
            </a:endParaRPr>
          </a:p>
          <a:p>
            <a:endParaRPr lang="en-US" sz="1200" kern="1200" dirty="0" smtClean="0">
              <a:solidFill>
                <a:schemeClr val="tx1"/>
              </a:solidFill>
              <a:latin typeface="Arial" charset="0"/>
              <a:ea typeface="+mn-ea"/>
              <a:cs typeface="+mn-cs"/>
            </a:endParaRPr>
          </a:p>
          <a:p>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 </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ThisForm.OleControl1.Max = </a:t>
            </a:r>
            <a:r>
              <a:rPr lang="en-US" sz="1200" kern="1200" dirty="0" err="1" smtClean="0">
                <a:solidFill>
                  <a:schemeClr val="tx1"/>
                </a:solidFill>
                <a:latin typeface="Arial" charset="0"/>
                <a:ea typeface="+mn-ea"/>
                <a:cs typeface="+mn-cs"/>
              </a:rPr>
              <a:t>arrayvalue</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ThisForm.OleControl1.visible=.t.</a:t>
            </a:r>
          </a:p>
          <a:p>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FOR </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=1 TO </a:t>
            </a:r>
            <a:r>
              <a:rPr lang="en-US" sz="1200" kern="1200" dirty="0" err="1" smtClean="0">
                <a:solidFill>
                  <a:schemeClr val="tx1"/>
                </a:solidFill>
                <a:latin typeface="Arial" charset="0"/>
                <a:ea typeface="+mn-ea"/>
                <a:cs typeface="+mn-cs"/>
              </a:rPr>
              <a:t>arrayvalue</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     &amp;&amp; MKDIR ALLTRIM(STR(</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directorya</a:t>
            </a:r>
            <a:r>
              <a:rPr lang="en-US" sz="1200" kern="1200" dirty="0" smtClean="0">
                <a:solidFill>
                  <a:schemeClr val="tx1"/>
                </a:solidFill>
                <a:latin typeface="Arial" charset="0"/>
                <a:ea typeface="+mn-ea"/>
                <a:cs typeface="+mn-cs"/>
              </a:rPr>
              <a:t>=STR(</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filenamea</a:t>
            </a:r>
            <a:r>
              <a:rPr lang="en-US" sz="1200" kern="1200" dirty="0" smtClean="0">
                <a:solidFill>
                  <a:schemeClr val="tx1"/>
                </a:solidFill>
                <a:latin typeface="Arial" charset="0"/>
                <a:ea typeface="+mn-ea"/>
                <a:cs typeface="+mn-cs"/>
              </a:rPr>
              <a:t>=arrays(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copy FILE arrays(</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 TO &amp;</a:t>
            </a:r>
            <a:r>
              <a:rPr lang="en-US" sz="1200" kern="1200" dirty="0" err="1" smtClean="0">
                <a:solidFill>
                  <a:schemeClr val="tx1"/>
                </a:solidFill>
                <a:latin typeface="Arial" charset="0"/>
                <a:ea typeface="+mn-ea"/>
                <a:cs typeface="+mn-cs"/>
              </a:rPr>
              <a:t>directorya</a:t>
            </a:r>
            <a:r>
              <a:rPr lang="en-US" sz="1200" kern="1200" dirty="0" smtClean="0">
                <a:solidFill>
                  <a:schemeClr val="tx1"/>
                </a:solidFill>
                <a:latin typeface="Arial" charset="0"/>
                <a:ea typeface="+mn-ea"/>
                <a:cs typeface="+mn-cs"/>
              </a:rPr>
              <a:t>\&amp;</a:t>
            </a:r>
            <a:r>
              <a:rPr lang="en-US" sz="1200" kern="1200" dirty="0" err="1" smtClean="0">
                <a:solidFill>
                  <a:schemeClr val="tx1"/>
                </a:solidFill>
                <a:latin typeface="Arial" charset="0"/>
                <a:ea typeface="+mn-ea"/>
                <a:cs typeface="+mn-cs"/>
              </a:rPr>
              <a:t>filenamea</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     CD ALLTRIM(STR(</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IF FILE('contents')</a:t>
            </a:r>
          </a:p>
          <a:p>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     ELSE</a:t>
            </a:r>
          </a:p>
          <a:p>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filehandlebb</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fcreate</a:t>
            </a:r>
            <a:r>
              <a:rPr lang="en-US" sz="1200" kern="1200" dirty="0" smtClean="0">
                <a:solidFill>
                  <a:schemeClr val="tx1"/>
                </a:solidFill>
                <a:latin typeface="Arial" charset="0"/>
                <a:ea typeface="+mn-ea"/>
                <a:cs typeface="+mn-cs"/>
              </a:rPr>
              <a:t>('contents')</a:t>
            </a:r>
          </a:p>
          <a:p>
            <a:r>
              <a:rPr lang="en-US" sz="1200" kern="1200" dirty="0" smtClean="0">
                <a:solidFill>
                  <a:schemeClr val="tx1"/>
                </a:solidFill>
                <a:latin typeface="Arial" charset="0"/>
                <a:ea typeface="+mn-ea"/>
                <a:cs typeface="+mn-cs"/>
              </a:rPr>
              <a:t>         =FWRITE(</a:t>
            </a:r>
            <a:r>
              <a:rPr lang="en-US" sz="1200" kern="1200" dirty="0" err="1" smtClean="0">
                <a:solidFill>
                  <a:schemeClr val="tx1"/>
                </a:solidFill>
                <a:latin typeface="Arial" charset="0"/>
                <a:ea typeface="+mn-ea"/>
                <a:cs typeface="+mn-cs"/>
              </a:rPr>
              <a:t>filehandlebb,arrays</a:t>
            </a:r>
            <a:r>
              <a:rPr lang="en-US" sz="1200" kern="1200" dirty="0" smtClean="0">
                <a:solidFill>
                  <a:schemeClr val="tx1"/>
                </a:solidFill>
                <a:latin typeface="Arial" charset="0"/>
                <a:ea typeface="+mn-ea"/>
                <a:cs typeface="+mn-cs"/>
              </a:rPr>
              <a:t>(</a:t>
            </a:r>
            <a:r>
              <a:rPr lang="en-US" sz="1200" kern="1200" dirty="0" err="1" smtClean="0">
                <a:solidFill>
                  <a:schemeClr val="tx1"/>
                </a:solidFill>
                <a:latin typeface="Arial" charset="0"/>
                <a:ea typeface="+mn-ea"/>
                <a:cs typeface="+mn-cs"/>
              </a:rPr>
              <a:t>jj</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=FCLOSE(</a:t>
            </a:r>
            <a:r>
              <a:rPr lang="en-US" sz="1200" kern="1200" dirty="0" err="1" smtClean="0">
                <a:solidFill>
                  <a:schemeClr val="tx1"/>
                </a:solidFill>
                <a:latin typeface="Arial" charset="0"/>
                <a:ea typeface="+mn-ea"/>
                <a:cs typeface="+mn-cs"/>
              </a:rPr>
              <a:t>filehandlebb</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     ENDIF</a:t>
            </a:r>
          </a:p>
          <a:p>
            <a:r>
              <a:rPr lang="en-US" sz="1200" kern="1200" dirty="0" smtClean="0">
                <a:solidFill>
                  <a:schemeClr val="tx1"/>
                </a:solidFill>
                <a:latin typeface="Arial" charset="0"/>
                <a:ea typeface="+mn-ea"/>
                <a:cs typeface="+mn-cs"/>
              </a:rPr>
              <a:t>     ThisForm.OleControl1.Value = </a:t>
            </a:r>
            <a:r>
              <a:rPr lang="en-US" sz="1200" kern="1200" dirty="0" err="1" smtClean="0">
                <a:solidFill>
                  <a:schemeClr val="tx1"/>
                </a:solidFill>
                <a:latin typeface="Arial" charset="0"/>
                <a:ea typeface="+mn-ea"/>
                <a:cs typeface="+mn-cs"/>
              </a:rPr>
              <a:t>jj</a:t>
            </a:r>
            <a:endParaRPr lang="en-US" sz="1200" kern="1200" dirty="0" smtClean="0">
              <a:solidFill>
                <a:schemeClr val="tx1"/>
              </a:solidFill>
              <a:latin typeface="Arial" charset="0"/>
              <a:ea typeface="+mn-ea"/>
              <a:cs typeface="+mn-cs"/>
            </a:endParaRPr>
          </a:p>
          <a:p>
            <a:r>
              <a:rPr lang="en-US" sz="1200" kern="1200" dirty="0" smtClean="0">
                <a:solidFill>
                  <a:schemeClr val="tx1"/>
                </a:solidFill>
                <a:latin typeface="Arial" charset="0"/>
                <a:ea typeface="+mn-ea"/>
                <a:cs typeface="+mn-cs"/>
              </a:rPr>
              <a:t>     </a:t>
            </a:r>
            <a:r>
              <a:rPr lang="en-US" sz="1200" kern="1200" dirty="0" err="1" smtClean="0">
                <a:solidFill>
                  <a:schemeClr val="tx1"/>
                </a:solidFill>
                <a:latin typeface="Arial" charset="0"/>
                <a:ea typeface="+mn-ea"/>
                <a:cs typeface="+mn-cs"/>
              </a:rPr>
              <a:t>cd</a:t>
            </a:r>
            <a:r>
              <a:rPr lang="en-US" sz="1200" kern="1200" dirty="0" smtClean="0">
                <a:solidFill>
                  <a:schemeClr val="tx1"/>
                </a:solidFill>
                <a:latin typeface="Arial" charset="0"/>
                <a:ea typeface="+mn-ea"/>
                <a:cs typeface="+mn-cs"/>
              </a:rPr>
              <a:t>..</a:t>
            </a:r>
          </a:p>
          <a:p>
            <a:r>
              <a:rPr lang="en-US" sz="1200" kern="1200" dirty="0" smtClean="0">
                <a:solidFill>
                  <a:schemeClr val="tx1"/>
                </a:solidFill>
                <a:latin typeface="Arial" charset="0"/>
                <a:ea typeface="+mn-ea"/>
                <a:cs typeface="+mn-cs"/>
              </a:rPr>
              <a:t>ENDFOR</a:t>
            </a:r>
          </a:p>
          <a:p>
            <a:r>
              <a:rPr lang="en-US" sz="1200" kern="1200" dirty="0" smtClean="0">
                <a:solidFill>
                  <a:schemeClr val="tx1"/>
                </a:solidFill>
                <a:latin typeface="Arial" charset="0"/>
                <a:ea typeface="+mn-ea"/>
                <a:cs typeface="+mn-cs"/>
              </a:rPr>
              <a:t> </a:t>
            </a:r>
          </a:p>
          <a:p>
            <a:r>
              <a:rPr lang="en-US" sz="1200" kern="1200" dirty="0" smtClean="0">
                <a:solidFill>
                  <a:schemeClr val="tx1"/>
                </a:solidFill>
                <a:latin typeface="Arial" charset="0"/>
                <a:ea typeface="+mn-ea"/>
                <a:cs typeface="+mn-cs"/>
              </a:rPr>
              <a:t>MESSAGEBOX("Process is completed!")</a:t>
            </a:r>
          </a:p>
          <a:p>
            <a:r>
              <a:rPr lang="en-US" sz="1200" kern="1200" dirty="0" smtClean="0">
                <a:solidFill>
                  <a:schemeClr val="tx1"/>
                </a:solidFill>
                <a:latin typeface="Arial" charset="0"/>
                <a:ea typeface="+mn-ea"/>
                <a:cs typeface="+mn-cs"/>
              </a:rPr>
              <a:t>ThisForm.OleControl1.visible=.f.</a:t>
            </a:r>
            <a:endParaRPr lang="en-US" dirty="0"/>
          </a:p>
        </p:txBody>
      </p:sp>
      <p:sp>
        <p:nvSpPr>
          <p:cNvPr id="4" name="Slide Number Placeholder 3"/>
          <p:cNvSpPr>
            <a:spLocks noGrp="1"/>
          </p:cNvSpPr>
          <p:nvPr>
            <p:ph type="sldNum" sz="quarter" idx="10"/>
          </p:nvPr>
        </p:nvSpPr>
        <p:spPr/>
        <p:txBody>
          <a:bodyPr/>
          <a:lstStyle/>
          <a:p>
            <a:fld id="{988C7076-7580-465C-B955-B9485B2A6B37}" type="slidenum">
              <a:rPr lang="en-US" smtClean="0"/>
              <a:pPr/>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88C7076-7580-465C-B955-B9485B2A6B37}" type="slidenum">
              <a:rPr lang="en-US" smtClean="0"/>
              <a:pPr/>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Through modification of /</a:t>
            </a:r>
            <a:r>
              <a:rPr lang="en-US" dirty="0" err="1" smtClean="0"/>
              <a:t>usr</a:t>
            </a:r>
            <a:r>
              <a:rPr lang="en-US" dirty="0" smtClean="0"/>
              <a:t>/local/</a:t>
            </a:r>
            <a:r>
              <a:rPr lang="en-US" dirty="0" err="1" smtClean="0"/>
              <a:t>dspace</a:t>
            </a:r>
            <a:r>
              <a:rPr lang="en-US" dirty="0" smtClean="0"/>
              <a:t>/</a:t>
            </a:r>
            <a:r>
              <a:rPr lang="en-US" dirty="0" err="1" smtClean="0"/>
              <a:t>webapps</a:t>
            </a:r>
            <a:r>
              <a:rPr lang="en-US" dirty="0" smtClean="0"/>
              <a:t>/</a:t>
            </a:r>
            <a:r>
              <a:rPr lang="en-US" dirty="0" err="1" smtClean="0"/>
              <a:t>jspui</a:t>
            </a:r>
            <a:r>
              <a:rPr lang="en-US" dirty="0" smtClean="0"/>
              <a:t>/browse/full.jsp, and adding some customized the code,</a:t>
            </a:r>
            <a:r>
              <a:rPr lang="en-US" baseline="0" dirty="0" smtClean="0"/>
              <a:t> </a:t>
            </a:r>
          </a:p>
          <a:p>
            <a:r>
              <a:rPr lang="en-US" baseline="0" dirty="0" smtClean="0"/>
              <a:t>A top  navigational bar year by year is created.</a:t>
            </a:r>
            <a:endParaRPr lang="en-US" dirty="0" smtClean="0"/>
          </a:p>
          <a:p>
            <a:endParaRPr lang="en-US" dirty="0"/>
          </a:p>
        </p:txBody>
      </p:sp>
      <p:sp>
        <p:nvSpPr>
          <p:cNvPr id="4" name="Slide Number Placeholder 3"/>
          <p:cNvSpPr>
            <a:spLocks noGrp="1"/>
          </p:cNvSpPr>
          <p:nvPr>
            <p:ph type="sldNum" sz="quarter" idx="10"/>
          </p:nvPr>
        </p:nvSpPr>
        <p:spPr/>
        <p:txBody>
          <a:bodyPr/>
          <a:lstStyle/>
          <a:p>
            <a:fld id="{988C7076-7580-465C-B955-B9485B2A6B37}" type="slidenum">
              <a:rPr lang="en-US" smtClean="0"/>
              <a:pPr/>
              <a:t>16</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SIP: </a:t>
            </a:r>
            <a:r>
              <a:rPr lang="en-US" sz="1200" b="0" i="0" kern="1200" dirty="0" smtClean="0">
                <a:solidFill>
                  <a:schemeClr val="tx1"/>
                </a:solidFill>
                <a:latin typeface="Arial" charset="0"/>
                <a:ea typeface="+mn-ea"/>
                <a:cs typeface="+mn-cs"/>
              </a:rPr>
              <a:t>Submission Information Packages (SIPs).</a:t>
            </a:r>
            <a:endParaRPr lang="en-US" dirty="0" smtClean="0"/>
          </a:p>
          <a:p>
            <a:endParaRPr lang="en-US" dirty="0"/>
          </a:p>
        </p:txBody>
      </p:sp>
      <p:sp>
        <p:nvSpPr>
          <p:cNvPr id="4" name="Slide Number Placeholder 3"/>
          <p:cNvSpPr>
            <a:spLocks noGrp="1"/>
          </p:cNvSpPr>
          <p:nvPr>
            <p:ph type="sldNum" sz="quarter" idx="10"/>
          </p:nvPr>
        </p:nvSpPr>
        <p:spPr/>
        <p:txBody>
          <a:bodyPr/>
          <a:lstStyle/>
          <a:p>
            <a:fld id="{988C7076-7580-465C-B955-B9485B2A6B37}" type="slidenum">
              <a:rPr lang="en-US" smtClean="0"/>
              <a:pPr/>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7315200" y="1066800"/>
            <a:ext cx="0" cy="1752600"/>
          </a:xfrm>
          <a:prstGeom prst="line">
            <a:avLst/>
          </a:prstGeom>
          <a:noFill/>
          <a:ln w="9525">
            <a:solidFill>
              <a:schemeClr val="accent2"/>
            </a:solidFill>
            <a:round/>
            <a:headEnd/>
            <a:tailEnd/>
          </a:ln>
          <a:effectLst/>
        </p:spPr>
        <p:txBody>
          <a:bodyPr/>
          <a:lstStyle/>
          <a:p>
            <a:endParaRPr lang="en-US"/>
          </a:p>
        </p:txBody>
      </p:sp>
      <p:sp>
        <p:nvSpPr>
          <p:cNvPr id="66563" name="Rectangle 3"/>
          <p:cNvSpPr>
            <a:spLocks noGrp="1" noChangeArrowheads="1"/>
          </p:cNvSpPr>
          <p:nvPr>
            <p:ph type="ctrTitle"/>
          </p:nvPr>
        </p:nvSpPr>
        <p:spPr>
          <a:xfrm>
            <a:off x="762000" y="457200"/>
            <a:ext cx="6389688" cy="2133600"/>
          </a:xfrm>
        </p:spPr>
        <p:txBody>
          <a:bodyPr/>
          <a:lstStyle>
            <a:lvl1pPr>
              <a:defRPr/>
            </a:lvl1pPr>
          </a:lstStyle>
          <a:p>
            <a:r>
              <a:rPr lang="en-US" altLang="en-US" smtClean="0"/>
              <a:t>Click to edit Master title style</a:t>
            </a:r>
            <a:endParaRPr lang="en-US" altLang="en-US"/>
          </a:p>
        </p:txBody>
      </p:sp>
      <p:sp>
        <p:nvSpPr>
          <p:cNvPr id="66564"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a:lvl1pPr>
          </a:lstStyle>
          <a:p>
            <a:r>
              <a:rPr lang="en-US" altLang="en-US" smtClean="0"/>
              <a:t>Click to edit Master subtitle style</a:t>
            </a:r>
            <a:endParaRPr lang="en-US" altLang="en-US"/>
          </a:p>
        </p:txBody>
      </p:sp>
      <p:sp>
        <p:nvSpPr>
          <p:cNvPr id="66565" name="Rectangle 5"/>
          <p:cNvSpPr>
            <a:spLocks noGrp="1" noChangeArrowheads="1"/>
          </p:cNvSpPr>
          <p:nvPr>
            <p:ph type="dt" sz="half" idx="2"/>
          </p:nvPr>
        </p:nvSpPr>
        <p:spPr/>
        <p:txBody>
          <a:bodyPr/>
          <a:lstStyle>
            <a:lvl1pPr>
              <a:defRPr/>
            </a:lvl1pPr>
          </a:lstStyle>
          <a:p>
            <a:endParaRPr lang="en-US" altLang="en-US"/>
          </a:p>
        </p:txBody>
      </p:sp>
      <p:sp>
        <p:nvSpPr>
          <p:cNvPr id="66566" name="Rectangle 6"/>
          <p:cNvSpPr>
            <a:spLocks noGrp="1" noChangeArrowheads="1"/>
          </p:cNvSpPr>
          <p:nvPr>
            <p:ph type="ftr" sz="quarter" idx="3"/>
          </p:nvPr>
        </p:nvSpPr>
        <p:spPr/>
        <p:txBody>
          <a:bodyPr/>
          <a:lstStyle>
            <a:lvl1pPr>
              <a:defRPr/>
            </a:lvl1pPr>
          </a:lstStyle>
          <a:p>
            <a:endParaRPr lang="en-US" altLang="en-US"/>
          </a:p>
        </p:txBody>
      </p:sp>
      <p:sp>
        <p:nvSpPr>
          <p:cNvPr id="66567" name="Rectangle 7"/>
          <p:cNvSpPr>
            <a:spLocks noGrp="1" noChangeArrowheads="1"/>
          </p:cNvSpPr>
          <p:nvPr>
            <p:ph type="sldNum" sz="quarter" idx="4"/>
          </p:nvPr>
        </p:nvSpPr>
        <p:spPr/>
        <p:txBody>
          <a:bodyPr/>
          <a:lstStyle>
            <a:lvl1pPr>
              <a:defRPr/>
            </a:lvl1pPr>
          </a:lstStyle>
          <a:p>
            <a:fld id="{1EB50C84-3E55-484E-8EA1-8408250BD8EF}" type="slidenum">
              <a:rPr lang="en-US" altLang="en-US"/>
              <a:pPr/>
              <a:t>‹#›</a:t>
            </a:fld>
            <a:endParaRPr lang="en-US" altLang="en-US"/>
          </a:p>
        </p:txBody>
      </p:sp>
      <p:sp>
        <p:nvSpPr>
          <p:cNvPr id="66568" name="Line 8"/>
          <p:cNvSpPr>
            <a:spLocks noChangeShapeType="1"/>
          </p:cNvSpPr>
          <p:nvPr/>
        </p:nvSpPr>
        <p:spPr bwMode="auto">
          <a:xfrm>
            <a:off x="838200" y="2819400"/>
            <a:ext cx="6477000" cy="0"/>
          </a:xfrm>
          <a:prstGeom prst="line">
            <a:avLst/>
          </a:prstGeom>
          <a:noFill/>
          <a:ln w="6350">
            <a:solidFill>
              <a:schemeClr val="accent2"/>
            </a:solidFill>
            <a:round/>
            <a:headEnd/>
            <a:tailEnd/>
          </a:ln>
          <a:effectLst/>
        </p:spPr>
        <p:txBody>
          <a:bodyPr/>
          <a:lstStyle/>
          <a:p>
            <a:endParaRPr lang="en-US"/>
          </a:p>
        </p:txBody>
      </p:sp>
      <p:grpSp>
        <p:nvGrpSpPr>
          <p:cNvPr id="66569" name="Group 9" descr="decorative graphic made up of dots"/>
          <p:cNvGrpSpPr>
            <a:grpSpLocks/>
          </p:cNvGrpSpPr>
          <p:nvPr/>
        </p:nvGrpSpPr>
        <p:grpSpPr bwMode="auto">
          <a:xfrm>
            <a:off x="7467600" y="1219200"/>
            <a:ext cx="792163"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endParaRPr lang="en-US"/>
            </a:p>
          </p:txBody>
        </p:sp>
        <p:sp>
          <p:nvSpPr>
            <p:cNvPr id="66571" name="Oval 11"/>
            <p:cNvSpPr>
              <a:spLocks noChangeArrowheads="1"/>
            </p:cNvSpPr>
            <p:nvPr/>
          </p:nvSpPr>
          <p:spPr bwMode="auto">
            <a:xfrm>
              <a:off x="5248" y="960"/>
              <a:ext cx="80" cy="80"/>
            </a:xfrm>
            <a:prstGeom prst="ellipse">
              <a:avLst/>
            </a:prstGeom>
            <a:solidFill>
              <a:schemeClr val="tx2"/>
            </a:solidFill>
            <a:ln w="9525">
              <a:noFill/>
              <a:round/>
              <a:headEnd/>
              <a:tailEnd/>
            </a:ln>
            <a:effectLst/>
          </p:spPr>
          <p:txBody>
            <a:bodyPr wrap="none" anchor="ctr"/>
            <a:lstStyle/>
            <a:p>
              <a:endParaRPr lang="en-US"/>
            </a:p>
          </p:txBody>
        </p:sp>
        <p:sp>
          <p:nvSpPr>
            <p:cNvPr id="66572" name="Oval 12"/>
            <p:cNvSpPr>
              <a:spLocks noChangeArrowheads="1"/>
            </p:cNvSpPr>
            <p:nvPr/>
          </p:nvSpPr>
          <p:spPr bwMode="auto">
            <a:xfrm>
              <a:off x="5360" y="960"/>
              <a:ext cx="80" cy="80"/>
            </a:xfrm>
            <a:prstGeom prst="ellipse">
              <a:avLst/>
            </a:prstGeom>
            <a:solidFill>
              <a:schemeClr val="tx2"/>
            </a:solidFill>
            <a:ln w="9525">
              <a:noFill/>
              <a:round/>
              <a:headEnd/>
              <a:tailEnd/>
            </a:ln>
            <a:effectLst/>
          </p:spPr>
          <p:txBody>
            <a:bodyPr wrap="none" anchor="ctr"/>
            <a:lstStyle/>
            <a:p>
              <a:endParaRPr lang="en-US"/>
            </a:p>
          </p:txBody>
        </p:sp>
        <p:sp>
          <p:nvSpPr>
            <p:cNvPr id="66573" name="Oval 13"/>
            <p:cNvSpPr>
              <a:spLocks noChangeArrowheads="1"/>
            </p:cNvSpPr>
            <p:nvPr/>
          </p:nvSpPr>
          <p:spPr bwMode="auto">
            <a:xfrm>
              <a:off x="5136" y="1072"/>
              <a:ext cx="80" cy="80"/>
            </a:xfrm>
            <a:prstGeom prst="ellipse">
              <a:avLst/>
            </a:prstGeom>
            <a:solidFill>
              <a:schemeClr val="tx2"/>
            </a:solidFill>
            <a:ln w="9525">
              <a:noFill/>
              <a:round/>
              <a:headEnd/>
              <a:tailEnd/>
            </a:ln>
            <a:effectLst/>
          </p:spPr>
          <p:txBody>
            <a:bodyPr wrap="none" anchor="ctr"/>
            <a:lstStyle/>
            <a:p>
              <a:endParaRPr lang="en-US"/>
            </a:p>
          </p:txBody>
        </p:sp>
        <p:sp>
          <p:nvSpPr>
            <p:cNvPr id="66574" name="Oval 14"/>
            <p:cNvSpPr>
              <a:spLocks noChangeArrowheads="1"/>
            </p:cNvSpPr>
            <p:nvPr/>
          </p:nvSpPr>
          <p:spPr bwMode="auto">
            <a:xfrm>
              <a:off x="5248" y="1072"/>
              <a:ext cx="80" cy="80"/>
            </a:xfrm>
            <a:prstGeom prst="ellipse">
              <a:avLst/>
            </a:prstGeom>
            <a:solidFill>
              <a:schemeClr val="tx2"/>
            </a:solidFill>
            <a:ln w="9525">
              <a:noFill/>
              <a:round/>
              <a:headEnd/>
              <a:tailEnd/>
            </a:ln>
            <a:effectLst/>
          </p:spPr>
          <p:txBody>
            <a:bodyPr wrap="none" anchor="ctr"/>
            <a:lstStyle/>
            <a:p>
              <a:endParaRPr lang="en-US"/>
            </a:p>
          </p:txBody>
        </p:sp>
        <p:sp>
          <p:nvSpPr>
            <p:cNvPr id="66575" name="Oval 15"/>
            <p:cNvSpPr>
              <a:spLocks noChangeArrowheads="1"/>
            </p:cNvSpPr>
            <p:nvPr/>
          </p:nvSpPr>
          <p:spPr bwMode="auto">
            <a:xfrm>
              <a:off x="5360" y="1072"/>
              <a:ext cx="80" cy="80"/>
            </a:xfrm>
            <a:prstGeom prst="ellipse">
              <a:avLst/>
            </a:prstGeom>
            <a:solidFill>
              <a:schemeClr val="tx2"/>
            </a:solidFill>
            <a:ln w="9525">
              <a:noFill/>
              <a:round/>
              <a:headEnd/>
              <a:tailEnd/>
            </a:ln>
            <a:effectLst/>
          </p:spPr>
          <p:txBody>
            <a:bodyPr wrap="none" anchor="ctr"/>
            <a:lstStyle/>
            <a:p>
              <a:endParaRPr lang="en-US"/>
            </a:p>
          </p:txBody>
        </p:sp>
        <p:sp>
          <p:nvSpPr>
            <p:cNvPr id="66576" name="Oval 16"/>
            <p:cNvSpPr>
              <a:spLocks noChangeArrowheads="1"/>
            </p:cNvSpPr>
            <p:nvPr/>
          </p:nvSpPr>
          <p:spPr bwMode="auto">
            <a:xfrm>
              <a:off x="5472" y="1072"/>
              <a:ext cx="80" cy="80"/>
            </a:xfrm>
            <a:prstGeom prst="ellipse">
              <a:avLst/>
            </a:prstGeom>
            <a:solidFill>
              <a:schemeClr val="accent2"/>
            </a:solidFill>
            <a:ln w="9525">
              <a:noFill/>
              <a:round/>
              <a:headEnd/>
              <a:tailEnd/>
            </a:ln>
            <a:effectLst/>
          </p:spPr>
          <p:txBody>
            <a:bodyPr wrap="none" anchor="ctr"/>
            <a:lstStyle/>
            <a:p>
              <a:endParaRPr lang="en-US"/>
            </a:p>
          </p:txBody>
        </p:sp>
        <p:sp>
          <p:nvSpPr>
            <p:cNvPr id="66577" name="Oval 17"/>
            <p:cNvSpPr>
              <a:spLocks noChangeArrowheads="1"/>
            </p:cNvSpPr>
            <p:nvPr/>
          </p:nvSpPr>
          <p:spPr bwMode="auto">
            <a:xfrm>
              <a:off x="5136" y="1184"/>
              <a:ext cx="80" cy="80"/>
            </a:xfrm>
            <a:prstGeom prst="ellipse">
              <a:avLst/>
            </a:prstGeom>
            <a:solidFill>
              <a:schemeClr val="tx2"/>
            </a:solidFill>
            <a:ln w="9525">
              <a:noFill/>
              <a:round/>
              <a:headEnd/>
              <a:tailEnd/>
            </a:ln>
            <a:effectLst/>
          </p:spPr>
          <p:txBody>
            <a:bodyPr wrap="none" anchor="ctr"/>
            <a:lstStyle/>
            <a:p>
              <a:endParaRPr lang="en-US"/>
            </a:p>
          </p:txBody>
        </p:sp>
        <p:sp>
          <p:nvSpPr>
            <p:cNvPr id="66578" name="Oval 18"/>
            <p:cNvSpPr>
              <a:spLocks noChangeArrowheads="1"/>
            </p:cNvSpPr>
            <p:nvPr/>
          </p:nvSpPr>
          <p:spPr bwMode="auto">
            <a:xfrm>
              <a:off x="5248" y="1184"/>
              <a:ext cx="80" cy="80"/>
            </a:xfrm>
            <a:prstGeom prst="ellipse">
              <a:avLst/>
            </a:prstGeom>
            <a:solidFill>
              <a:schemeClr val="tx2"/>
            </a:solidFill>
            <a:ln w="9525">
              <a:noFill/>
              <a:round/>
              <a:headEnd/>
              <a:tailEnd/>
            </a:ln>
            <a:effectLst/>
          </p:spPr>
          <p:txBody>
            <a:bodyPr wrap="none" anchor="ctr"/>
            <a:lstStyle/>
            <a:p>
              <a:endParaRPr lang="en-US"/>
            </a:p>
          </p:txBody>
        </p:sp>
        <p:sp>
          <p:nvSpPr>
            <p:cNvPr id="66579" name="Oval 19"/>
            <p:cNvSpPr>
              <a:spLocks noChangeArrowheads="1"/>
            </p:cNvSpPr>
            <p:nvPr/>
          </p:nvSpPr>
          <p:spPr bwMode="auto">
            <a:xfrm>
              <a:off x="5360" y="1184"/>
              <a:ext cx="80" cy="80"/>
            </a:xfrm>
            <a:prstGeom prst="ellipse">
              <a:avLst/>
            </a:prstGeom>
            <a:solidFill>
              <a:schemeClr val="accent2"/>
            </a:solidFill>
            <a:ln w="9525">
              <a:noFill/>
              <a:round/>
              <a:headEnd/>
              <a:tailEnd/>
            </a:ln>
            <a:effectLst/>
          </p:spPr>
          <p:txBody>
            <a:bodyPr wrap="none" anchor="ctr"/>
            <a:lstStyle/>
            <a:p>
              <a:endParaRPr lang="en-US"/>
            </a:p>
          </p:txBody>
        </p:sp>
        <p:sp>
          <p:nvSpPr>
            <p:cNvPr id="66580" name="Oval 20"/>
            <p:cNvSpPr>
              <a:spLocks noChangeArrowheads="1"/>
            </p:cNvSpPr>
            <p:nvPr/>
          </p:nvSpPr>
          <p:spPr bwMode="auto">
            <a:xfrm>
              <a:off x="5472" y="1184"/>
              <a:ext cx="80" cy="80"/>
            </a:xfrm>
            <a:prstGeom prst="ellipse">
              <a:avLst/>
            </a:prstGeom>
            <a:solidFill>
              <a:schemeClr val="accent2"/>
            </a:solidFill>
            <a:ln w="9525">
              <a:noFill/>
              <a:round/>
              <a:headEnd/>
              <a:tailEnd/>
            </a:ln>
            <a:effectLst/>
          </p:spPr>
          <p:txBody>
            <a:bodyPr wrap="none" anchor="ctr"/>
            <a:lstStyle/>
            <a:p>
              <a:endParaRPr lang="en-US"/>
            </a:p>
          </p:txBody>
        </p:sp>
        <p:sp>
          <p:nvSpPr>
            <p:cNvPr id="66581" name="Oval 21"/>
            <p:cNvSpPr>
              <a:spLocks noChangeArrowheads="1"/>
            </p:cNvSpPr>
            <p:nvPr/>
          </p:nvSpPr>
          <p:spPr bwMode="auto">
            <a:xfrm>
              <a:off x="5584" y="1184"/>
              <a:ext cx="80" cy="80"/>
            </a:xfrm>
            <a:prstGeom prst="ellipse">
              <a:avLst/>
            </a:prstGeom>
            <a:solidFill>
              <a:schemeClr val="accent1"/>
            </a:solidFill>
            <a:ln w="9525">
              <a:noFill/>
              <a:round/>
              <a:headEnd/>
              <a:tailEnd/>
            </a:ln>
            <a:effectLst/>
          </p:spPr>
          <p:txBody>
            <a:bodyPr wrap="none" anchor="ctr"/>
            <a:lstStyle/>
            <a:p>
              <a:endParaRPr lang="en-US"/>
            </a:p>
          </p:txBody>
        </p:sp>
        <p:sp>
          <p:nvSpPr>
            <p:cNvPr id="66582" name="Oval 22"/>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endParaRPr lang="en-US"/>
            </a:p>
          </p:txBody>
        </p:sp>
        <p:sp>
          <p:nvSpPr>
            <p:cNvPr id="66583" name="Oval 23"/>
            <p:cNvSpPr>
              <a:spLocks noChangeArrowheads="1"/>
            </p:cNvSpPr>
            <p:nvPr/>
          </p:nvSpPr>
          <p:spPr bwMode="auto">
            <a:xfrm>
              <a:off x="5248" y="1296"/>
              <a:ext cx="80" cy="80"/>
            </a:xfrm>
            <a:prstGeom prst="ellipse">
              <a:avLst/>
            </a:prstGeom>
            <a:solidFill>
              <a:schemeClr val="accent2"/>
            </a:solidFill>
            <a:ln w="9525">
              <a:noFill/>
              <a:round/>
              <a:headEnd/>
              <a:tailEnd/>
            </a:ln>
            <a:effectLst/>
          </p:spPr>
          <p:txBody>
            <a:bodyPr wrap="none" anchor="ctr"/>
            <a:lstStyle/>
            <a:p>
              <a:endParaRPr lang="en-US"/>
            </a:p>
          </p:txBody>
        </p:sp>
        <p:sp>
          <p:nvSpPr>
            <p:cNvPr id="66584" name="Oval 24"/>
            <p:cNvSpPr>
              <a:spLocks noChangeArrowheads="1"/>
            </p:cNvSpPr>
            <p:nvPr/>
          </p:nvSpPr>
          <p:spPr bwMode="auto">
            <a:xfrm>
              <a:off x="5360" y="1296"/>
              <a:ext cx="80" cy="80"/>
            </a:xfrm>
            <a:prstGeom prst="ellipse">
              <a:avLst/>
            </a:prstGeom>
            <a:solidFill>
              <a:schemeClr val="accent2"/>
            </a:solidFill>
            <a:ln w="9525">
              <a:noFill/>
              <a:round/>
              <a:headEnd/>
              <a:tailEnd/>
            </a:ln>
            <a:effectLst/>
          </p:spPr>
          <p:txBody>
            <a:bodyPr wrap="none" anchor="ctr"/>
            <a:lstStyle/>
            <a:p>
              <a:endParaRPr lang="en-US"/>
            </a:p>
          </p:txBody>
        </p:sp>
        <p:sp>
          <p:nvSpPr>
            <p:cNvPr id="66585" name="Oval 25"/>
            <p:cNvSpPr>
              <a:spLocks noChangeArrowheads="1"/>
            </p:cNvSpPr>
            <p:nvPr/>
          </p:nvSpPr>
          <p:spPr bwMode="auto">
            <a:xfrm>
              <a:off x="5472" y="1296"/>
              <a:ext cx="80" cy="80"/>
            </a:xfrm>
            <a:prstGeom prst="ellipse">
              <a:avLst/>
            </a:prstGeom>
            <a:solidFill>
              <a:schemeClr val="accent1"/>
            </a:solidFill>
            <a:ln w="9525">
              <a:noFill/>
              <a:round/>
              <a:headEnd/>
              <a:tailEnd/>
            </a:ln>
            <a:effectLst/>
          </p:spPr>
          <p:txBody>
            <a:bodyPr wrap="none" anchor="ctr"/>
            <a:lstStyle/>
            <a:p>
              <a:endParaRPr lang="en-US"/>
            </a:p>
          </p:txBody>
        </p:sp>
        <p:sp>
          <p:nvSpPr>
            <p:cNvPr id="66586" name="Oval 26"/>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endParaRPr lang="en-US"/>
            </a:p>
          </p:txBody>
        </p:sp>
        <p:sp>
          <p:nvSpPr>
            <p:cNvPr id="66587" name="Oval 27"/>
            <p:cNvSpPr>
              <a:spLocks noChangeArrowheads="1"/>
            </p:cNvSpPr>
            <p:nvPr/>
          </p:nvSpPr>
          <p:spPr bwMode="auto">
            <a:xfrm>
              <a:off x="5248" y="1408"/>
              <a:ext cx="80" cy="80"/>
            </a:xfrm>
            <a:prstGeom prst="ellipse">
              <a:avLst/>
            </a:prstGeom>
            <a:solidFill>
              <a:schemeClr val="accent2"/>
            </a:solidFill>
            <a:ln w="9525">
              <a:noFill/>
              <a:round/>
              <a:headEnd/>
              <a:tailEnd/>
            </a:ln>
            <a:effectLst/>
          </p:spPr>
          <p:txBody>
            <a:bodyPr wrap="none" anchor="ctr"/>
            <a:lstStyle/>
            <a:p>
              <a:endParaRPr lang="en-US"/>
            </a:p>
          </p:txBody>
        </p:sp>
        <p:sp>
          <p:nvSpPr>
            <p:cNvPr id="66588" name="Oval 28"/>
            <p:cNvSpPr>
              <a:spLocks noChangeArrowheads="1"/>
            </p:cNvSpPr>
            <p:nvPr/>
          </p:nvSpPr>
          <p:spPr bwMode="auto">
            <a:xfrm>
              <a:off x="5360" y="1408"/>
              <a:ext cx="80" cy="80"/>
            </a:xfrm>
            <a:prstGeom prst="ellipse">
              <a:avLst/>
            </a:prstGeom>
            <a:solidFill>
              <a:schemeClr val="accent1"/>
            </a:solidFill>
            <a:ln w="9525">
              <a:noFill/>
              <a:round/>
              <a:headEnd/>
              <a:tailEnd/>
            </a:ln>
            <a:effectLst/>
          </p:spPr>
          <p:txBody>
            <a:bodyPr wrap="none" anchor="ctr"/>
            <a:lstStyle/>
            <a:p>
              <a:endParaRPr lang="en-US"/>
            </a:p>
          </p:txBody>
        </p:sp>
        <p:sp>
          <p:nvSpPr>
            <p:cNvPr id="66589" name="Oval 29"/>
            <p:cNvSpPr>
              <a:spLocks noChangeArrowheads="1"/>
            </p:cNvSpPr>
            <p:nvPr/>
          </p:nvSpPr>
          <p:spPr bwMode="auto">
            <a:xfrm>
              <a:off x="5472" y="1408"/>
              <a:ext cx="80" cy="80"/>
            </a:xfrm>
            <a:prstGeom prst="ellipse">
              <a:avLst/>
            </a:prstGeom>
            <a:solidFill>
              <a:schemeClr val="accent1"/>
            </a:solidFill>
            <a:ln w="9525">
              <a:noFill/>
              <a:round/>
              <a:headEnd/>
              <a:tailEnd/>
            </a:ln>
            <a:effectLst/>
          </p:spPr>
          <p:txBody>
            <a:bodyPr wrap="none" anchor="ctr"/>
            <a:lstStyle/>
            <a:p>
              <a:endParaRPr lang="en-US"/>
            </a:p>
          </p:txBody>
        </p:sp>
        <p:sp>
          <p:nvSpPr>
            <p:cNvPr id="66590" name="Oval 30"/>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endParaRPr lang="en-US"/>
            </a:p>
          </p:txBody>
        </p:sp>
        <p:sp>
          <p:nvSpPr>
            <p:cNvPr id="66591" name="Oval 31"/>
            <p:cNvSpPr>
              <a:spLocks noChangeArrowheads="1"/>
            </p:cNvSpPr>
            <p:nvPr/>
          </p:nvSpPr>
          <p:spPr bwMode="auto">
            <a:xfrm>
              <a:off x="5136" y="1520"/>
              <a:ext cx="80" cy="80"/>
            </a:xfrm>
            <a:prstGeom prst="ellipse">
              <a:avLst/>
            </a:prstGeom>
            <a:solidFill>
              <a:schemeClr val="accent2"/>
            </a:solidFill>
            <a:ln w="9525">
              <a:noFill/>
              <a:round/>
              <a:headEnd/>
              <a:tailEnd/>
            </a:ln>
            <a:effectLst/>
          </p:spPr>
          <p:txBody>
            <a:bodyPr wrap="none" anchor="ctr"/>
            <a:lstStyle/>
            <a:p>
              <a:endParaRPr lang="en-US"/>
            </a:p>
          </p:txBody>
        </p:sp>
        <p:sp>
          <p:nvSpPr>
            <p:cNvPr id="66592" name="Oval 32"/>
            <p:cNvSpPr>
              <a:spLocks noChangeArrowheads="1"/>
            </p:cNvSpPr>
            <p:nvPr/>
          </p:nvSpPr>
          <p:spPr bwMode="auto">
            <a:xfrm>
              <a:off x="5248" y="1520"/>
              <a:ext cx="80" cy="80"/>
            </a:xfrm>
            <a:prstGeom prst="ellipse">
              <a:avLst/>
            </a:prstGeom>
            <a:solidFill>
              <a:schemeClr val="accent1"/>
            </a:solidFill>
            <a:ln w="9525">
              <a:noFill/>
              <a:round/>
              <a:headEnd/>
              <a:tailEnd/>
            </a:ln>
            <a:effectLst/>
          </p:spPr>
          <p:txBody>
            <a:bodyPr wrap="none" anchor="ctr"/>
            <a:lstStyle/>
            <a:p>
              <a:endParaRPr lang="en-US"/>
            </a:p>
          </p:txBody>
        </p:sp>
        <p:sp>
          <p:nvSpPr>
            <p:cNvPr id="66593" name="Oval 33"/>
            <p:cNvSpPr>
              <a:spLocks noChangeArrowheads="1"/>
            </p:cNvSpPr>
            <p:nvPr/>
          </p:nvSpPr>
          <p:spPr bwMode="auto">
            <a:xfrm>
              <a:off x="5360" y="1520"/>
              <a:ext cx="80" cy="80"/>
            </a:xfrm>
            <a:prstGeom prst="ellipse">
              <a:avLst/>
            </a:prstGeom>
            <a:solidFill>
              <a:schemeClr val="accent1"/>
            </a:solidFill>
            <a:ln w="9525">
              <a:noFill/>
              <a:round/>
              <a:headEnd/>
              <a:tailEnd/>
            </a:ln>
            <a:effectLst/>
          </p:spPr>
          <p:txBody>
            <a:bodyPr wrap="none" anchor="ctr"/>
            <a:lstStyle/>
            <a:p>
              <a:endParaRPr lang="en-US"/>
            </a:p>
          </p:txBody>
        </p:sp>
        <p:sp>
          <p:nvSpPr>
            <p:cNvPr id="66594" name="Oval 34"/>
            <p:cNvSpPr>
              <a:spLocks noChangeArrowheads="1"/>
            </p:cNvSpPr>
            <p:nvPr/>
          </p:nvSpPr>
          <p:spPr bwMode="auto">
            <a:xfrm>
              <a:off x="5472" y="1520"/>
              <a:ext cx="80" cy="80"/>
            </a:xfrm>
            <a:prstGeom prst="ellipse">
              <a:avLst/>
            </a:prstGeom>
            <a:solidFill>
              <a:schemeClr val="folHlink"/>
            </a:solidFill>
            <a:ln w="9525">
              <a:noFill/>
              <a:round/>
              <a:headEnd/>
              <a:tailEnd/>
            </a:ln>
            <a:effectLst/>
          </p:spPr>
          <p:txBody>
            <a:bodyPr wrap="none" anchor="ctr"/>
            <a:lstStyle/>
            <a:p>
              <a:endParaRPr lang="en-US"/>
            </a:p>
          </p:txBody>
        </p:sp>
        <p:sp>
          <p:nvSpPr>
            <p:cNvPr id="66595" name="Oval 35"/>
            <p:cNvSpPr>
              <a:spLocks noChangeArrowheads="1"/>
            </p:cNvSpPr>
            <p:nvPr/>
          </p:nvSpPr>
          <p:spPr bwMode="auto">
            <a:xfrm>
              <a:off x="5136" y="1632"/>
              <a:ext cx="80" cy="80"/>
            </a:xfrm>
            <a:prstGeom prst="ellipse">
              <a:avLst/>
            </a:prstGeom>
            <a:solidFill>
              <a:schemeClr val="accent1"/>
            </a:solidFill>
            <a:ln w="9525">
              <a:noFill/>
              <a:round/>
              <a:headEnd/>
              <a:tailEnd/>
            </a:ln>
            <a:effectLst/>
          </p:spPr>
          <p:txBody>
            <a:bodyPr wrap="none" anchor="ctr"/>
            <a:lstStyle/>
            <a:p>
              <a:endParaRPr lang="en-US"/>
            </a:p>
          </p:txBody>
        </p:sp>
        <p:sp>
          <p:nvSpPr>
            <p:cNvPr id="66596" name="Oval 36"/>
            <p:cNvSpPr>
              <a:spLocks noChangeArrowheads="1"/>
            </p:cNvSpPr>
            <p:nvPr/>
          </p:nvSpPr>
          <p:spPr bwMode="auto">
            <a:xfrm>
              <a:off x="5248" y="1632"/>
              <a:ext cx="80" cy="80"/>
            </a:xfrm>
            <a:prstGeom prst="ellipse">
              <a:avLst/>
            </a:prstGeom>
            <a:solidFill>
              <a:schemeClr val="accent1"/>
            </a:solidFill>
            <a:ln w="9525">
              <a:noFill/>
              <a:round/>
              <a:headEnd/>
              <a:tailEnd/>
            </a:ln>
            <a:effectLst/>
          </p:spPr>
          <p:txBody>
            <a:bodyPr wrap="none" anchor="ctr"/>
            <a:lstStyle/>
            <a:p>
              <a:endParaRPr lang="en-US"/>
            </a:p>
          </p:txBody>
        </p:sp>
        <p:sp>
          <p:nvSpPr>
            <p:cNvPr id="66597" name="Oval 37"/>
            <p:cNvSpPr>
              <a:spLocks noChangeArrowheads="1"/>
            </p:cNvSpPr>
            <p:nvPr/>
          </p:nvSpPr>
          <p:spPr bwMode="auto">
            <a:xfrm>
              <a:off x="5360" y="1632"/>
              <a:ext cx="80" cy="80"/>
            </a:xfrm>
            <a:prstGeom prst="ellipse">
              <a:avLst/>
            </a:prstGeom>
            <a:solidFill>
              <a:schemeClr val="folHlink"/>
            </a:solidFill>
            <a:ln w="9525">
              <a:noFill/>
              <a:round/>
              <a:headEnd/>
              <a:tailEnd/>
            </a:ln>
            <a:effectLst/>
          </p:spPr>
          <p:txBody>
            <a:bodyPr wrap="none" anchor="ctr"/>
            <a:lstStyle/>
            <a:p>
              <a:endParaRPr lang="en-US"/>
            </a:p>
          </p:txBody>
        </p:sp>
        <p:sp>
          <p:nvSpPr>
            <p:cNvPr id="66598" name="Oval 38"/>
            <p:cNvSpPr>
              <a:spLocks noChangeArrowheads="1"/>
            </p:cNvSpPr>
            <p:nvPr/>
          </p:nvSpPr>
          <p:spPr bwMode="auto">
            <a:xfrm>
              <a:off x="5472" y="1632"/>
              <a:ext cx="80" cy="80"/>
            </a:xfrm>
            <a:prstGeom prst="ellipse">
              <a:avLst/>
            </a:prstGeom>
            <a:solidFill>
              <a:schemeClr val="folHlink"/>
            </a:solidFill>
            <a:ln w="9525">
              <a:noFill/>
              <a:round/>
              <a:headEnd/>
              <a:tailEnd/>
            </a:ln>
            <a:effectLst/>
          </p:spPr>
          <p:txBody>
            <a:bodyPr wrap="none" anchor="ctr"/>
            <a:lstStyle/>
            <a:p>
              <a:endParaRPr lang="en-US"/>
            </a:p>
          </p:txBody>
        </p:sp>
        <p:sp>
          <p:nvSpPr>
            <p:cNvPr id="66599" name="Oval 39"/>
            <p:cNvSpPr>
              <a:spLocks noChangeArrowheads="1"/>
            </p:cNvSpPr>
            <p:nvPr/>
          </p:nvSpPr>
          <p:spPr bwMode="auto">
            <a:xfrm>
              <a:off x="5248" y="1744"/>
              <a:ext cx="80" cy="80"/>
            </a:xfrm>
            <a:prstGeom prst="ellipse">
              <a:avLst/>
            </a:prstGeom>
            <a:solidFill>
              <a:schemeClr val="folHlink"/>
            </a:solidFill>
            <a:ln w="9525">
              <a:noFill/>
              <a:round/>
              <a:headEnd/>
              <a:tailEnd/>
            </a:ln>
            <a:effectLst/>
          </p:spPr>
          <p:txBody>
            <a:bodyPr wrap="none" anchor="ctr"/>
            <a:lstStyle/>
            <a:p>
              <a:endParaRPr lang="en-US"/>
            </a:p>
          </p:txBody>
        </p:sp>
        <p:sp>
          <p:nvSpPr>
            <p:cNvPr id="66600" name="Oval 40"/>
            <p:cNvSpPr>
              <a:spLocks noChangeArrowheads="1"/>
            </p:cNvSpPr>
            <p:nvPr/>
          </p:nvSpPr>
          <p:spPr bwMode="auto">
            <a:xfrm>
              <a:off x="5472" y="1744"/>
              <a:ext cx="80" cy="80"/>
            </a:xfrm>
            <a:prstGeom prst="ellipse">
              <a:avLst/>
            </a:prstGeom>
            <a:solidFill>
              <a:schemeClr val="folHlink"/>
            </a:solidFill>
            <a:ln w="9525">
              <a:noFill/>
              <a:round/>
              <a:headEnd/>
              <a:tailEnd/>
            </a:ln>
            <a:effectLst/>
          </p:spPr>
          <p:txBody>
            <a:bodyPr wrap="none" anchor="ctr"/>
            <a:lstStyle/>
            <a:p>
              <a:endParaRPr lang="en-US"/>
            </a:p>
          </p:txBody>
        </p:sp>
      </p:grpSp>
      <p:grpSp>
        <p:nvGrpSpPr>
          <p:cNvPr id="66601" name="Group 41" descr="decorative graphic made up of dots"/>
          <p:cNvGrpSpPr>
            <a:grpSpLocks/>
          </p:cNvGrpSpPr>
          <p:nvPr userDrawn="1"/>
        </p:nvGrpSpPr>
        <p:grpSpPr bwMode="auto">
          <a:xfrm>
            <a:off x="7467600" y="1219200"/>
            <a:ext cx="792163"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endParaRPr lang="en-US"/>
            </a:p>
          </p:txBody>
        </p:sp>
        <p:sp>
          <p:nvSpPr>
            <p:cNvPr id="66603" name="Oval 43"/>
            <p:cNvSpPr>
              <a:spLocks noChangeArrowheads="1"/>
            </p:cNvSpPr>
            <p:nvPr/>
          </p:nvSpPr>
          <p:spPr bwMode="auto">
            <a:xfrm>
              <a:off x="5248" y="960"/>
              <a:ext cx="80" cy="80"/>
            </a:xfrm>
            <a:prstGeom prst="ellipse">
              <a:avLst/>
            </a:prstGeom>
            <a:solidFill>
              <a:schemeClr val="tx2"/>
            </a:solidFill>
            <a:ln w="9525">
              <a:noFill/>
              <a:round/>
              <a:headEnd/>
              <a:tailEnd/>
            </a:ln>
            <a:effectLst/>
          </p:spPr>
          <p:txBody>
            <a:bodyPr wrap="none" anchor="ctr"/>
            <a:lstStyle/>
            <a:p>
              <a:endParaRPr lang="en-US"/>
            </a:p>
          </p:txBody>
        </p:sp>
        <p:sp>
          <p:nvSpPr>
            <p:cNvPr id="66604" name="Oval 44"/>
            <p:cNvSpPr>
              <a:spLocks noChangeArrowheads="1"/>
            </p:cNvSpPr>
            <p:nvPr/>
          </p:nvSpPr>
          <p:spPr bwMode="auto">
            <a:xfrm>
              <a:off x="5360" y="960"/>
              <a:ext cx="80" cy="80"/>
            </a:xfrm>
            <a:prstGeom prst="ellipse">
              <a:avLst/>
            </a:prstGeom>
            <a:solidFill>
              <a:schemeClr val="tx2"/>
            </a:solidFill>
            <a:ln w="9525">
              <a:noFill/>
              <a:round/>
              <a:headEnd/>
              <a:tailEnd/>
            </a:ln>
            <a:effectLst/>
          </p:spPr>
          <p:txBody>
            <a:bodyPr wrap="none" anchor="ctr"/>
            <a:lstStyle/>
            <a:p>
              <a:endParaRPr lang="en-US"/>
            </a:p>
          </p:txBody>
        </p:sp>
        <p:sp>
          <p:nvSpPr>
            <p:cNvPr id="66605" name="Oval 45"/>
            <p:cNvSpPr>
              <a:spLocks noChangeArrowheads="1"/>
            </p:cNvSpPr>
            <p:nvPr/>
          </p:nvSpPr>
          <p:spPr bwMode="auto">
            <a:xfrm>
              <a:off x="5136" y="1072"/>
              <a:ext cx="80" cy="80"/>
            </a:xfrm>
            <a:prstGeom prst="ellipse">
              <a:avLst/>
            </a:prstGeom>
            <a:solidFill>
              <a:schemeClr val="tx2"/>
            </a:solidFill>
            <a:ln w="9525">
              <a:noFill/>
              <a:round/>
              <a:headEnd/>
              <a:tailEnd/>
            </a:ln>
            <a:effectLst/>
          </p:spPr>
          <p:txBody>
            <a:bodyPr wrap="none" anchor="ctr"/>
            <a:lstStyle/>
            <a:p>
              <a:endParaRPr lang="en-US"/>
            </a:p>
          </p:txBody>
        </p:sp>
        <p:sp>
          <p:nvSpPr>
            <p:cNvPr id="66606" name="Oval 46"/>
            <p:cNvSpPr>
              <a:spLocks noChangeArrowheads="1"/>
            </p:cNvSpPr>
            <p:nvPr/>
          </p:nvSpPr>
          <p:spPr bwMode="auto">
            <a:xfrm>
              <a:off x="5248" y="1072"/>
              <a:ext cx="80" cy="80"/>
            </a:xfrm>
            <a:prstGeom prst="ellipse">
              <a:avLst/>
            </a:prstGeom>
            <a:solidFill>
              <a:schemeClr val="tx2"/>
            </a:solidFill>
            <a:ln w="9525">
              <a:noFill/>
              <a:round/>
              <a:headEnd/>
              <a:tailEnd/>
            </a:ln>
            <a:effectLst/>
          </p:spPr>
          <p:txBody>
            <a:bodyPr wrap="none" anchor="ctr"/>
            <a:lstStyle/>
            <a:p>
              <a:endParaRPr lang="en-US"/>
            </a:p>
          </p:txBody>
        </p:sp>
        <p:sp>
          <p:nvSpPr>
            <p:cNvPr id="66607" name="Oval 47"/>
            <p:cNvSpPr>
              <a:spLocks noChangeArrowheads="1"/>
            </p:cNvSpPr>
            <p:nvPr/>
          </p:nvSpPr>
          <p:spPr bwMode="auto">
            <a:xfrm>
              <a:off x="5360" y="1072"/>
              <a:ext cx="80" cy="80"/>
            </a:xfrm>
            <a:prstGeom prst="ellipse">
              <a:avLst/>
            </a:prstGeom>
            <a:solidFill>
              <a:schemeClr val="tx2"/>
            </a:solidFill>
            <a:ln w="9525">
              <a:noFill/>
              <a:round/>
              <a:headEnd/>
              <a:tailEnd/>
            </a:ln>
            <a:effectLst/>
          </p:spPr>
          <p:txBody>
            <a:bodyPr wrap="none" anchor="ctr"/>
            <a:lstStyle/>
            <a:p>
              <a:endParaRPr lang="en-US"/>
            </a:p>
          </p:txBody>
        </p:sp>
        <p:sp>
          <p:nvSpPr>
            <p:cNvPr id="66608" name="Oval 48"/>
            <p:cNvSpPr>
              <a:spLocks noChangeArrowheads="1"/>
            </p:cNvSpPr>
            <p:nvPr/>
          </p:nvSpPr>
          <p:spPr bwMode="auto">
            <a:xfrm>
              <a:off x="5472" y="1072"/>
              <a:ext cx="80" cy="80"/>
            </a:xfrm>
            <a:prstGeom prst="ellipse">
              <a:avLst/>
            </a:prstGeom>
            <a:solidFill>
              <a:schemeClr val="accent2"/>
            </a:solidFill>
            <a:ln w="9525">
              <a:noFill/>
              <a:round/>
              <a:headEnd/>
              <a:tailEnd/>
            </a:ln>
            <a:effectLst/>
          </p:spPr>
          <p:txBody>
            <a:bodyPr wrap="none" anchor="ctr"/>
            <a:lstStyle/>
            <a:p>
              <a:endParaRPr lang="en-US"/>
            </a:p>
          </p:txBody>
        </p:sp>
        <p:sp>
          <p:nvSpPr>
            <p:cNvPr id="66609" name="Oval 49"/>
            <p:cNvSpPr>
              <a:spLocks noChangeArrowheads="1"/>
            </p:cNvSpPr>
            <p:nvPr/>
          </p:nvSpPr>
          <p:spPr bwMode="auto">
            <a:xfrm>
              <a:off x="5136" y="1184"/>
              <a:ext cx="80" cy="80"/>
            </a:xfrm>
            <a:prstGeom prst="ellipse">
              <a:avLst/>
            </a:prstGeom>
            <a:solidFill>
              <a:schemeClr val="tx2"/>
            </a:solidFill>
            <a:ln w="9525">
              <a:noFill/>
              <a:round/>
              <a:headEnd/>
              <a:tailEnd/>
            </a:ln>
            <a:effectLst/>
          </p:spPr>
          <p:txBody>
            <a:bodyPr wrap="none" anchor="ctr"/>
            <a:lstStyle/>
            <a:p>
              <a:endParaRPr lang="en-US"/>
            </a:p>
          </p:txBody>
        </p:sp>
        <p:sp>
          <p:nvSpPr>
            <p:cNvPr id="66610" name="Oval 50"/>
            <p:cNvSpPr>
              <a:spLocks noChangeArrowheads="1"/>
            </p:cNvSpPr>
            <p:nvPr/>
          </p:nvSpPr>
          <p:spPr bwMode="auto">
            <a:xfrm>
              <a:off x="5248" y="1184"/>
              <a:ext cx="80" cy="80"/>
            </a:xfrm>
            <a:prstGeom prst="ellipse">
              <a:avLst/>
            </a:prstGeom>
            <a:solidFill>
              <a:schemeClr val="tx2"/>
            </a:solidFill>
            <a:ln w="9525">
              <a:noFill/>
              <a:round/>
              <a:headEnd/>
              <a:tailEnd/>
            </a:ln>
            <a:effectLst/>
          </p:spPr>
          <p:txBody>
            <a:bodyPr wrap="none" anchor="ctr"/>
            <a:lstStyle/>
            <a:p>
              <a:endParaRPr lang="en-US"/>
            </a:p>
          </p:txBody>
        </p:sp>
        <p:sp>
          <p:nvSpPr>
            <p:cNvPr id="66611" name="Oval 51"/>
            <p:cNvSpPr>
              <a:spLocks noChangeArrowheads="1"/>
            </p:cNvSpPr>
            <p:nvPr/>
          </p:nvSpPr>
          <p:spPr bwMode="auto">
            <a:xfrm>
              <a:off x="5360" y="1184"/>
              <a:ext cx="80" cy="80"/>
            </a:xfrm>
            <a:prstGeom prst="ellipse">
              <a:avLst/>
            </a:prstGeom>
            <a:solidFill>
              <a:schemeClr val="accent2"/>
            </a:solidFill>
            <a:ln w="9525">
              <a:noFill/>
              <a:round/>
              <a:headEnd/>
              <a:tailEnd/>
            </a:ln>
            <a:effectLst/>
          </p:spPr>
          <p:txBody>
            <a:bodyPr wrap="none" anchor="ctr"/>
            <a:lstStyle/>
            <a:p>
              <a:endParaRPr lang="en-US"/>
            </a:p>
          </p:txBody>
        </p:sp>
        <p:sp>
          <p:nvSpPr>
            <p:cNvPr id="66612" name="Oval 52"/>
            <p:cNvSpPr>
              <a:spLocks noChangeArrowheads="1"/>
            </p:cNvSpPr>
            <p:nvPr/>
          </p:nvSpPr>
          <p:spPr bwMode="auto">
            <a:xfrm>
              <a:off x="5472" y="1184"/>
              <a:ext cx="80" cy="80"/>
            </a:xfrm>
            <a:prstGeom prst="ellipse">
              <a:avLst/>
            </a:prstGeom>
            <a:solidFill>
              <a:schemeClr val="accent2"/>
            </a:solidFill>
            <a:ln w="9525">
              <a:noFill/>
              <a:round/>
              <a:headEnd/>
              <a:tailEnd/>
            </a:ln>
            <a:effectLst/>
          </p:spPr>
          <p:txBody>
            <a:bodyPr wrap="none" anchor="ctr"/>
            <a:lstStyle/>
            <a:p>
              <a:endParaRPr lang="en-US"/>
            </a:p>
          </p:txBody>
        </p:sp>
        <p:sp>
          <p:nvSpPr>
            <p:cNvPr id="66613" name="Oval 53"/>
            <p:cNvSpPr>
              <a:spLocks noChangeArrowheads="1"/>
            </p:cNvSpPr>
            <p:nvPr/>
          </p:nvSpPr>
          <p:spPr bwMode="auto">
            <a:xfrm>
              <a:off x="5584" y="1184"/>
              <a:ext cx="80" cy="80"/>
            </a:xfrm>
            <a:prstGeom prst="ellipse">
              <a:avLst/>
            </a:prstGeom>
            <a:solidFill>
              <a:schemeClr val="accent1"/>
            </a:solidFill>
            <a:ln w="9525">
              <a:noFill/>
              <a:round/>
              <a:headEnd/>
              <a:tailEnd/>
            </a:ln>
            <a:effectLst/>
          </p:spPr>
          <p:txBody>
            <a:bodyPr wrap="none" anchor="ctr"/>
            <a:lstStyle/>
            <a:p>
              <a:endParaRPr lang="en-US"/>
            </a:p>
          </p:txBody>
        </p:sp>
        <p:sp>
          <p:nvSpPr>
            <p:cNvPr id="66614" name="Oval 54"/>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endParaRPr lang="en-US"/>
            </a:p>
          </p:txBody>
        </p:sp>
        <p:sp>
          <p:nvSpPr>
            <p:cNvPr id="66615" name="Oval 55"/>
            <p:cNvSpPr>
              <a:spLocks noChangeArrowheads="1"/>
            </p:cNvSpPr>
            <p:nvPr/>
          </p:nvSpPr>
          <p:spPr bwMode="auto">
            <a:xfrm>
              <a:off x="5248" y="1296"/>
              <a:ext cx="80" cy="80"/>
            </a:xfrm>
            <a:prstGeom prst="ellipse">
              <a:avLst/>
            </a:prstGeom>
            <a:solidFill>
              <a:schemeClr val="accent2"/>
            </a:solidFill>
            <a:ln w="9525">
              <a:noFill/>
              <a:round/>
              <a:headEnd/>
              <a:tailEnd/>
            </a:ln>
            <a:effectLst/>
          </p:spPr>
          <p:txBody>
            <a:bodyPr wrap="none" anchor="ctr"/>
            <a:lstStyle/>
            <a:p>
              <a:endParaRPr lang="en-US"/>
            </a:p>
          </p:txBody>
        </p:sp>
        <p:sp>
          <p:nvSpPr>
            <p:cNvPr id="66616" name="Oval 56"/>
            <p:cNvSpPr>
              <a:spLocks noChangeArrowheads="1"/>
            </p:cNvSpPr>
            <p:nvPr/>
          </p:nvSpPr>
          <p:spPr bwMode="auto">
            <a:xfrm>
              <a:off x="5360" y="1296"/>
              <a:ext cx="80" cy="80"/>
            </a:xfrm>
            <a:prstGeom prst="ellipse">
              <a:avLst/>
            </a:prstGeom>
            <a:solidFill>
              <a:schemeClr val="accent2"/>
            </a:solidFill>
            <a:ln w="9525">
              <a:noFill/>
              <a:round/>
              <a:headEnd/>
              <a:tailEnd/>
            </a:ln>
            <a:effectLst/>
          </p:spPr>
          <p:txBody>
            <a:bodyPr wrap="none" anchor="ctr"/>
            <a:lstStyle/>
            <a:p>
              <a:endParaRPr lang="en-US"/>
            </a:p>
          </p:txBody>
        </p:sp>
        <p:sp>
          <p:nvSpPr>
            <p:cNvPr id="66617" name="Oval 57"/>
            <p:cNvSpPr>
              <a:spLocks noChangeArrowheads="1"/>
            </p:cNvSpPr>
            <p:nvPr/>
          </p:nvSpPr>
          <p:spPr bwMode="auto">
            <a:xfrm>
              <a:off x="5472" y="1296"/>
              <a:ext cx="80" cy="80"/>
            </a:xfrm>
            <a:prstGeom prst="ellipse">
              <a:avLst/>
            </a:prstGeom>
            <a:solidFill>
              <a:schemeClr val="accent1"/>
            </a:solidFill>
            <a:ln w="9525">
              <a:noFill/>
              <a:round/>
              <a:headEnd/>
              <a:tailEnd/>
            </a:ln>
            <a:effectLst/>
          </p:spPr>
          <p:txBody>
            <a:bodyPr wrap="none" anchor="ctr"/>
            <a:lstStyle/>
            <a:p>
              <a:endParaRPr lang="en-US"/>
            </a:p>
          </p:txBody>
        </p:sp>
        <p:sp>
          <p:nvSpPr>
            <p:cNvPr id="66618" name="Oval 58"/>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endParaRPr lang="en-US"/>
            </a:p>
          </p:txBody>
        </p:sp>
        <p:sp>
          <p:nvSpPr>
            <p:cNvPr id="66619" name="Oval 59"/>
            <p:cNvSpPr>
              <a:spLocks noChangeArrowheads="1"/>
            </p:cNvSpPr>
            <p:nvPr/>
          </p:nvSpPr>
          <p:spPr bwMode="auto">
            <a:xfrm>
              <a:off x="5248" y="1408"/>
              <a:ext cx="80" cy="80"/>
            </a:xfrm>
            <a:prstGeom prst="ellipse">
              <a:avLst/>
            </a:prstGeom>
            <a:solidFill>
              <a:schemeClr val="accent2"/>
            </a:solidFill>
            <a:ln w="9525">
              <a:noFill/>
              <a:round/>
              <a:headEnd/>
              <a:tailEnd/>
            </a:ln>
            <a:effectLst/>
          </p:spPr>
          <p:txBody>
            <a:bodyPr wrap="none" anchor="ctr"/>
            <a:lstStyle/>
            <a:p>
              <a:endParaRPr lang="en-US"/>
            </a:p>
          </p:txBody>
        </p:sp>
        <p:sp>
          <p:nvSpPr>
            <p:cNvPr id="66620" name="Oval 60"/>
            <p:cNvSpPr>
              <a:spLocks noChangeArrowheads="1"/>
            </p:cNvSpPr>
            <p:nvPr/>
          </p:nvSpPr>
          <p:spPr bwMode="auto">
            <a:xfrm>
              <a:off x="5360" y="1408"/>
              <a:ext cx="80" cy="80"/>
            </a:xfrm>
            <a:prstGeom prst="ellipse">
              <a:avLst/>
            </a:prstGeom>
            <a:solidFill>
              <a:schemeClr val="accent1"/>
            </a:solidFill>
            <a:ln w="9525">
              <a:noFill/>
              <a:round/>
              <a:headEnd/>
              <a:tailEnd/>
            </a:ln>
            <a:effectLst/>
          </p:spPr>
          <p:txBody>
            <a:bodyPr wrap="none" anchor="ctr"/>
            <a:lstStyle/>
            <a:p>
              <a:endParaRPr lang="en-US"/>
            </a:p>
          </p:txBody>
        </p:sp>
        <p:sp>
          <p:nvSpPr>
            <p:cNvPr id="66621" name="Oval 61"/>
            <p:cNvSpPr>
              <a:spLocks noChangeArrowheads="1"/>
            </p:cNvSpPr>
            <p:nvPr/>
          </p:nvSpPr>
          <p:spPr bwMode="auto">
            <a:xfrm>
              <a:off x="5472" y="1408"/>
              <a:ext cx="80" cy="80"/>
            </a:xfrm>
            <a:prstGeom prst="ellipse">
              <a:avLst/>
            </a:prstGeom>
            <a:solidFill>
              <a:schemeClr val="accent1"/>
            </a:solidFill>
            <a:ln w="9525">
              <a:noFill/>
              <a:round/>
              <a:headEnd/>
              <a:tailEnd/>
            </a:ln>
            <a:effectLst/>
          </p:spPr>
          <p:txBody>
            <a:bodyPr wrap="none" anchor="ctr"/>
            <a:lstStyle/>
            <a:p>
              <a:endParaRPr lang="en-US"/>
            </a:p>
          </p:txBody>
        </p:sp>
        <p:sp>
          <p:nvSpPr>
            <p:cNvPr id="66622" name="Oval 62"/>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endParaRPr lang="en-US"/>
            </a:p>
          </p:txBody>
        </p:sp>
        <p:sp>
          <p:nvSpPr>
            <p:cNvPr id="66623" name="Oval 63"/>
            <p:cNvSpPr>
              <a:spLocks noChangeArrowheads="1"/>
            </p:cNvSpPr>
            <p:nvPr/>
          </p:nvSpPr>
          <p:spPr bwMode="auto">
            <a:xfrm>
              <a:off x="5136" y="1520"/>
              <a:ext cx="80" cy="80"/>
            </a:xfrm>
            <a:prstGeom prst="ellipse">
              <a:avLst/>
            </a:prstGeom>
            <a:solidFill>
              <a:schemeClr val="accent2"/>
            </a:solidFill>
            <a:ln w="9525">
              <a:noFill/>
              <a:round/>
              <a:headEnd/>
              <a:tailEnd/>
            </a:ln>
            <a:effectLst/>
          </p:spPr>
          <p:txBody>
            <a:bodyPr wrap="none" anchor="ctr"/>
            <a:lstStyle/>
            <a:p>
              <a:endParaRPr lang="en-US"/>
            </a:p>
          </p:txBody>
        </p:sp>
        <p:sp>
          <p:nvSpPr>
            <p:cNvPr id="66624" name="Oval 64"/>
            <p:cNvSpPr>
              <a:spLocks noChangeArrowheads="1"/>
            </p:cNvSpPr>
            <p:nvPr/>
          </p:nvSpPr>
          <p:spPr bwMode="auto">
            <a:xfrm>
              <a:off x="5248" y="1520"/>
              <a:ext cx="80" cy="80"/>
            </a:xfrm>
            <a:prstGeom prst="ellipse">
              <a:avLst/>
            </a:prstGeom>
            <a:solidFill>
              <a:schemeClr val="accent1"/>
            </a:solidFill>
            <a:ln w="9525">
              <a:noFill/>
              <a:round/>
              <a:headEnd/>
              <a:tailEnd/>
            </a:ln>
            <a:effectLst/>
          </p:spPr>
          <p:txBody>
            <a:bodyPr wrap="none" anchor="ctr"/>
            <a:lstStyle/>
            <a:p>
              <a:endParaRPr lang="en-US"/>
            </a:p>
          </p:txBody>
        </p:sp>
        <p:sp>
          <p:nvSpPr>
            <p:cNvPr id="66625" name="Oval 65"/>
            <p:cNvSpPr>
              <a:spLocks noChangeArrowheads="1"/>
            </p:cNvSpPr>
            <p:nvPr/>
          </p:nvSpPr>
          <p:spPr bwMode="auto">
            <a:xfrm>
              <a:off x="5360" y="1520"/>
              <a:ext cx="80" cy="80"/>
            </a:xfrm>
            <a:prstGeom prst="ellipse">
              <a:avLst/>
            </a:prstGeom>
            <a:solidFill>
              <a:schemeClr val="accent1"/>
            </a:solidFill>
            <a:ln w="9525">
              <a:noFill/>
              <a:round/>
              <a:headEnd/>
              <a:tailEnd/>
            </a:ln>
            <a:effectLst/>
          </p:spPr>
          <p:txBody>
            <a:bodyPr wrap="none" anchor="ctr"/>
            <a:lstStyle/>
            <a:p>
              <a:endParaRPr lang="en-US"/>
            </a:p>
          </p:txBody>
        </p:sp>
        <p:sp>
          <p:nvSpPr>
            <p:cNvPr id="66626" name="Oval 66"/>
            <p:cNvSpPr>
              <a:spLocks noChangeArrowheads="1"/>
            </p:cNvSpPr>
            <p:nvPr/>
          </p:nvSpPr>
          <p:spPr bwMode="auto">
            <a:xfrm>
              <a:off x="5472" y="1520"/>
              <a:ext cx="80" cy="80"/>
            </a:xfrm>
            <a:prstGeom prst="ellipse">
              <a:avLst/>
            </a:prstGeom>
            <a:solidFill>
              <a:schemeClr val="folHlink"/>
            </a:solidFill>
            <a:ln w="9525">
              <a:noFill/>
              <a:round/>
              <a:headEnd/>
              <a:tailEnd/>
            </a:ln>
            <a:effectLst/>
          </p:spPr>
          <p:txBody>
            <a:bodyPr wrap="none" anchor="ctr"/>
            <a:lstStyle/>
            <a:p>
              <a:endParaRPr lang="en-US"/>
            </a:p>
          </p:txBody>
        </p:sp>
        <p:sp>
          <p:nvSpPr>
            <p:cNvPr id="66627" name="Oval 67"/>
            <p:cNvSpPr>
              <a:spLocks noChangeArrowheads="1"/>
            </p:cNvSpPr>
            <p:nvPr/>
          </p:nvSpPr>
          <p:spPr bwMode="auto">
            <a:xfrm>
              <a:off x="5136" y="1632"/>
              <a:ext cx="80" cy="80"/>
            </a:xfrm>
            <a:prstGeom prst="ellipse">
              <a:avLst/>
            </a:prstGeom>
            <a:solidFill>
              <a:schemeClr val="accent1"/>
            </a:solidFill>
            <a:ln w="9525">
              <a:noFill/>
              <a:round/>
              <a:headEnd/>
              <a:tailEnd/>
            </a:ln>
            <a:effectLst/>
          </p:spPr>
          <p:txBody>
            <a:bodyPr wrap="none" anchor="ctr"/>
            <a:lstStyle/>
            <a:p>
              <a:endParaRPr lang="en-US"/>
            </a:p>
          </p:txBody>
        </p:sp>
        <p:sp>
          <p:nvSpPr>
            <p:cNvPr id="66628" name="Oval 68"/>
            <p:cNvSpPr>
              <a:spLocks noChangeArrowheads="1"/>
            </p:cNvSpPr>
            <p:nvPr/>
          </p:nvSpPr>
          <p:spPr bwMode="auto">
            <a:xfrm>
              <a:off x="5248" y="1632"/>
              <a:ext cx="80" cy="80"/>
            </a:xfrm>
            <a:prstGeom prst="ellipse">
              <a:avLst/>
            </a:prstGeom>
            <a:solidFill>
              <a:schemeClr val="accent1"/>
            </a:solidFill>
            <a:ln w="9525">
              <a:noFill/>
              <a:round/>
              <a:headEnd/>
              <a:tailEnd/>
            </a:ln>
            <a:effectLst/>
          </p:spPr>
          <p:txBody>
            <a:bodyPr wrap="none" anchor="ctr"/>
            <a:lstStyle/>
            <a:p>
              <a:endParaRPr lang="en-US"/>
            </a:p>
          </p:txBody>
        </p:sp>
        <p:sp>
          <p:nvSpPr>
            <p:cNvPr id="66629" name="Oval 69"/>
            <p:cNvSpPr>
              <a:spLocks noChangeArrowheads="1"/>
            </p:cNvSpPr>
            <p:nvPr/>
          </p:nvSpPr>
          <p:spPr bwMode="auto">
            <a:xfrm>
              <a:off x="5360" y="1632"/>
              <a:ext cx="80" cy="80"/>
            </a:xfrm>
            <a:prstGeom prst="ellipse">
              <a:avLst/>
            </a:prstGeom>
            <a:solidFill>
              <a:schemeClr val="folHlink"/>
            </a:solidFill>
            <a:ln w="9525">
              <a:noFill/>
              <a:round/>
              <a:headEnd/>
              <a:tailEnd/>
            </a:ln>
            <a:effectLst/>
          </p:spPr>
          <p:txBody>
            <a:bodyPr wrap="none" anchor="ctr"/>
            <a:lstStyle/>
            <a:p>
              <a:endParaRPr lang="en-US"/>
            </a:p>
          </p:txBody>
        </p:sp>
        <p:sp>
          <p:nvSpPr>
            <p:cNvPr id="66630" name="Oval 70"/>
            <p:cNvSpPr>
              <a:spLocks noChangeArrowheads="1"/>
            </p:cNvSpPr>
            <p:nvPr/>
          </p:nvSpPr>
          <p:spPr bwMode="auto">
            <a:xfrm>
              <a:off x="5472" y="1632"/>
              <a:ext cx="80" cy="80"/>
            </a:xfrm>
            <a:prstGeom prst="ellipse">
              <a:avLst/>
            </a:prstGeom>
            <a:solidFill>
              <a:schemeClr val="folHlink"/>
            </a:solidFill>
            <a:ln w="9525">
              <a:noFill/>
              <a:round/>
              <a:headEnd/>
              <a:tailEnd/>
            </a:ln>
            <a:effectLst/>
          </p:spPr>
          <p:txBody>
            <a:bodyPr wrap="none" anchor="ctr"/>
            <a:lstStyle/>
            <a:p>
              <a:endParaRPr lang="en-US"/>
            </a:p>
          </p:txBody>
        </p:sp>
        <p:sp>
          <p:nvSpPr>
            <p:cNvPr id="66631" name="Oval 71"/>
            <p:cNvSpPr>
              <a:spLocks noChangeArrowheads="1"/>
            </p:cNvSpPr>
            <p:nvPr/>
          </p:nvSpPr>
          <p:spPr bwMode="auto">
            <a:xfrm>
              <a:off x="5248" y="1744"/>
              <a:ext cx="80" cy="80"/>
            </a:xfrm>
            <a:prstGeom prst="ellipse">
              <a:avLst/>
            </a:prstGeom>
            <a:solidFill>
              <a:schemeClr val="folHlink"/>
            </a:solidFill>
            <a:ln w="9525">
              <a:noFill/>
              <a:round/>
              <a:headEnd/>
              <a:tailEnd/>
            </a:ln>
            <a:effectLst/>
          </p:spPr>
          <p:txBody>
            <a:bodyPr wrap="none" anchor="ctr"/>
            <a:lstStyle/>
            <a:p>
              <a:endParaRPr lang="en-US"/>
            </a:p>
          </p:txBody>
        </p:sp>
        <p:sp>
          <p:nvSpPr>
            <p:cNvPr id="66632" name="Oval 72"/>
            <p:cNvSpPr>
              <a:spLocks noChangeArrowheads="1"/>
            </p:cNvSpPr>
            <p:nvPr/>
          </p:nvSpPr>
          <p:spPr bwMode="auto">
            <a:xfrm>
              <a:off x="5472" y="1744"/>
              <a:ext cx="80" cy="80"/>
            </a:xfrm>
            <a:prstGeom prst="ellipse">
              <a:avLst/>
            </a:prstGeom>
            <a:solidFill>
              <a:schemeClr val="folHlink"/>
            </a:solidFill>
            <a:ln w="9525">
              <a:noFill/>
              <a:round/>
              <a:headEnd/>
              <a:tailEnd/>
            </a:ln>
            <a:effectLst/>
          </p:spPr>
          <p:txBody>
            <a:bodyPr wrap="none" anchor="ctr"/>
            <a:lstStyle/>
            <a:p>
              <a:endParaRPr lang="en-US"/>
            </a:p>
          </p:txBody>
        </p:sp>
      </p:gr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AC76ADB4-BCBD-4791-B2F5-E8A0F650F6EF}" type="slidenum">
              <a:rPr lang="en-US" altLang="en-US"/>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C5BED86D-2E11-4F23-B4DB-FF0B69387CE0}" type="slidenum">
              <a:rPr lang="en-US" altLang="en-US"/>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6A0E8E49-DDF8-4547-88E7-174C81C16A57}" type="slidenum">
              <a:rPr lang="en-US" altLang="en-US"/>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69523535-5D44-4AF1-ACAC-748F7EC0314D}" type="slidenum">
              <a:rPr lang="en-US" altLang="en-US"/>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8D41AF29-26AD-4A5D-A4AA-AB1253089DF3}" type="slidenum">
              <a:rPr lang="en-US" altLang="en-US"/>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39D05E67-5468-4E65-8B31-589B75530072}" type="slidenum">
              <a:rPr lang="en-US" altLang="en-US"/>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0B7B14C3-DCC9-4D6D-9A7A-107BECF9EECE}" type="slidenum">
              <a:rPr lang="en-US" altLang="en-US"/>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CBFF4E4C-EAB8-45E3-8719-AAA15E37773E}" type="slidenum">
              <a:rPr lang="en-US" altLang="en-US"/>
              <a:pPr/>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5DBC71DA-CA80-4073-B746-000A9262D1C2}" type="slidenum">
              <a:rPr lang="en-US" altLang="en-US"/>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975D2005-990B-42B0-988F-B0035F15B16B}" type="slidenum">
              <a:rPr lang="en-US" altLang="en-US"/>
              <a:pPr/>
              <a:t>‹#›</a:t>
            </a:fld>
            <a:endParaRPr lang="en-US"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8400"/>
            <a:ext cx="21336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ltLang="en-US"/>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fld id="{7D73DB68-8E5E-4FF5-A57E-DCE43A256799}"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folHlink"/>
        </a:solidFill>
        <a:effectLst/>
      </p:bgPr>
    </p:bg>
    <p:spTree>
      <p:nvGrpSpPr>
        <p:cNvPr id="1" name=""/>
        <p:cNvGrpSpPr/>
        <p:nvPr/>
      </p:nvGrpSpPr>
      <p:grpSpPr>
        <a:xfrm>
          <a:off x="0" y="0"/>
          <a:ext cx="0" cy="0"/>
          <a:chOff x="0" y="0"/>
          <a:chExt cx="0" cy="0"/>
        </a:xfrm>
      </p:grpSpPr>
      <p:sp>
        <p:nvSpPr>
          <p:cNvPr id="65538" name="Line 2"/>
          <p:cNvSpPr>
            <a:spLocks noChangeShapeType="1"/>
          </p:cNvSpPr>
          <p:nvPr/>
        </p:nvSpPr>
        <p:spPr bwMode="auto">
          <a:xfrm>
            <a:off x="8001000" y="0"/>
            <a:ext cx="0" cy="1524000"/>
          </a:xfrm>
          <a:prstGeom prst="line">
            <a:avLst/>
          </a:prstGeom>
          <a:noFill/>
          <a:ln w="9525">
            <a:solidFill>
              <a:schemeClr val="accent2"/>
            </a:solidFill>
            <a:round/>
            <a:headEnd/>
            <a:tailEnd/>
          </a:ln>
          <a:effectLst/>
        </p:spPr>
        <p:txBody>
          <a:bodyPr/>
          <a:lstStyle/>
          <a:p>
            <a:endParaRPr lang="en-US"/>
          </a:p>
        </p:txBody>
      </p:sp>
      <p:sp>
        <p:nvSpPr>
          <p:cNvPr id="65539"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65540"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5541"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vl1pPr>
          </a:lstStyle>
          <a:p>
            <a:endParaRPr lang="en-US" altLang="en-US"/>
          </a:p>
        </p:txBody>
      </p:sp>
      <p:sp>
        <p:nvSpPr>
          <p:cNvPr id="65542"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ltLang="en-US"/>
          </a:p>
        </p:txBody>
      </p:sp>
      <p:sp>
        <p:nvSpPr>
          <p:cNvPr id="65543"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30FDA1E9-8194-4A8E-92AD-974E7565032D}" type="slidenum">
              <a:rPr lang="en-US" altLang="en-US"/>
              <a:pPr/>
              <a:t>‹#›</a:t>
            </a:fld>
            <a:endParaRPr lang="en-US" altLang="en-US"/>
          </a:p>
        </p:txBody>
      </p:sp>
      <p:grpSp>
        <p:nvGrpSpPr>
          <p:cNvPr id="65544" name="Group 8" descr="decorative graphic made up of dots"/>
          <p:cNvGrpSpPr>
            <a:grpSpLocks/>
          </p:cNvGrpSpPr>
          <p:nvPr/>
        </p:nvGrpSpPr>
        <p:grpSpPr bwMode="auto">
          <a:xfrm>
            <a:off x="8153400" y="152400"/>
            <a:ext cx="792163"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w="9525">
              <a:noFill/>
              <a:round/>
              <a:headEnd/>
              <a:tailEnd/>
            </a:ln>
            <a:effectLst/>
          </p:spPr>
          <p:txBody>
            <a:bodyPr wrap="none" anchor="ctr"/>
            <a:lstStyle/>
            <a:p>
              <a:endParaRPr lang="en-US"/>
            </a:p>
          </p:txBody>
        </p:sp>
        <p:sp>
          <p:nvSpPr>
            <p:cNvPr id="65546" name="Oval 10"/>
            <p:cNvSpPr>
              <a:spLocks noChangeArrowheads="1"/>
            </p:cNvSpPr>
            <p:nvPr/>
          </p:nvSpPr>
          <p:spPr bwMode="auto">
            <a:xfrm>
              <a:off x="5248" y="960"/>
              <a:ext cx="80" cy="80"/>
            </a:xfrm>
            <a:prstGeom prst="ellipse">
              <a:avLst/>
            </a:prstGeom>
            <a:solidFill>
              <a:schemeClr val="tx2"/>
            </a:solidFill>
            <a:ln w="9525">
              <a:noFill/>
              <a:round/>
              <a:headEnd/>
              <a:tailEnd/>
            </a:ln>
            <a:effectLst/>
          </p:spPr>
          <p:txBody>
            <a:bodyPr wrap="none" anchor="ctr"/>
            <a:lstStyle/>
            <a:p>
              <a:endParaRPr lang="en-US"/>
            </a:p>
          </p:txBody>
        </p:sp>
        <p:sp>
          <p:nvSpPr>
            <p:cNvPr id="65547" name="Oval 11"/>
            <p:cNvSpPr>
              <a:spLocks noChangeArrowheads="1"/>
            </p:cNvSpPr>
            <p:nvPr/>
          </p:nvSpPr>
          <p:spPr bwMode="auto">
            <a:xfrm>
              <a:off x="5360" y="960"/>
              <a:ext cx="80" cy="80"/>
            </a:xfrm>
            <a:prstGeom prst="ellipse">
              <a:avLst/>
            </a:prstGeom>
            <a:solidFill>
              <a:schemeClr val="tx2"/>
            </a:solidFill>
            <a:ln w="9525">
              <a:noFill/>
              <a:round/>
              <a:headEnd/>
              <a:tailEnd/>
            </a:ln>
            <a:effectLst/>
          </p:spPr>
          <p:txBody>
            <a:bodyPr wrap="none" anchor="ctr"/>
            <a:lstStyle/>
            <a:p>
              <a:endParaRPr lang="en-US"/>
            </a:p>
          </p:txBody>
        </p:sp>
        <p:sp>
          <p:nvSpPr>
            <p:cNvPr id="65548" name="Oval 12"/>
            <p:cNvSpPr>
              <a:spLocks noChangeArrowheads="1"/>
            </p:cNvSpPr>
            <p:nvPr/>
          </p:nvSpPr>
          <p:spPr bwMode="auto">
            <a:xfrm>
              <a:off x="5136" y="1072"/>
              <a:ext cx="80" cy="80"/>
            </a:xfrm>
            <a:prstGeom prst="ellipse">
              <a:avLst/>
            </a:prstGeom>
            <a:solidFill>
              <a:schemeClr val="tx2"/>
            </a:solidFill>
            <a:ln w="9525">
              <a:noFill/>
              <a:round/>
              <a:headEnd/>
              <a:tailEnd/>
            </a:ln>
            <a:effectLst/>
          </p:spPr>
          <p:txBody>
            <a:bodyPr wrap="none" anchor="ctr"/>
            <a:lstStyle/>
            <a:p>
              <a:endParaRPr lang="en-US"/>
            </a:p>
          </p:txBody>
        </p:sp>
        <p:sp>
          <p:nvSpPr>
            <p:cNvPr id="65549" name="Oval 13"/>
            <p:cNvSpPr>
              <a:spLocks noChangeArrowheads="1"/>
            </p:cNvSpPr>
            <p:nvPr/>
          </p:nvSpPr>
          <p:spPr bwMode="auto">
            <a:xfrm>
              <a:off x="5248" y="1072"/>
              <a:ext cx="80" cy="80"/>
            </a:xfrm>
            <a:prstGeom prst="ellipse">
              <a:avLst/>
            </a:prstGeom>
            <a:solidFill>
              <a:schemeClr val="tx2"/>
            </a:solidFill>
            <a:ln w="9525">
              <a:noFill/>
              <a:round/>
              <a:headEnd/>
              <a:tailEnd/>
            </a:ln>
            <a:effectLst/>
          </p:spPr>
          <p:txBody>
            <a:bodyPr wrap="none" anchor="ctr"/>
            <a:lstStyle/>
            <a:p>
              <a:endParaRPr lang="en-US"/>
            </a:p>
          </p:txBody>
        </p:sp>
        <p:sp>
          <p:nvSpPr>
            <p:cNvPr id="65550" name="Oval 14"/>
            <p:cNvSpPr>
              <a:spLocks noChangeArrowheads="1"/>
            </p:cNvSpPr>
            <p:nvPr/>
          </p:nvSpPr>
          <p:spPr bwMode="auto">
            <a:xfrm>
              <a:off x="5360" y="1072"/>
              <a:ext cx="80" cy="80"/>
            </a:xfrm>
            <a:prstGeom prst="ellipse">
              <a:avLst/>
            </a:prstGeom>
            <a:solidFill>
              <a:schemeClr val="tx2"/>
            </a:solidFill>
            <a:ln w="9525">
              <a:noFill/>
              <a:round/>
              <a:headEnd/>
              <a:tailEnd/>
            </a:ln>
            <a:effectLst/>
          </p:spPr>
          <p:txBody>
            <a:bodyPr wrap="none" anchor="ctr"/>
            <a:lstStyle/>
            <a:p>
              <a:endParaRPr lang="en-US"/>
            </a:p>
          </p:txBody>
        </p:sp>
        <p:sp>
          <p:nvSpPr>
            <p:cNvPr id="65551" name="Oval 15"/>
            <p:cNvSpPr>
              <a:spLocks noChangeArrowheads="1"/>
            </p:cNvSpPr>
            <p:nvPr/>
          </p:nvSpPr>
          <p:spPr bwMode="auto">
            <a:xfrm>
              <a:off x="5472" y="1072"/>
              <a:ext cx="80" cy="80"/>
            </a:xfrm>
            <a:prstGeom prst="ellipse">
              <a:avLst/>
            </a:prstGeom>
            <a:solidFill>
              <a:schemeClr val="accent2"/>
            </a:solidFill>
            <a:ln w="9525">
              <a:noFill/>
              <a:round/>
              <a:headEnd/>
              <a:tailEnd/>
            </a:ln>
            <a:effectLst/>
          </p:spPr>
          <p:txBody>
            <a:bodyPr wrap="none" anchor="ctr"/>
            <a:lstStyle/>
            <a:p>
              <a:endParaRPr lang="en-US"/>
            </a:p>
          </p:txBody>
        </p:sp>
        <p:sp>
          <p:nvSpPr>
            <p:cNvPr id="65552" name="Oval 16"/>
            <p:cNvSpPr>
              <a:spLocks noChangeArrowheads="1"/>
            </p:cNvSpPr>
            <p:nvPr/>
          </p:nvSpPr>
          <p:spPr bwMode="auto">
            <a:xfrm>
              <a:off x="5136" y="1184"/>
              <a:ext cx="80" cy="80"/>
            </a:xfrm>
            <a:prstGeom prst="ellipse">
              <a:avLst/>
            </a:prstGeom>
            <a:solidFill>
              <a:schemeClr val="tx2"/>
            </a:solidFill>
            <a:ln w="9525">
              <a:noFill/>
              <a:round/>
              <a:headEnd/>
              <a:tailEnd/>
            </a:ln>
            <a:effectLst/>
          </p:spPr>
          <p:txBody>
            <a:bodyPr wrap="none" anchor="ctr"/>
            <a:lstStyle/>
            <a:p>
              <a:endParaRPr lang="en-US"/>
            </a:p>
          </p:txBody>
        </p:sp>
        <p:sp>
          <p:nvSpPr>
            <p:cNvPr id="65553" name="Oval 17"/>
            <p:cNvSpPr>
              <a:spLocks noChangeArrowheads="1"/>
            </p:cNvSpPr>
            <p:nvPr/>
          </p:nvSpPr>
          <p:spPr bwMode="auto">
            <a:xfrm>
              <a:off x="5248" y="1184"/>
              <a:ext cx="80" cy="80"/>
            </a:xfrm>
            <a:prstGeom prst="ellipse">
              <a:avLst/>
            </a:prstGeom>
            <a:solidFill>
              <a:schemeClr val="tx2"/>
            </a:solidFill>
            <a:ln w="9525">
              <a:noFill/>
              <a:round/>
              <a:headEnd/>
              <a:tailEnd/>
            </a:ln>
            <a:effectLst/>
          </p:spPr>
          <p:txBody>
            <a:bodyPr wrap="none" anchor="ctr"/>
            <a:lstStyle/>
            <a:p>
              <a:endParaRPr lang="en-US"/>
            </a:p>
          </p:txBody>
        </p:sp>
        <p:sp>
          <p:nvSpPr>
            <p:cNvPr id="65554" name="Oval 18"/>
            <p:cNvSpPr>
              <a:spLocks noChangeArrowheads="1"/>
            </p:cNvSpPr>
            <p:nvPr/>
          </p:nvSpPr>
          <p:spPr bwMode="auto">
            <a:xfrm>
              <a:off x="5360" y="1184"/>
              <a:ext cx="80" cy="80"/>
            </a:xfrm>
            <a:prstGeom prst="ellipse">
              <a:avLst/>
            </a:prstGeom>
            <a:solidFill>
              <a:schemeClr val="accent2"/>
            </a:solidFill>
            <a:ln w="9525">
              <a:noFill/>
              <a:round/>
              <a:headEnd/>
              <a:tailEnd/>
            </a:ln>
            <a:effectLst/>
          </p:spPr>
          <p:txBody>
            <a:bodyPr wrap="none" anchor="ctr"/>
            <a:lstStyle/>
            <a:p>
              <a:endParaRPr lang="en-US"/>
            </a:p>
          </p:txBody>
        </p:sp>
        <p:sp>
          <p:nvSpPr>
            <p:cNvPr id="65555" name="Oval 19"/>
            <p:cNvSpPr>
              <a:spLocks noChangeArrowheads="1"/>
            </p:cNvSpPr>
            <p:nvPr/>
          </p:nvSpPr>
          <p:spPr bwMode="auto">
            <a:xfrm>
              <a:off x="5472" y="1184"/>
              <a:ext cx="80" cy="80"/>
            </a:xfrm>
            <a:prstGeom prst="ellipse">
              <a:avLst/>
            </a:prstGeom>
            <a:solidFill>
              <a:schemeClr val="accent2"/>
            </a:solidFill>
            <a:ln w="9525">
              <a:noFill/>
              <a:round/>
              <a:headEnd/>
              <a:tailEnd/>
            </a:ln>
            <a:effectLst/>
          </p:spPr>
          <p:txBody>
            <a:bodyPr wrap="none" anchor="ctr"/>
            <a:lstStyle/>
            <a:p>
              <a:endParaRPr lang="en-US"/>
            </a:p>
          </p:txBody>
        </p:sp>
        <p:sp>
          <p:nvSpPr>
            <p:cNvPr id="65556" name="Oval 20"/>
            <p:cNvSpPr>
              <a:spLocks noChangeArrowheads="1"/>
            </p:cNvSpPr>
            <p:nvPr/>
          </p:nvSpPr>
          <p:spPr bwMode="auto">
            <a:xfrm>
              <a:off x="5584" y="1184"/>
              <a:ext cx="80" cy="80"/>
            </a:xfrm>
            <a:prstGeom prst="ellipse">
              <a:avLst/>
            </a:prstGeom>
            <a:solidFill>
              <a:schemeClr val="accent1"/>
            </a:solidFill>
            <a:ln w="9525">
              <a:noFill/>
              <a:round/>
              <a:headEnd/>
              <a:tailEnd/>
            </a:ln>
            <a:effectLst/>
          </p:spPr>
          <p:txBody>
            <a:bodyPr wrap="none" anchor="ctr"/>
            <a:lstStyle/>
            <a:p>
              <a:endParaRPr lang="en-US"/>
            </a:p>
          </p:txBody>
        </p:sp>
        <p:sp>
          <p:nvSpPr>
            <p:cNvPr id="65557" name="Oval 21"/>
            <p:cNvSpPr>
              <a:spLocks noChangeArrowheads="1"/>
            </p:cNvSpPr>
            <p:nvPr/>
          </p:nvSpPr>
          <p:spPr bwMode="auto">
            <a:xfrm>
              <a:off x="5136" y="1296"/>
              <a:ext cx="80" cy="80"/>
            </a:xfrm>
            <a:prstGeom prst="ellipse">
              <a:avLst/>
            </a:prstGeom>
            <a:solidFill>
              <a:schemeClr val="tx2"/>
            </a:solidFill>
            <a:ln w="9525">
              <a:noFill/>
              <a:round/>
              <a:headEnd/>
              <a:tailEnd/>
            </a:ln>
            <a:effectLst/>
          </p:spPr>
          <p:txBody>
            <a:bodyPr wrap="none" anchor="ctr"/>
            <a:lstStyle/>
            <a:p>
              <a:endParaRPr lang="en-US"/>
            </a:p>
          </p:txBody>
        </p:sp>
        <p:sp>
          <p:nvSpPr>
            <p:cNvPr id="65558" name="Oval 22"/>
            <p:cNvSpPr>
              <a:spLocks noChangeArrowheads="1"/>
            </p:cNvSpPr>
            <p:nvPr/>
          </p:nvSpPr>
          <p:spPr bwMode="auto">
            <a:xfrm>
              <a:off x="5248" y="1296"/>
              <a:ext cx="80" cy="80"/>
            </a:xfrm>
            <a:prstGeom prst="ellipse">
              <a:avLst/>
            </a:prstGeom>
            <a:solidFill>
              <a:schemeClr val="accent2"/>
            </a:solidFill>
            <a:ln w="9525">
              <a:noFill/>
              <a:round/>
              <a:headEnd/>
              <a:tailEnd/>
            </a:ln>
            <a:effectLst/>
          </p:spPr>
          <p:txBody>
            <a:bodyPr wrap="none" anchor="ctr"/>
            <a:lstStyle/>
            <a:p>
              <a:endParaRPr lang="en-US"/>
            </a:p>
          </p:txBody>
        </p:sp>
        <p:sp>
          <p:nvSpPr>
            <p:cNvPr id="65559" name="Oval 23"/>
            <p:cNvSpPr>
              <a:spLocks noChangeArrowheads="1"/>
            </p:cNvSpPr>
            <p:nvPr/>
          </p:nvSpPr>
          <p:spPr bwMode="auto">
            <a:xfrm>
              <a:off x="5360" y="1296"/>
              <a:ext cx="80" cy="80"/>
            </a:xfrm>
            <a:prstGeom prst="ellipse">
              <a:avLst/>
            </a:prstGeom>
            <a:solidFill>
              <a:schemeClr val="accent2"/>
            </a:solidFill>
            <a:ln w="9525">
              <a:noFill/>
              <a:round/>
              <a:headEnd/>
              <a:tailEnd/>
            </a:ln>
            <a:effectLst/>
          </p:spPr>
          <p:txBody>
            <a:bodyPr wrap="none" anchor="ctr"/>
            <a:lstStyle/>
            <a:p>
              <a:endParaRPr lang="en-US"/>
            </a:p>
          </p:txBody>
        </p:sp>
        <p:sp>
          <p:nvSpPr>
            <p:cNvPr id="65560" name="Oval 24"/>
            <p:cNvSpPr>
              <a:spLocks noChangeArrowheads="1"/>
            </p:cNvSpPr>
            <p:nvPr/>
          </p:nvSpPr>
          <p:spPr bwMode="auto">
            <a:xfrm>
              <a:off x="5472" y="1296"/>
              <a:ext cx="80" cy="80"/>
            </a:xfrm>
            <a:prstGeom prst="ellipse">
              <a:avLst/>
            </a:prstGeom>
            <a:solidFill>
              <a:schemeClr val="accent1"/>
            </a:solidFill>
            <a:ln w="9525">
              <a:noFill/>
              <a:round/>
              <a:headEnd/>
              <a:tailEnd/>
            </a:ln>
            <a:effectLst/>
          </p:spPr>
          <p:txBody>
            <a:bodyPr wrap="none" anchor="ctr"/>
            <a:lstStyle/>
            <a:p>
              <a:endParaRPr lang="en-US"/>
            </a:p>
          </p:txBody>
        </p:sp>
        <p:sp>
          <p:nvSpPr>
            <p:cNvPr id="65561" name="Oval 25"/>
            <p:cNvSpPr>
              <a:spLocks noChangeArrowheads="1"/>
            </p:cNvSpPr>
            <p:nvPr/>
          </p:nvSpPr>
          <p:spPr bwMode="auto">
            <a:xfrm>
              <a:off x="5136" y="1408"/>
              <a:ext cx="80" cy="80"/>
            </a:xfrm>
            <a:prstGeom prst="ellipse">
              <a:avLst/>
            </a:prstGeom>
            <a:solidFill>
              <a:schemeClr val="accent2"/>
            </a:solidFill>
            <a:ln w="9525">
              <a:noFill/>
              <a:round/>
              <a:headEnd/>
              <a:tailEnd/>
            </a:ln>
            <a:effectLst/>
          </p:spPr>
          <p:txBody>
            <a:bodyPr wrap="none" anchor="ctr"/>
            <a:lstStyle/>
            <a:p>
              <a:endParaRPr lang="en-US"/>
            </a:p>
          </p:txBody>
        </p:sp>
        <p:sp>
          <p:nvSpPr>
            <p:cNvPr id="65562" name="Oval 26"/>
            <p:cNvSpPr>
              <a:spLocks noChangeArrowheads="1"/>
            </p:cNvSpPr>
            <p:nvPr/>
          </p:nvSpPr>
          <p:spPr bwMode="auto">
            <a:xfrm>
              <a:off x="5248" y="1408"/>
              <a:ext cx="80" cy="80"/>
            </a:xfrm>
            <a:prstGeom prst="ellipse">
              <a:avLst/>
            </a:prstGeom>
            <a:solidFill>
              <a:schemeClr val="accent2"/>
            </a:solidFill>
            <a:ln w="9525">
              <a:noFill/>
              <a:round/>
              <a:headEnd/>
              <a:tailEnd/>
            </a:ln>
            <a:effectLst/>
          </p:spPr>
          <p:txBody>
            <a:bodyPr wrap="none" anchor="ctr"/>
            <a:lstStyle/>
            <a:p>
              <a:endParaRPr lang="en-US"/>
            </a:p>
          </p:txBody>
        </p:sp>
        <p:sp>
          <p:nvSpPr>
            <p:cNvPr id="65563" name="Oval 27"/>
            <p:cNvSpPr>
              <a:spLocks noChangeArrowheads="1"/>
            </p:cNvSpPr>
            <p:nvPr/>
          </p:nvSpPr>
          <p:spPr bwMode="auto">
            <a:xfrm>
              <a:off x="5360" y="1408"/>
              <a:ext cx="80" cy="80"/>
            </a:xfrm>
            <a:prstGeom prst="ellipse">
              <a:avLst/>
            </a:prstGeom>
            <a:solidFill>
              <a:schemeClr val="accent1"/>
            </a:solidFill>
            <a:ln w="9525">
              <a:noFill/>
              <a:round/>
              <a:headEnd/>
              <a:tailEnd/>
            </a:ln>
            <a:effectLst/>
          </p:spPr>
          <p:txBody>
            <a:bodyPr wrap="none" anchor="ctr"/>
            <a:lstStyle/>
            <a:p>
              <a:endParaRPr lang="en-US"/>
            </a:p>
          </p:txBody>
        </p:sp>
        <p:sp>
          <p:nvSpPr>
            <p:cNvPr id="65564" name="Oval 28"/>
            <p:cNvSpPr>
              <a:spLocks noChangeArrowheads="1"/>
            </p:cNvSpPr>
            <p:nvPr/>
          </p:nvSpPr>
          <p:spPr bwMode="auto">
            <a:xfrm>
              <a:off x="5472" y="1408"/>
              <a:ext cx="80" cy="80"/>
            </a:xfrm>
            <a:prstGeom prst="ellipse">
              <a:avLst/>
            </a:prstGeom>
            <a:solidFill>
              <a:schemeClr val="accent1"/>
            </a:solidFill>
            <a:ln w="9525">
              <a:noFill/>
              <a:round/>
              <a:headEnd/>
              <a:tailEnd/>
            </a:ln>
            <a:effectLst/>
          </p:spPr>
          <p:txBody>
            <a:bodyPr wrap="none" anchor="ctr"/>
            <a:lstStyle/>
            <a:p>
              <a:endParaRPr lang="en-US"/>
            </a:p>
          </p:txBody>
        </p:sp>
        <p:sp>
          <p:nvSpPr>
            <p:cNvPr id="65565" name="Oval 29"/>
            <p:cNvSpPr>
              <a:spLocks noChangeArrowheads="1"/>
            </p:cNvSpPr>
            <p:nvPr/>
          </p:nvSpPr>
          <p:spPr bwMode="auto">
            <a:xfrm>
              <a:off x="5584" y="1408"/>
              <a:ext cx="80" cy="80"/>
            </a:xfrm>
            <a:prstGeom prst="ellipse">
              <a:avLst/>
            </a:prstGeom>
            <a:solidFill>
              <a:schemeClr val="folHlink"/>
            </a:solidFill>
            <a:ln w="9525">
              <a:noFill/>
              <a:round/>
              <a:headEnd/>
              <a:tailEnd/>
            </a:ln>
            <a:effectLst/>
          </p:spPr>
          <p:txBody>
            <a:bodyPr wrap="none" anchor="ctr"/>
            <a:lstStyle/>
            <a:p>
              <a:endParaRPr lang="en-US"/>
            </a:p>
          </p:txBody>
        </p:sp>
        <p:sp>
          <p:nvSpPr>
            <p:cNvPr id="65566" name="Oval 30"/>
            <p:cNvSpPr>
              <a:spLocks noChangeArrowheads="1"/>
            </p:cNvSpPr>
            <p:nvPr/>
          </p:nvSpPr>
          <p:spPr bwMode="auto">
            <a:xfrm>
              <a:off x="5136" y="1520"/>
              <a:ext cx="80" cy="80"/>
            </a:xfrm>
            <a:prstGeom prst="ellipse">
              <a:avLst/>
            </a:prstGeom>
            <a:solidFill>
              <a:schemeClr val="accent2"/>
            </a:solidFill>
            <a:ln w="9525">
              <a:noFill/>
              <a:round/>
              <a:headEnd/>
              <a:tailEnd/>
            </a:ln>
            <a:effectLst/>
          </p:spPr>
          <p:txBody>
            <a:bodyPr wrap="none" anchor="ctr"/>
            <a:lstStyle/>
            <a:p>
              <a:endParaRPr lang="en-US"/>
            </a:p>
          </p:txBody>
        </p:sp>
        <p:sp>
          <p:nvSpPr>
            <p:cNvPr id="65567" name="Oval 31"/>
            <p:cNvSpPr>
              <a:spLocks noChangeArrowheads="1"/>
            </p:cNvSpPr>
            <p:nvPr/>
          </p:nvSpPr>
          <p:spPr bwMode="auto">
            <a:xfrm>
              <a:off x="5248" y="1520"/>
              <a:ext cx="80" cy="80"/>
            </a:xfrm>
            <a:prstGeom prst="ellipse">
              <a:avLst/>
            </a:prstGeom>
            <a:solidFill>
              <a:schemeClr val="accent1"/>
            </a:solidFill>
            <a:ln w="9525">
              <a:noFill/>
              <a:round/>
              <a:headEnd/>
              <a:tailEnd/>
            </a:ln>
            <a:effectLst/>
          </p:spPr>
          <p:txBody>
            <a:bodyPr wrap="none" anchor="ctr"/>
            <a:lstStyle/>
            <a:p>
              <a:endParaRPr lang="en-US"/>
            </a:p>
          </p:txBody>
        </p:sp>
        <p:sp>
          <p:nvSpPr>
            <p:cNvPr id="65568" name="Oval 32"/>
            <p:cNvSpPr>
              <a:spLocks noChangeArrowheads="1"/>
            </p:cNvSpPr>
            <p:nvPr/>
          </p:nvSpPr>
          <p:spPr bwMode="auto">
            <a:xfrm>
              <a:off x="5360" y="1520"/>
              <a:ext cx="80" cy="80"/>
            </a:xfrm>
            <a:prstGeom prst="ellipse">
              <a:avLst/>
            </a:prstGeom>
            <a:solidFill>
              <a:schemeClr val="accent1"/>
            </a:solidFill>
            <a:ln w="9525">
              <a:noFill/>
              <a:round/>
              <a:headEnd/>
              <a:tailEnd/>
            </a:ln>
            <a:effectLst/>
          </p:spPr>
          <p:txBody>
            <a:bodyPr wrap="none" anchor="ctr"/>
            <a:lstStyle/>
            <a:p>
              <a:endParaRPr lang="en-US"/>
            </a:p>
          </p:txBody>
        </p:sp>
        <p:sp>
          <p:nvSpPr>
            <p:cNvPr id="65569" name="Oval 33"/>
            <p:cNvSpPr>
              <a:spLocks noChangeArrowheads="1"/>
            </p:cNvSpPr>
            <p:nvPr/>
          </p:nvSpPr>
          <p:spPr bwMode="auto">
            <a:xfrm>
              <a:off x="5472" y="1520"/>
              <a:ext cx="80" cy="80"/>
            </a:xfrm>
            <a:prstGeom prst="ellipse">
              <a:avLst/>
            </a:prstGeom>
            <a:solidFill>
              <a:schemeClr val="folHlink"/>
            </a:solidFill>
            <a:ln w="9525">
              <a:noFill/>
              <a:round/>
              <a:headEnd/>
              <a:tailEnd/>
            </a:ln>
            <a:effectLst/>
          </p:spPr>
          <p:txBody>
            <a:bodyPr wrap="none" anchor="ctr"/>
            <a:lstStyle/>
            <a:p>
              <a:endParaRPr lang="en-US"/>
            </a:p>
          </p:txBody>
        </p:sp>
        <p:sp>
          <p:nvSpPr>
            <p:cNvPr id="65570" name="Oval 34"/>
            <p:cNvSpPr>
              <a:spLocks noChangeArrowheads="1"/>
            </p:cNvSpPr>
            <p:nvPr/>
          </p:nvSpPr>
          <p:spPr bwMode="auto">
            <a:xfrm>
              <a:off x="5136" y="1632"/>
              <a:ext cx="80" cy="80"/>
            </a:xfrm>
            <a:prstGeom prst="ellipse">
              <a:avLst/>
            </a:prstGeom>
            <a:solidFill>
              <a:schemeClr val="accent1"/>
            </a:solidFill>
            <a:ln w="9525">
              <a:noFill/>
              <a:round/>
              <a:headEnd/>
              <a:tailEnd/>
            </a:ln>
            <a:effectLst/>
          </p:spPr>
          <p:txBody>
            <a:bodyPr wrap="none" anchor="ctr"/>
            <a:lstStyle/>
            <a:p>
              <a:endParaRPr lang="en-US"/>
            </a:p>
          </p:txBody>
        </p:sp>
        <p:sp>
          <p:nvSpPr>
            <p:cNvPr id="65571" name="Oval 35"/>
            <p:cNvSpPr>
              <a:spLocks noChangeArrowheads="1"/>
            </p:cNvSpPr>
            <p:nvPr/>
          </p:nvSpPr>
          <p:spPr bwMode="auto">
            <a:xfrm>
              <a:off x="5248" y="1632"/>
              <a:ext cx="80" cy="80"/>
            </a:xfrm>
            <a:prstGeom prst="ellipse">
              <a:avLst/>
            </a:prstGeom>
            <a:solidFill>
              <a:schemeClr val="accent1"/>
            </a:solidFill>
            <a:ln w="9525">
              <a:noFill/>
              <a:round/>
              <a:headEnd/>
              <a:tailEnd/>
            </a:ln>
            <a:effectLst/>
          </p:spPr>
          <p:txBody>
            <a:bodyPr wrap="none" anchor="ctr"/>
            <a:lstStyle/>
            <a:p>
              <a:endParaRPr lang="en-US"/>
            </a:p>
          </p:txBody>
        </p:sp>
        <p:sp>
          <p:nvSpPr>
            <p:cNvPr id="65572" name="Oval 36"/>
            <p:cNvSpPr>
              <a:spLocks noChangeArrowheads="1"/>
            </p:cNvSpPr>
            <p:nvPr/>
          </p:nvSpPr>
          <p:spPr bwMode="auto">
            <a:xfrm>
              <a:off x="5360" y="1632"/>
              <a:ext cx="80" cy="80"/>
            </a:xfrm>
            <a:prstGeom prst="ellipse">
              <a:avLst/>
            </a:prstGeom>
            <a:solidFill>
              <a:schemeClr val="folHlink"/>
            </a:solidFill>
            <a:ln w="9525">
              <a:noFill/>
              <a:round/>
              <a:headEnd/>
              <a:tailEnd/>
            </a:ln>
            <a:effectLst/>
          </p:spPr>
          <p:txBody>
            <a:bodyPr wrap="none" anchor="ctr"/>
            <a:lstStyle/>
            <a:p>
              <a:endParaRPr lang="en-US"/>
            </a:p>
          </p:txBody>
        </p:sp>
        <p:sp>
          <p:nvSpPr>
            <p:cNvPr id="65573" name="Oval 37"/>
            <p:cNvSpPr>
              <a:spLocks noChangeArrowheads="1"/>
            </p:cNvSpPr>
            <p:nvPr/>
          </p:nvSpPr>
          <p:spPr bwMode="auto">
            <a:xfrm>
              <a:off x="5472" y="1632"/>
              <a:ext cx="80" cy="80"/>
            </a:xfrm>
            <a:prstGeom prst="ellipse">
              <a:avLst/>
            </a:prstGeom>
            <a:solidFill>
              <a:schemeClr val="folHlink"/>
            </a:solidFill>
            <a:ln w="9525">
              <a:noFill/>
              <a:round/>
              <a:headEnd/>
              <a:tailEnd/>
            </a:ln>
            <a:effectLst/>
          </p:spPr>
          <p:txBody>
            <a:bodyPr wrap="none" anchor="ctr"/>
            <a:lstStyle/>
            <a:p>
              <a:endParaRPr lang="en-US"/>
            </a:p>
          </p:txBody>
        </p:sp>
        <p:sp>
          <p:nvSpPr>
            <p:cNvPr id="65574" name="Oval 38"/>
            <p:cNvSpPr>
              <a:spLocks noChangeArrowheads="1"/>
            </p:cNvSpPr>
            <p:nvPr/>
          </p:nvSpPr>
          <p:spPr bwMode="auto">
            <a:xfrm>
              <a:off x="5248" y="1744"/>
              <a:ext cx="80" cy="80"/>
            </a:xfrm>
            <a:prstGeom prst="ellipse">
              <a:avLst/>
            </a:prstGeom>
            <a:solidFill>
              <a:schemeClr val="folHlink"/>
            </a:solidFill>
            <a:ln w="9525">
              <a:noFill/>
              <a:round/>
              <a:headEnd/>
              <a:tailEnd/>
            </a:ln>
            <a:effectLst/>
          </p:spPr>
          <p:txBody>
            <a:bodyPr wrap="none" anchor="ctr"/>
            <a:lstStyle/>
            <a:p>
              <a:endParaRPr lang="en-US"/>
            </a:p>
          </p:txBody>
        </p:sp>
        <p:sp>
          <p:nvSpPr>
            <p:cNvPr id="65575" name="Oval 39"/>
            <p:cNvSpPr>
              <a:spLocks noChangeArrowheads="1"/>
            </p:cNvSpPr>
            <p:nvPr/>
          </p:nvSpPr>
          <p:spPr bwMode="auto">
            <a:xfrm>
              <a:off x="5472" y="1744"/>
              <a:ext cx="80" cy="80"/>
            </a:xfrm>
            <a:prstGeom prst="ellipse">
              <a:avLst/>
            </a:prstGeom>
            <a:solidFill>
              <a:schemeClr val="folHlink"/>
            </a:solidFill>
            <a:ln w="9525">
              <a:noFill/>
              <a:round/>
              <a:headEnd/>
              <a:tailEnd/>
            </a:ln>
            <a:effectLst/>
          </p:spPr>
          <p:txBody>
            <a:bodyPr wrap="none" anchor="ctr"/>
            <a:lstStyle/>
            <a:p>
              <a:endParaRPr lang="en-US"/>
            </a:p>
          </p:txBody>
        </p:sp>
      </p:grpSp>
      <p:sp>
        <p:nvSpPr>
          <p:cNvPr id="65576" name="Line 40"/>
          <p:cNvSpPr>
            <a:spLocks noChangeShapeType="1"/>
          </p:cNvSpPr>
          <p:nvPr/>
        </p:nvSpPr>
        <p:spPr bwMode="auto">
          <a:xfrm>
            <a:off x="457200" y="1524000"/>
            <a:ext cx="7543800" cy="0"/>
          </a:xfrm>
          <a:prstGeom prst="line">
            <a:avLst/>
          </a:prstGeom>
          <a:noFill/>
          <a:ln w="9525">
            <a:solidFill>
              <a:schemeClr val="accent2"/>
            </a:solidFill>
            <a:round/>
            <a:headEnd/>
            <a:tailEnd/>
          </a:ln>
          <a:effec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iming>
    <p:tnLst>
      <p:par>
        <p:cTn id="1" dur="indefinite" restart="never" nodeType="tmRoot"/>
      </p:par>
    </p:tnLst>
  </p:timing>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charset="0"/>
        </a:defRPr>
      </a:lvl2pPr>
      <a:lvl3pPr algn="l" rtl="0" eaLnBrk="1" fontAlgn="base" hangingPunct="1">
        <a:spcBef>
          <a:spcPct val="0"/>
        </a:spcBef>
        <a:spcAft>
          <a:spcPct val="0"/>
        </a:spcAft>
        <a:defRPr sz="3900" b="1">
          <a:solidFill>
            <a:schemeClr val="tx2"/>
          </a:solidFill>
          <a:latin typeface="Arial" charset="0"/>
        </a:defRPr>
      </a:lvl3pPr>
      <a:lvl4pPr algn="l" rtl="0" eaLnBrk="1" fontAlgn="base" hangingPunct="1">
        <a:spcBef>
          <a:spcPct val="0"/>
        </a:spcBef>
        <a:spcAft>
          <a:spcPct val="0"/>
        </a:spcAft>
        <a:defRPr sz="3900" b="1">
          <a:solidFill>
            <a:schemeClr val="tx2"/>
          </a:solidFill>
          <a:latin typeface="Arial" charset="0"/>
        </a:defRPr>
      </a:lvl4pPr>
      <a:lvl5pPr algn="l" rtl="0" eaLnBrk="1" fontAlgn="base" hangingPunct="1">
        <a:spcBef>
          <a:spcPct val="0"/>
        </a:spcBef>
        <a:spcAft>
          <a:spcPct val="0"/>
        </a:spcAft>
        <a:defRPr sz="3900" b="1">
          <a:solidFill>
            <a:schemeClr val="tx2"/>
          </a:solidFill>
          <a:latin typeface="Arial" charset="0"/>
        </a:defRPr>
      </a:lvl5pPr>
      <a:lvl6pPr marL="457200" algn="l" rtl="0" eaLnBrk="1" fontAlgn="base" hangingPunct="1">
        <a:spcBef>
          <a:spcPct val="0"/>
        </a:spcBef>
        <a:spcAft>
          <a:spcPct val="0"/>
        </a:spcAft>
        <a:defRPr sz="3900" b="1">
          <a:solidFill>
            <a:schemeClr val="tx2"/>
          </a:solidFill>
          <a:latin typeface="Arial" charset="0"/>
        </a:defRPr>
      </a:lvl6pPr>
      <a:lvl7pPr marL="914400" algn="l" rtl="0" eaLnBrk="1" fontAlgn="base" hangingPunct="1">
        <a:spcBef>
          <a:spcPct val="0"/>
        </a:spcBef>
        <a:spcAft>
          <a:spcPct val="0"/>
        </a:spcAft>
        <a:defRPr sz="3900" b="1">
          <a:solidFill>
            <a:schemeClr val="tx2"/>
          </a:solidFill>
          <a:latin typeface="Arial" charset="0"/>
        </a:defRPr>
      </a:lvl7pPr>
      <a:lvl8pPr marL="1371600" algn="l" rtl="0" eaLnBrk="1" fontAlgn="base" hangingPunct="1">
        <a:spcBef>
          <a:spcPct val="0"/>
        </a:spcBef>
        <a:spcAft>
          <a:spcPct val="0"/>
        </a:spcAft>
        <a:defRPr sz="3900" b="1">
          <a:solidFill>
            <a:schemeClr val="tx2"/>
          </a:solidFill>
          <a:latin typeface="Arial" charset="0"/>
        </a:defRPr>
      </a:lvl8pPr>
      <a:lvl9pPr marL="1828800" algn="l" rtl="0" eaLnBrk="1" fontAlgn="base" hangingPunct="1">
        <a:spcBef>
          <a:spcPct val="0"/>
        </a:spcBef>
        <a:spcAft>
          <a:spcPct val="0"/>
        </a:spcAft>
        <a:defRPr sz="39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1" fontAlgn="base" hangingPunct="1">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1" fontAlgn="base" hangingPunct="1">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slideLayout" Target="../slideLayouts/slideLayout2.xml"/><Relationship Id="rId1" Type="http://schemas.openxmlformats.org/officeDocument/2006/relationships/video" Target="file:///C:\Resume\System%20librarian%20-%20Colgate\Interview%20prepare\Presentation\video\Dspace%20usage%20training.avi"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62000" y="457200"/>
            <a:ext cx="5703888" cy="2133600"/>
          </a:xfrm>
        </p:spPr>
        <p:txBody>
          <a:bodyPr/>
          <a:lstStyle/>
          <a:p>
            <a:r>
              <a:rPr lang="en-US" dirty="0" smtClean="0"/>
              <a:t>Digital Repository System in Kilgore College</a:t>
            </a:r>
            <a:endParaRPr lang="en-US" dirty="0"/>
          </a:p>
        </p:txBody>
      </p:sp>
      <p:sp>
        <p:nvSpPr>
          <p:cNvPr id="2051" name="Rectangle 3"/>
          <p:cNvSpPr>
            <a:spLocks noGrp="1" noChangeArrowheads="1"/>
          </p:cNvSpPr>
          <p:nvPr>
            <p:ph type="subTitle" idx="1"/>
          </p:nvPr>
        </p:nvSpPr>
        <p:spPr/>
        <p:txBody>
          <a:bodyPr/>
          <a:lstStyle/>
          <a:p>
            <a:r>
              <a:rPr lang="en-US" dirty="0"/>
              <a:t>Presented by</a:t>
            </a:r>
          </a:p>
          <a:p>
            <a:r>
              <a:rPr lang="en-US" dirty="0" smtClean="0"/>
              <a:t>Andy Tang</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rPr>
              <a:t>Agenda</a:t>
            </a:r>
            <a:endParaRPr lang="en-US" dirty="0">
              <a:solidFill>
                <a:srgbClr val="002060"/>
              </a:solidFill>
            </a:endParaRPr>
          </a:p>
        </p:txBody>
      </p:sp>
      <p:sp>
        <p:nvSpPr>
          <p:cNvPr id="3" name="Content Placeholder 2"/>
          <p:cNvSpPr>
            <a:spLocks noGrp="1"/>
          </p:cNvSpPr>
          <p:nvPr>
            <p:ph idx="1"/>
          </p:nvPr>
        </p:nvSpPr>
        <p:spPr/>
        <p:txBody>
          <a:bodyPr/>
          <a:lstStyle/>
          <a:p>
            <a:r>
              <a:rPr lang="en-US" dirty="0" smtClean="0"/>
              <a:t>Background</a:t>
            </a:r>
          </a:p>
          <a:p>
            <a:r>
              <a:rPr lang="en-US" dirty="0" smtClean="0"/>
              <a:t>Why do we digitize them?</a:t>
            </a:r>
          </a:p>
          <a:p>
            <a:r>
              <a:rPr lang="en-US" dirty="0" smtClean="0"/>
              <a:t>Project Schedule</a:t>
            </a:r>
          </a:p>
          <a:p>
            <a:r>
              <a:rPr lang="en-US" dirty="0" smtClean="0"/>
              <a:t>Stakeholders’ interaction</a:t>
            </a:r>
          </a:p>
          <a:p>
            <a:r>
              <a:rPr lang="en-US" dirty="0" smtClean="0"/>
              <a:t>System selection</a:t>
            </a:r>
          </a:p>
          <a:p>
            <a:r>
              <a:rPr lang="en-US" dirty="0" smtClean="0"/>
              <a:t>4 steps to complete project</a:t>
            </a:r>
          </a:p>
          <a:p>
            <a:r>
              <a:rPr lang="en-US" dirty="0" smtClean="0"/>
              <a:t>Final product</a:t>
            </a:r>
          </a:p>
          <a:p>
            <a:r>
              <a:rPr lang="en-US" dirty="0" smtClean="0"/>
              <a:t>Successive Training</a:t>
            </a:r>
          </a:p>
          <a:p>
            <a:endParaRPr lang="en-US" dirty="0" smtClean="0"/>
          </a:p>
          <a:p>
            <a:endParaRPr lang="en-US" dirty="0" smtClean="0"/>
          </a:p>
          <a:p>
            <a:endParaRPr lang="en-US" dirty="0"/>
          </a:p>
        </p:txBody>
      </p:sp>
    </p:spTree>
    <p:extLst>
      <p:ext uri="{BB962C8B-B14F-4D97-AF65-F5344CB8AC3E}">
        <p14:creationId xmlns:p14="http://schemas.microsoft.com/office/powerpoint/2010/main" xmlns="" val="8399042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smtClean="0">
                <a:solidFill>
                  <a:srgbClr val="002060"/>
                </a:solidFill>
              </a:rPr>
              <a:t>Background</a:t>
            </a:r>
            <a:endParaRPr lang="en-US" dirty="0">
              <a:solidFill>
                <a:srgbClr val="002060"/>
              </a:solidFill>
            </a:endParaRPr>
          </a:p>
        </p:txBody>
      </p:sp>
      <p:sp>
        <p:nvSpPr>
          <p:cNvPr id="6147" name="Rectangle 3"/>
          <p:cNvSpPr>
            <a:spLocks noGrp="1" noChangeArrowheads="1"/>
          </p:cNvSpPr>
          <p:nvPr>
            <p:ph type="body" idx="1"/>
          </p:nvPr>
        </p:nvSpPr>
        <p:spPr/>
        <p:txBody>
          <a:bodyPr/>
          <a:lstStyle/>
          <a:p>
            <a:r>
              <a:rPr lang="en-US" dirty="0" smtClean="0"/>
              <a:t>Oil booming -&gt; Newspaper (1931)</a:t>
            </a:r>
          </a:p>
          <a:p>
            <a:endParaRPr lang="en-US" dirty="0"/>
          </a:p>
        </p:txBody>
      </p:sp>
      <p:pic>
        <p:nvPicPr>
          <p:cNvPr id="1026" name="Picture 2"/>
          <p:cNvPicPr>
            <a:picLocks noChangeAspect="1" noChangeArrowheads="1"/>
          </p:cNvPicPr>
          <p:nvPr/>
        </p:nvPicPr>
        <p:blipFill>
          <a:blip r:embed="rId3"/>
          <a:srcRect/>
          <a:stretch>
            <a:fillRect/>
          </a:stretch>
        </p:blipFill>
        <p:spPr bwMode="auto">
          <a:xfrm>
            <a:off x="857224" y="2571744"/>
            <a:ext cx="5191125" cy="3228975"/>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5429256" y="2500306"/>
            <a:ext cx="3429024" cy="225607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dirty="0" smtClean="0">
                <a:solidFill>
                  <a:srgbClr val="002060"/>
                </a:solidFill>
              </a:rPr>
              <a:t>Local newspaper preservation and usage in Kilgore College</a:t>
            </a:r>
            <a:endParaRPr lang="en-US" dirty="0">
              <a:solidFill>
                <a:srgbClr val="002060"/>
              </a:solidFill>
            </a:endParaRPr>
          </a:p>
        </p:txBody>
      </p:sp>
      <p:sp>
        <p:nvSpPr>
          <p:cNvPr id="30723" name="Rectangle 3"/>
          <p:cNvSpPr>
            <a:spLocks noGrp="1" noChangeArrowheads="1"/>
          </p:cNvSpPr>
          <p:nvPr>
            <p:ph type="body" idx="1"/>
          </p:nvPr>
        </p:nvSpPr>
        <p:spPr>
          <a:xfrm>
            <a:off x="457200" y="1719263"/>
            <a:ext cx="8258204" cy="4853009"/>
          </a:xfrm>
        </p:spPr>
        <p:txBody>
          <a:bodyPr/>
          <a:lstStyle/>
          <a:p>
            <a:pPr>
              <a:buNone/>
            </a:pPr>
            <a:endParaRPr lang="en-US" dirty="0" smtClean="0"/>
          </a:p>
          <a:p>
            <a:r>
              <a:rPr lang="en-US" dirty="0" smtClean="0"/>
              <a:t>Kilgore News Herald – Newspaper</a:t>
            </a:r>
          </a:p>
          <a:p>
            <a:r>
              <a:rPr lang="en-US" dirty="0" smtClean="0"/>
              <a:t>Microfilm</a:t>
            </a:r>
          </a:p>
          <a:p>
            <a:pPr lvl="1"/>
            <a:endParaRPr lang="en-US" dirty="0" smtClean="0"/>
          </a:p>
          <a:p>
            <a:pPr lvl="1"/>
            <a:r>
              <a:rPr lang="en-US" sz="2400" dirty="0" smtClean="0"/>
              <a:t>For the purpose of preservation, Kilgore city issued a fund to convert newspaper from paper to microfilm.</a:t>
            </a:r>
          </a:p>
          <a:p>
            <a:pPr lvl="1"/>
            <a:r>
              <a:rPr lang="en-US" sz="2400" dirty="0" smtClean="0"/>
              <a:t>All of the microfilms are preserved in Kilgore College</a:t>
            </a:r>
          </a:p>
          <a:p>
            <a:r>
              <a:rPr lang="en-US" dirty="0" smtClean="0"/>
              <a:t>Daily usage</a:t>
            </a:r>
          </a:p>
          <a:p>
            <a:pPr lvl="1"/>
            <a:r>
              <a:rPr lang="en-US" dirty="0" smtClean="0"/>
              <a:t>Patrons from local and nearer cities, government, the public.</a:t>
            </a:r>
            <a:endParaRPr lang="en-US" dirty="0"/>
          </a:p>
        </p:txBody>
      </p:sp>
      <p:pic>
        <p:nvPicPr>
          <p:cNvPr id="2050" name="Picture 2"/>
          <p:cNvPicPr>
            <a:picLocks noChangeAspect="1" noChangeArrowheads="1"/>
          </p:cNvPicPr>
          <p:nvPr/>
        </p:nvPicPr>
        <p:blipFill>
          <a:blip r:embed="rId3"/>
          <a:srcRect/>
          <a:stretch>
            <a:fillRect/>
          </a:stretch>
        </p:blipFill>
        <p:spPr bwMode="auto">
          <a:xfrm>
            <a:off x="2786050" y="2857496"/>
            <a:ext cx="714380" cy="744650"/>
          </a:xfrm>
          <a:prstGeom prst="rect">
            <a:avLst/>
          </a:prstGeom>
          <a:noFill/>
          <a:ln w="9525">
            <a:noFill/>
            <a:miter lim="800000"/>
            <a:headEnd/>
            <a:tailEnd/>
          </a:ln>
          <a:effectLst/>
        </p:spPr>
      </p:pic>
      <p:pic>
        <p:nvPicPr>
          <p:cNvPr id="5" name="Picture 5"/>
          <p:cNvPicPr>
            <a:picLocks noChangeAspect="1" noChangeArrowheads="1"/>
          </p:cNvPicPr>
          <p:nvPr/>
        </p:nvPicPr>
        <p:blipFill>
          <a:blip r:embed="rId4" cstate="print"/>
          <a:srcRect/>
          <a:stretch>
            <a:fillRect/>
          </a:stretch>
        </p:blipFill>
        <p:spPr bwMode="auto">
          <a:xfrm>
            <a:off x="6929454" y="2214554"/>
            <a:ext cx="1302952" cy="857256"/>
          </a:xfrm>
          <a:prstGeom prst="rect">
            <a:avLst/>
          </a:prstGeom>
          <a:noFill/>
          <a:ln w="9525">
            <a:noFill/>
            <a:miter lim="800000"/>
            <a:headEnd/>
            <a:tailEnd/>
          </a:ln>
          <a:effectLst/>
        </p:spPr>
      </p:pic>
      <p:cxnSp>
        <p:nvCxnSpPr>
          <p:cNvPr id="7" name="Straight Connector 6"/>
          <p:cNvCxnSpPr/>
          <p:nvPr/>
        </p:nvCxnSpPr>
        <p:spPr bwMode="auto">
          <a:xfrm>
            <a:off x="8286776" y="2500306"/>
            <a:ext cx="500066"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p:cNvCxnSpPr/>
          <p:nvPr/>
        </p:nvCxnSpPr>
        <p:spPr bwMode="auto">
          <a:xfrm rot="5400000" flipH="1" flipV="1">
            <a:off x="8430446" y="2857496"/>
            <a:ext cx="713586" cy="79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Straight Arrow Connector 11"/>
          <p:cNvCxnSpPr>
            <a:endCxn id="2050" idx="3"/>
          </p:cNvCxnSpPr>
          <p:nvPr/>
        </p:nvCxnSpPr>
        <p:spPr bwMode="auto">
          <a:xfrm rot="10800000" flipV="1">
            <a:off x="3500430" y="3214685"/>
            <a:ext cx="5286412" cy="1513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do we digitize them</a:t>
            </a:r>
            <a:endParaRPr lang="en-US" dirty="0"/>
          </a:p>
        </p:txBody>
      </p:sp>
      <p:sp>
        <p:nvSpPr>
          <p:cNvPr id="3" name="Content Placeholder 2"/>
          <p:cNvSpPr>
            <a:spLocks noGrp="1"/>
          </p:cNvSpPr>
          <p:nvPr>
            <p:ph idx="1"/>
          </p:nvPr>
        </p:nvSpPr>
        <p:spPr>
          <a:xfrm>
            <a:off x="457200" y="1719262"/>
            <a:ext cx="8258204" cy="4710133"/>
          </a:xfrm>
        </p:spPr>
        <p:txBody>
          <a:bodyPr/>
          <a:lstStyle/>
          <a:p>
            <a:r>
              <a:rPr lang="en-US" dirty="0" smtClean="0"/>
              <a:t>Microfilm reader usage is not convenient</a:t>
            </a:r>
          </a:p>
          <a:p>
            <a:pPr>
              <a:buNone/>
            </a:pPr>
            <a:endParaRPr lang="en-US" dirty="0" smtClean="0"/>
          </a:p>
          <a:p>
            <a:r>
              <a:rPr lang="en-US" dirty="0" smtClean="0"/>
              <a:t>Library director and circulation staff have the motivation to digitize them- </a:t>
            </a:r>
            <a:r>
              <a:rPr lang="en-US" dirty="0" smtClean="0">
                <a:solidFill>
                  <a:srgbClr val="002060"/>
                </a:solidFill>
              </a:rPr>
              <a:t>why, reduce workload, easy to search</a:t>
            </a:r>
          </a:p>
          <a:p>
            <a:endParaRPr lang="en-US" dirty="0" smtClean="0"/>
          </a:p>
          <a:p>
            <a:endParaRPr lang="en-US" dirty="0" smtClean="0"/>
          </a:p>
          <a:p>
            <a:r>
              <a:rPr lang="en-US" dirty="0" smtClean="0"/>
              <a:t>We have to face the problems of how to manage these PDF format newspapers</a:t>
            </a:r>
          </a:p>
          <a:p>
            <a:endParaRPr lang="en-US" dirty="0"/>
          </a:p>
        </p:txBody>
      </p:sp>
      <p:pic>
        <p:nvPicPr>
          <p:cNvPr id="4" name="Picture 2"/>
          <p:cNvPicPr>
            <a:picLocks noChangeAspect="1" noChangeArrowheads="1"/>
          </p:cNvPicPr>
          <p:nvPr/>
        </p:nvPicPr>
        <p:blipFill>
          <a:blip r:embed="rId3"/>
          <a:srcRect/>
          <a:stretch>
            <a:fillRect/>
          </a:stretch>
        </p:blipFill>
        <p:spPr bwMode="auto">
          <a:xfrm>
            <a:off x="1500166" y="4429132"/>
            <a:ext cx="714380" cy="744650"/>
          </a:xfrm>
          <a:prstGeom prst="rect">
            <a:avLst/>
          </a:prstGeom>
          <a:noFill/>
          <a:ln w="9525">
            <a:noFill/>
            <a:miter lim="800000"/>
            <a:headEnd/>
            <a:tailEnd/>
          </a:ln>
          <a:effectLst/>
        </p:spPr>
      </p:pic>
      <p:cxnSp>
        <p:nvCxnSpPr>
          <p:cNvPr id="6" name="Straight Arrow Connector 5"/>
          <p:cNvCxnSpPr/>
          <p:nvPr/>
        </p:nvCxnSpPr>
        <p:spPr bwMode="auto">
          <a:xfrm>
            <a:off x="2500298" y="4857760"/>
            <a:ext cx="3071834"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pic>
        <p:nvPicPr>
          <p:cNvPr id="3074" name="Picture 2"/>
          <p:cNvPicPr>
            <a:picLocks noChangeAspect="1" noChangeArrowheads="1"/>
          </p:cNvPicPr>
          <p:nvPr/>
        </p:nvPicPr>
        <p:blipFill>
          <a:blip r:embed="rId4"/>
          <a:srcRect/>
          <a:stretch>
            <a:fillRect/>
          </a:stretch>
        </p:blipFill>
        <p:spPr bwMode="auto">
          <a:xfrm>
            <a:off x="5857884" y="4357694"/>
            <a:ext cx="874065" cy="857256"/>
          </a:xfrm>
          <a:prstGeom prst="rect">
            <a:avLst/>
          </a:prstGeom>
          <a:noFill/>
          <a:ln w="9525">
            <a:noFill/>
            <a:miter lim="800000"/>
            <a:headEnd/>
            <a:tailEnd/>
          </a:ln>
          <a:effectLst/>
        </p:spPr>
      </p:pic>
      <p:pic>
        <p:nvPicPr>
          <p:cNvPr id="11" name="Picture 4"/>
          <p:cNvPicPr>
            <a:picLocks noChangeAspect="1" noChangeArrowheads="1"/>
          </p:cNvPicPr>
          <p:nvPr/>
        </p:nvPicPr>
        <p:blipFill>
          <a:blip r:embed="rId5"/>
          <a:srcRect/>
          <a:stretch>
            <a:fillRect/>
          </a:stretch>
        </p:blipFill>
        <p:spPr bwMode="auto">
          <a:xfrm>
            <a:off x="7786710" y="1643050"/>
            <a:ext cx="722822" cy="77539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rPr>
              <a:t>Project schedule </a:t>
            </a:r>
            <a:endParaRPr lang="en-US" dirty="0">
              <a:solidFill>
                <a:srgbClr val="002060"/>
              </a:solidFill>
            </a:endParaRPr>
          </a:p>
        </p:txBody>
      </p:sp>
      <p:graphicFrame>
        <p:nvGraphicFramePr>
          <p:cNvPr id="4" name="Table 3"/>
          <p:cNvGraphicFramePr>
            <a:graphicFrameLocks noGrp="1"/>
          </p:cNvGraphicFramePr>
          <p:nvPr>
            <p:extLst>
              <p:ext uri="{D42A27DB-BD31-4B8C-83A1-F6EECF244321}">
                <p14:modId xmlns:p14="http://schemas.microsoft.com/office/powerpoint/2010/main" xmlns="" val="3975281109"/>
              </p:ext>
            </p:extLst>
          </p:nvPr>
        </p:nvGraphicFramePr>
        <p:xfrm>
          <a:off x="357159" y="1772817"/>
          <a:ext cx="8103273" cy="4972247"/>
        </p:xfrm>
        <a:graphic>
          <a:graphicData uri="http://schemas.openxmlformats.org/drawingml/2006/table">
            <a:tbl>
              <a:tblPr firstRow="1" bandRow="1">
                <a:tableStyleId>{5C22544A-7EE6-4342-B048-85BDC9FD1C3A}</a:tableStyleId>
              </a:tblPr>
              <a:tblGrid>
                <a:gridCol w="3071833"/>
                <a:gridCol w="1571636"/>
                <a:gridCol w="1857388"/>
                <a:gridCol w="1602416"/>
              </a:tblGrid>
              <a:tr h="798927">
                <a:tc>
                  <a:txBody>
                    <a:bodyPr/>
                    <a:lstStyle/>
                    <a:p>
                      <a:endParaRPr lang="en-US" dirty="0"/>
                    </a:p>
                  </a:txBody>
                  <a:tcPr/>
                </a:tc>
                <a:tc>
                  <a:txBody>
                    <a:bodyPr/>
                    <a:lstStyle/>
                    <a:p>
                      <a:r>
                        <a:rPr lang="en-US" dirty="0" smtClean="0"/>
                        <a:t>Time</a:t>
                      </a:r>
                      <a:endParaRPr lang="en-US" dirty="0"/>
                    </a:p>
                  </a:txBody>
                  <a:tcPr/>
                </a:tc>
                <a:tc>
                  <a:txBody>
                    <a:bodyPr/>
                    <a:lstStyle/>
                    <a:p>
                      <a:r>
                        <a:rPr lang="en-US" dirty="0" smtClean="0"/>
                        <a:t>Person</a:t>
                      </a:r>
                      <a:r>
                        <a:rPr lang="en-US" baseline="0" dirty="0" smtClean="0"/>
                        <a:t> in charge </a:t>
                      </a:r>
                      <a:endParaRPr lang="en-US" dirty="0"/>
                    </a:p>
                  </a:txBody>
                  <a:tcPr/>
                </a:tc>
                <a:tc>
                  <a:txBody>
                    <a:bodyPr/>
                    <a:lstStyle/>
                    <a:p>
                      <a:r>
                        <a:rPr lang="en-US" dirty="0" smtClean="0"/>
                        <a:t>Notes</a:t>
                      </a:r>
                      <a:endParaRPr lang="en-US" dirty="0"/>
                    </a:p>
                  </a:txBody>
                  <a:tcPr/>
                </a:tc>
              </a:tr>
              <a:tr h="721179">
                <a:tc>
                  <a:txBody>
                    <a:bodyPr/>
                    <a:lstStyle/>
                    <a:p>
                      <a:r>
                        <a:rPr lang="en-US" dirty="0" smtClean="0"/>
                        <a:t>Systems selection </a:t>
                      </a:r>
                      <a:endParaRPr lang="en-US" dirty="0"/>
                    </a:p>
                  </a:txBody>
                  <a:tcPr/>
                </a:tc>
                <a:tc>
                  <a:txBody>
                    <a:bodyPr/>
                    <a:lstStyle/>
                    <a:p>
                      <a:r>
                        <a:rPr lang="en-US" dirty="0" smtClean="0"/>
                        <a:t>3 months</a:t>
                      </a:r>
                      <a:endParaRPr lang="en-US" dirty="0"/>
                    </a:p>
                  </a:txBody>
                  <a:tcPr/>
                </a:tc>
                <a:tc>
                  <a:txBody>
                    <a:bodyPr/>
                    <a:lstStyle/>
                    <a:p>
                      <a:r>
                        <a:rPr lang="en-US" dirty="0" smtClean="0"/>
                        <a:t>Library director</a:t>
                      </a:r>
                      <a:r>
                        <a:rPr lang="en-US" baseline="0" dirty="0" smtClean="0"/>
                        <a:t> and systems librarian (Andy Tang)</a:t>
                      </a:r>
                      <a:endParaRPr lang="en-US" dirty="0"/>
                    </a:p>
                  </a:txBody>
                  <a:tcPr/>
                </a:tc>
                <a:tc>
                  <a:txBody>
                    <a:bodyPr/>
                    <a:lstStyle/>
                    <a:p>
                      <a:r>
                        <a:rPr lang="en-US" dirty="0" smtClean="0"/>
                        <a:t>Hardware and software</a:t>
                      </a:r>
                      <a:endParaRPr lang="en-US" dirty="0"/>
                    </a:p>
                  </a:txBody>
                  <a:tcPr/>
                </a:tc>
              </a:tr>
              <a:tr h="664035">
                <a:tc>
                  <a:txBody>
                    <a:bodyPr/>
                    <a:lstStyle/>
                    <a:p>
                      <a:r>
                        <a:rPr lang="en-US" dirty="0" smtClean="0"/>
                        <a:t>Microfilm digitizing/metadata</a:t>
                      </a:r>
                      <a:r>
                        <a:rPr lang="en-US" baseline="0" dirty="0" smtClean="0"/>
                        <a:t> creation</a:t>
                      </a:r>
                      <a:endParaRPr lang="en-US" dirty="0"/>
                    </a:p>
                  </a:txBody>
                  <a:tcPr/>
                </a:tc>
                <a:tc>
                  <a:txBody>
                    <a:bodyPr/>
                    <a:lstStyle/>
                    <a:p>
                      <a:r>
                        <a:rPr lang="en-US" dirty="0" smtClean="0"/>
                        <a:t>1</a:t>
                      </a:r>
                      <a:r>
                        <a:rPr lang="en-US" baseline="30000" dirty="0" smtClean="0"/>
                        <a:t>st</a:t>
                      </a:r>
                      <a:r>
                        <a:rPr lang="en-US" dirty="0" smtClean="0"/>
                        <a:t> phase:</a:t>
                      </a:r>
                      <a:r>
                        <a:rPr lang="en-US" baseline="0" dirty="0" smtClean="0"/>
                        <a:t> 1.5 year</a:t>
                      </a:r>
                      <a:endParaRPr lang="en-US" dirty="0"/>
                    </a:p>
                  </a:txBody>
                  <a:tcPr/>
                </a:tc>
                <a:tc>
                  <a:txBody>
                    <a:bodyPr/>
                    <a:lstStyle/>
                    <a:p>
                      <a:r>
                        <a:rPr lang="en-US" dirty="0" smtClean="0"/>
                        <a:t>Archival assistant (</a:t>
                      </a:r>
                      <a:r>
                        <a:rPr lang="en-US" dirty="0" err="1" smtClean="0"/>
                        <a:t>Jacklyn</a:t>
                      </a:r>
                      <a:r>
                        <a:rPr lang="en-US" dirty="0" smtClean="0"/>
                        <a:t>)</a:t>
                      </a:r>
                      <a:endParaRPr lang="en-US" dirty="0"/>
                    </a:p>
                  </a:txBody>
                  <a:tcPr/>
                </a:tc>
                <a:tc>
                  <a:txBody>
                    <a:bodyPr/>
                    <a:lstStyle/>
                    <a:p>
                      <a:r>
                        <a:rPr lang="en-US" dirty="0" smtClean="0"/>
                        <a:t>[1931 : 1935]</a:t>
                      </a:r>
                      <a:endParaRPr lang="en-US" dirty="0"/>
                    </a:p>
                  </a:txBody>
                  <a:tcPr/>
                </a:tc>
              </a:tr>
              <a:tr h="365271">
                <a:tc>
                  <a:txBody>
                    <a:bodyPr/>
                    <a:lstStyle/>
                    <a:p>
                      <a:r>
                        <a:rPr lang="en-US" dirty="0" smtClean="0"/>
                        <a:t>Submission</a:t>
                      </a:r>
                      <a:r>
                        <a:rPr lang="en-US" baseline="0" dirty="0" smtClean="0"/>
                        <a:t> </a:t>
                      </a:r>
                      <a:r>
                        <a:rPr lang="en-US" dirty="0" smtClean="0"/>
                        <a:t>Information Package tools creation</a:t>
                      </a:r>
                      <a:endParaRPr lang="en-US" dirty="0"/>
                    </a:p>
                  </a:txBody>
                  <a:tcPr/>
                </a:tc>
                <a:tc>
                  <a:txBody>
                    <a:bodyPr/>
                    <a:lstStyle/>
                    <a:p>
                      <a:r>
                        <a:rPr lang="en-US" dirty="0" smtClean="0"/>
                        <a:t>1 week</a:t>
                      </a:r>
                      <a:endParaRPr lang="en-US" dirty="0"/>
                    </a:p>
                  </a:txBody>
                  <a:tcPr/>
                </a:tc>
                <a:tc>
                  <a:txBody>
                    <a:bodyPr/>
                    <a:lstStyle/>
                    <a:p>
                      <a:r>
                        <a:rPr lang="en-US" dirty="0" smtClean="0"/>
                        <a:t>Andy Tang</a:t>
                      </a:r>
                      <a:endParaRPr lang="en-US" dirty="0"/>
                    </a:p>
                  </a:txBody>
                  <a:tcPr/>
                </a:tc>
                <a:tc>
                  <a:txBody>
                    <a:bodyPr/>
                    <a:lstStyle/>
                    <a:p>
                      <a:endParaRPr lang="en-US" dirty="0"/>
                    </a:p>
                  </a:txBody>
                  <a:tcPr/>
                </a:tc>
              </a:tr>
              <a:tr h="586117">
                <a:tc>
                  <a:txBody>
                    <a:bodyPr/>
                    <a:lstStyle/>
                    <a:p>
                      <a:r>
                        <a:rPr lang="en-US" dirty="0" smtClean="0"/>
                        <a:t>Metadata processing and SIP preparation/importing</a:t>
                      </a:r>
                      <a:endParaRPr lang="en-US" dirty="0"/>
                    </a:p>
                  </a:txBody>
                  <a:tcPr/>
                </a:tc>
                <a:tc>
                  <a:txBody>
                    <a:bodyPr/>
                    <a:lstStyle/>
                    <a:p>
                      <a:r>
                        <a:rPr lang="en-US" dirty="0" smtClean="0"/>
                        <a:t>2 days</a:t>
                      </a:r>
                      <a:endParaRPr lang="en-US" dirty="0"/>
                    </a:p>
                  </a:txBody>
                  <a:tcPr/>
                </a:tc>
                <a:tc>
                  <a:txBody>
                    <a:bodyPr/>
                    <a:lstStyle/>
                    <a:p>
                      <a:r>
                        <a:rPr lang="en-US" dirty="0" smtClean="0"/>
                        <a:t>Andy Tang</a:t>
                      </a:r>
                      <a:endParaRPr lang="en-US" dirty="0"/>
                    </a:p>
                  </a:txBody>
                  <a:tcPr/>
                </a:tc>
                <a:tc>
                  <a:txBody>
                    <a:bodyPr/>
                    <a:lstStyle/>
                    <a:p>
                      <a:endParaRPr lang="en-US" dirty="0"/>
                    </a:p>
                  </a:txBody>
                  <a:tcPr/>
                </a:tc>
              </a:tr>
              <a:tr h="790040">
                <a:tc>
                  <a:txBody>
                    <a:bodyPr/>
                    <a:lstStyle/>
                    <a:p>
                      <a:r>
                        <a:rPr lang="en-US" dirty="0" smtClean="0"/>
                        <a:t>Web Interface</a:t>
                      </a:r>
                      <a:r>
                        <a:rPr lang="en-US" baseline="0" dirty="0" smtClean="0"/>
                        <a:t> customization</a:t>
                      </a:r>
                      <a:endParaRPr lang="en-US" dirty="0"/>
                    </a:p>
                  </a:txBody>
                  <a:tcPr/>
                </a:tc>
                <a:tc>
                  <a:txBody>
                    <a:bodyPr/>
                    <a:lstStyle/>
                    <a:p>
                      <a:r>
                        <a:rPr lang="en-US" dirty="0" smtClean="0"/>
                        <a:t>1 week</a:t>
                      </a:r>
                      <a:endParaRPr lang="en-US" dirty="0"/>
                    </a:p>
                  </a:txBody>
                  <a:tcPr/>
                </a:tc>
                <a:tc>
                  <a:txBody>
                    <a:bodyPr/>
                    <a:lstStyle/>
                    <a:p>
                      <a:r>
                        <a:rPr lang="en-US" dirty="0" smtClean="0"/>
                        <a:t>Andy</a:t>
                      </a:r>
                      <a:r>
                        <a:rPr lang="en-US" baseline="0" dirty="0" smtClean="0"/>
                        <a:t> Tang</a:t>
                      </a:r>
                      <a:endParaRPr lang="en-US" dirty="0"/>
                    </a:p>
                  </a:txBody>
                  <a:tcPr/>
                </a:tc>
                <a:tc>
                  <a:txBody>
                    <a:bodyPr/>
                    <a:lstStyle/>
                    <a:p>
                      <a:endParaRPr lang="en-US" dirty="0"/>
                    </a:p>
                  </a:txBody>
                  <a:tcPr/>
                </a:tc>
              </a:tr>
            </a:tbl>
          </a:graphicData>
        </a:graphic>
      </p:graphicFrame>
    </p:spTree>
    <p:extLst>
      <p:ext uri="{BB962C8B-B14F-4D97-AF65-F5344CB8AC3E}">
        <p14:creationId xmlns:p14="http://schemas.microsoft.com/office/powerpoint/2010/main" xmlns="" val="14670934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rPr>
              <a:t>Stakeholder interaction </a:t>
            </a:r>
            <a:endParaRPr lang="en-US" dirty="0">
              <a:solidFill>
                <a:srgbClr val="002060"/>
              </a:solidFill>
            </a:endParaRPr>
          </a:p>
        </p:txBody>
      </p:sp>
      <p:sp>
        <p:nvSpPr>
          <p:cNvPr id="3" name="Content Placeholder 2"/>
          <p:cNvSpPr>
            <a:spLocks noGrp="1"/>
          </p:cNvSpPr>
          <p:nvPr>
            <p:ph idx="1"/>
          </p:nvPr>
        </p:nvSpPr>
        <p:spPr/>
        <p:txBody>
          <a:bodyPr/>
          <a:lstStyle/>
          <a:p>
            <a:r>
              <a:rPr lang="en-US" dirty="0" smtClean="0"/>
              <a:t>Local government</a:t>
            </a:r>
          </a:p>
          <a:p>
            <a:r>
              <a:rPr lang="en-US" dirty="0" smtClean="0"/>
              <a:t>The public</a:t>
            </a:r>
          </a:p>
          <a:p>
            <a:r>
              <a:rPr lang="en-US" dirty="0" smtClean="0"/>
              <a:t>Library staff</a:t>
            </a:r>
          </a:p>
          <a:p>
            <a:r>
              <a:rPr lang="en-US" dirty="0" smtClean="0"/>
              <a:t>IT </a:t>
            </a:r>
          </a:p>
          <a:p>
            <a:r>
              <a:rPr lang="en-US" dirty="0" smtClean="0"/>
              <a:t>College Administration Level</a:t>
            </a:r>
          </a:p>
          <a:p>
            <a:endParaRPr lang="en-US" dirty="0"/>
          </a:p>
        </p:txBody>
      </p:sp>
      <p:pic>
        <p:nvPicPr>
          <p:cNvPr id="32771" name="Picture 3"/>
          <p:cNvPicPr>
            <a:picLocks noChangeAspect="1" noChangeArrowheads="1"/>
          </p:cNvPicPr>
          <p:nvPr/>
        </p:nvPicPr>
        <p:blipFill>
          <a:blip r:embed="rId2"/>
          <a:srcRect/>
          <a:stretch>
            <a:fillRect/>
          </a:stretch>
        </p:blipFill>
        <p:spPr bwMode="auto">
          <a:xfrm>
            <a:off x="4071934" y="1714488"/>
            <a:ext cx="857256" cy="522088"/>
          </a:xfrm>
          <a:prstGeom prst="rect">
            <a:avLst/>
          </a:prstGeom>
          <a:noFill/>
          <a:ln w="9525">
            <a:noFill/>
            <a:miter lim="800000"/>
            <a:headEnd/>
            <a:tailEnd/>
          </a:ln>
          <a:effectLst/>
        </p:spPr>
      </p:pic>
      <p:pic>
        <p:nvPicPr>
          <p:cNvPr id="32772" name="Picture 4"/>
          <p:cNvPicPr>
            <a:picLocks noChangeAspect="1" noChangeArrowheads="1"/>
          </p:cNvPicPr>
          <p:nvPr/>
        </p:nvPicPr>
        <p:blipFill>
          <a:blip r:embed="rId3"/>
          <a:srcRect/>
          <a:stretch>
            <a:fillRect/>
          </a:stretch>
        </p:blipFill>
        <p:spPr bwMode="auto">
          <a:xfrm>
            <a:off x="2857488" y="2214554"/>
            <a:ext cx="1071570" cy="533667"/>
          </a:xfrm>
          <a:prstGeom prst="rect">
            <a:avLst/>
          </a:prstGeom>
          <a:noFill/>
          <a:ln w="9525">
            <a:noFill/>
            <a:miter lim="800000"/>
            <a:headEnd/>
            <a:tailEnd/>
          </a:ln>
          <a:effectLst/>
        </p:spPr>
      </p:pic>
      <p:pic>
        <p:nvPicPr>
          <p:cNvPr id="32774" name="Picture 6"/>
          <p:cNvPicPr>
            <a:picLocks noChangeAspect="1" noChangeArrowheads="1"/>
          </p:cNvPicPr>
          <p:nvPr/>
        </p:nvPicPr>
        <p:blipFill>
          <a:blip r:embed="rId4" cstate="print"/>
          <a:srcRect/>
          <a:stretch>
            <a:fillRect/>
          </a:stretch>
        </p:blipFill>
        <p:spPr bwMode="auto">
          <a:xfrm>
            <a:off x="3143240" y="2857496"/>
            <a:ext cx="1285884" cy="546006"/>
          </a:xfrm>
          <a:prstGeom prst="rect">
            <a:avLst/>
          </a:prstGeom>
          <a:noFill/>
          <a:ln w="9525">
            <a:noFill/>
            <a:miter lim="800000"/>
            <a:headEnd/>
            <a:tailEnd/>
          </a:ln>
          <a:effectLst/>
        </p:spPr>
      </p:pic>
      <p:pic>
        <p:nvPicPr>
          <p:cNvPr id="32776" name="Picture 8"/>
          <p:cNvPicPr>
            <a:picLocks noChangeAspect="1" noChangeArrowheads="1"/>
          </p:cNvPicPr>
          <p:nvPr/>
        </p:nvPicPr>
        <p:blipFill>
          <a:blip r:embed="rId5" cstate="print"/>
          <a:srcRect/>
          <a:stretch>
            <a:fillRect/>
          </a:stretch>
        </p:blipFill>
        <p:spPr bwMode="auto">
          <a:xfrm>
            <a:off x="1571604" y="3357562"/>
            <a:ext cx="657224" cy="653312"/>
          </a:xfrm>
          <a:prstGeom prst="rect">
            <a:avLst/>
          </a:prstGeom>
          <a:noFill/>
          <a:ln w="9525">
            <a:noFill/>
            <a:miter lim="800000"/>
            <a:headEnd/>
            <a:tailEnd/>
          </a:ln>
          <a:effectLst/>
        </p:spPr>
      </p:pic>
      <p:pic>
        <p:nvPicPr>
          <p:cNvPr id="32778" name="Picture 10"/>
          <p:cNvPicPr>
            <a:picLocks noChangeAspect="1" noChangeArrowheads="1"/>
          </p:cNvPicPr>
          <p:nvPr/>
        </p:nvPicPr>
        <p:blipFill>
          <a:blip r:embed="rId6" cstate="print"/>
          <a:srcRect/>
          <a:stretch>
            <a:fillRect/>
          </a:stretch>
        </p:blipFill>
        <p:spPr bwMode="auto">
          <a:xfrm>
            <a:off x="5857884" y="3857628"/>
            <a:ext cx="752474" cy="728459"/>
          </a:xfrm>
          <a:prstGeom prst="rect">
            <a:avLst/>
          </a:prstGeom>
          <a:noFill/>
          <a:ln w="9525">
            <a:noFill/>
            <a:miter lim="800000"/>
            <a:headEnd/>
            <a:tailEnd/>
          </a:ln>
          <a:effectLst/>
        </p:spPr>
      </p:pic>
    </p:spTree>
    <p:extLst>
      <p:ext uri="{BB962C8B-B14F-4D97-AF65-F5344CB8AC3E}">
        <p14:creationId xmlns:p14="http://schemas.microsoft.com/office/powerpoint/2010/main" xmlns="" val="157918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smtClean="0"/>
              <a:t>System selection</a:t>
            </a:r>
            <a:endParaRPr lang="en-US" dirty="0"/>
          </a:p>
        </p:txBody>
      </p:sp>
      <p:sp>
        <p:nvSpPr>
          <p:cNvPr id="20483" name="Rectangle 3"/>
          <p:cNvSpPr>
            <a:spLocks noGrp="1" noChangeArrowheads="1"/>
          </p:cNvSpPr>
          <p:nvPr>
            <p:ph type="body" idx="1"/>
          </p:nvPr>
        </p:nvSpPr>
        <p:spPr/>
        <p:txBody>
          <a:bodyPr/>
          <a:lstStyle/>
          <a:p>
            <a:r>
              <a:rPr lang="en-US" dirty="0" smtClean="0"/>
              <a:t>DSpace – Digital Repository system</a:t>
            </a:r>
          </a:p>
          <a:p>
            <a:pPr lvl="2"/>
            <a:endParaRPr lang="en-US" dirty="0" smtClean="0"/>
          </a:p>
          <a:p>
            <a:pPr lvl="2">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xmlns="" val="621394639"/>
              </p:ext>
            </p:extLst>
          </p:nvPr>
        </p:nvGraphicFramePr>
        <p:xfrm>
          <a:off x="714348" y="2357430"/>
          <a:ext cx="7358114" cy="3948573"/>
        </p:xfrm>
        <a:graphic>
          <a:graphicData uri="http://schemas.openxmlformats.org/drawingml/2006/table">
            <a:tbl>
              <a:tblPr firstRow="1" bandRow="1">
                <a:tableStyleId>{5C22544A-7EE6-4342-B048-85BDC9FD1C3A}</a:tableStyleId>
              </a:tblPr>
              <a:tblGrid>
                <a:gridCol w="3679057"/>
                <a:gridCol w="3679057"/>
              </a:tblGrid>
              <a:tr h="509280">
                <a:tc>
                  <a:txBody>
                    <a:bodyPr/>
                    <a:lstStyle/>
                    <a:p>
                      <a:r>
                        <a:rPr lang="en-US" dirty="0" smtClean="0"/>
                        <a:t>Pros</a:t>
                      </a:r>
                      <a:endParaRPr lang="en-US" dirty="0"/>
                    </a:p>
                  </a:txBody>
                  <a:tcPr anchor="ctr"/>
                </a:tc>
                <a:tc>
                  <a:txBody>
                    <a:bodyPr/>
                    <a:lstStyle/>
                    <a:p>
                      <a:r>
                        <a:rPr lang="en-US" dirty="0" smtClean="0"/>
                        <a:t>Cons</a:t>
                      </a:r>
                      <a:endParaRPr lang="en-US" dirty="0"/>
                    </a:p>
                  </a:txBody>
                  <a:tcPr anchor="ctr"/>
                </a:tc>
              </a:tr>
              <a:tr h="3439293">
                <a:tc>
                  <a:txBody>
                    <a:bodyPr/>
                    <a:lstStyle/>
                    <a:p>
                      <a:pPr lvl="0" algn="l">
                        <a:lnSpc>
                          <a:spcPts val="2400"/>
                        </a:lnSpc>
                        <a:buFont typeface="Arial" pitchFamily="34" charset="0"/>
                        <a:buChar char="•"/>
                      </a:pPr>
                      <a:r>
                        <a:rPr lang="en-US" sz="2000" dirty="0" smtClean="0"/>
                        <a:t>  Institutional Repository System</a:t>
                      </a:r>
                    </a:p>
                    <a:p>
                      <a:pPr lvl="0" algn="l">
                        <a:lnSpc>
                          <a:spcPts val="2400"/>
                        </a:lnSpc>
                        <a:buFont typeface="Arial" pitchFamily="34" charset="0"/>
                        <a:buChar char="•"/>
                      </a:pPr>
                      <a:r>
                        <a:rPr lang="en-US" sz="2000" dirty="0" smtClean="0"/>
                        <a:t>  Encompass lots of digital formats</a:t>
                      </a:r>
                    </a:p>
                    <a:p>
                      <a:pPr lvl="0" algn="l">
                        <a:lnSpc>
                          <a:spcPts val="2400"/>
                        </a:lnSpc>
                        <a:buFont typeface="Arial" pitchFamily="34" charset="0"/>
                        <a:buChar char="•"/>
                      </a:pPr>
                      <a:r>
                        <a:rPr lang="en-US" sz="2000" dirty="0" smtClean="0"/>
                        <a:t>  Allow creation, indexing, and searching of metadata</a:t>
                      </a:r>
                    </a:p>
                    <a:p>
                      <a:pPr lvl="0" algn="l">
                        <a:lnSpc>
                          <a:spcPts val="2400"/>
                        </a:lnSpc>
                        <a:buFont typeface="Arial" pitchFamily="34" charset="0"/>
                        <a:buChar char="•"/>
                      </a:pPr>
                      <a:r>
                        <a:rPr lang="en-US" sz="2000" dirty="0" smtClean="0"/>
                        <a:t>  Distribute digital microfilm to web</a:t>
                      </a:r>
                    </a:p>
                    <a:p>
                      <a:pPr lvl="0" algn="l">
                        <a:lnSpc>
                          <a:spcPts val="2400"/>
                        </a:lnSpc>
                        <a:buFont typeface="Arial" pitchFamily="34" charset="0"/>
                        <a:buChar char="•"/>
                      </a:pPr>
                      <a:r>
                        <a:rPr lang="en-US" sz="2000" dirty="0" smtClean="0">
                          <a:solidFill>
                            <a:srgbClr val="C00000"/>
                          </a:solidFill>
                        </a:rPr>
                        <a:t>  Free </a:t>
                      </a:r>
                      <a:endParaRPr lang="en-US" dirty="0"/>
                    </a:p>
                  </a:txBody>
                  <a:tcPr/>
                </a:tc>
                <a:tc>
                  <a:txBody>
                    <a:bodyPr/>
                    <a:lstStyle/>
                    <a:p>
                      <a:pPr lvl="0">
                        <a:buFont typeface="Arial" pitchFamily="34" charset="0"/>
                        <a:buChar char="•"/>
                      </a:pPr>
                      <a:r>
                        <a:rPr lang="en-US" dirty="0" smtClean="0"/>
                        <a:t>  Installation is complicated</a:t>
                      </a:r>
                    </a:p>
                    <a:p>
                      <a:pPr lvl="0">
                        <a:buFont typeface="Arial" pitchFamily="34" charset="0"/>
                        <a:buChar char="•"/>
                      </a:pPr>
                      <a:r>
                        <a:rPr lang="en-US" dirty="0" smtClean="0"/>
                        <a:t>  SIP preparation is not very easy.</a:t>
                      </a:r>
                    </a:p>
                    <a:p>
                      <a:endParaRPr lang="en-US" dirty="0"/>
                    </a:p>
                  </a:txBody>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smtClean="0"/>
              <a:t>1</a:t>
            </a:r>
            <a:r>
              <a:rPr lang="en-US" baseline="30000" dirty="0" smtClean="0"/>
              <a:t>st</a:t>
            </a:r>
            <a:r>
              <a:rPr lang="en-US" dirty="0" smtClean="0"/>
              <a:t> step: Digitization</a:t>
            </a:r>
            <a:endParaRPr lang="en-US" dirty="0"/>
          </a:p>
        </p:txBody>
      </p:sp>
      <p:sp>
        <p:nvSpPr>
          <p:cNvPr id="31750" name="Rectangle 6"/>
          <p:cNvSpPr>
            <a:spLocks noGrp="1" noChangeArrowheads="1"/>
          </p:cNvSpPr>
          <p:nvPr>
            <p:ph type="body" sz="half" idx="1"/>
          </p:nvPr>
        </p:nvSpPr>
        <p:spPr/>
        <p:txBody>
          <a:bodyPr/>
          <a:lstStyle/>
          <a:p>
            <a:r>
              <a:rPr lang="en-US" sz="2600" dirty="0" smtClean="0"/>
              <a:t>Hardware</a:t>
            </a:r>
          </a:p>
          <a:p>
            <a:endParaRPr lang="en-US" sz="2600" dirty="0" smtClean="0"/>
          </a:p>
          <a:p>
            <a:endParaRPr lang="en-US" sz="2600" dirty="0"/>
          </a:p>
          <a:p>
            <a:r>
              <a:rPr lang="en-US" sz="2600" dirty="0" smtClean="0"/>
              <a:t>Software</a:t>
            </a:r>
          </a:p>
          <a:p>
            <a:endParaRPr lang="en-US" sz="2600" dirty="0" smtClean="0"/>
          </a:p>
          <a:p>
            <a:endParaRPr lang="en-US" sz="2600" dirty="0" smtClean="0"/>
          </a:p>
          <a:p>
            <a:r>
              <a:rPr lang="en-US" sz="2600" dirty="0" smtClean="0"/>
              <a:t>Training</a:t>
            </a:r>
            <a:endParaRPr lang="en-US" sz="2600" dirty="0"/>
          </a:p>
        </p:txBody>
      </p:sp>
      <p:pic>
        <p:nvPicPr>
          <p:cNvPr id="4098" name="Picture 2"/>
          <p:cNvPicPr>
            <a:picLocks noChangeAspect="1" noChangeArrowheads="1"/>
          </p:cNvPicPr>
          <p:nvPr/>
        </p:nvPicPr>
        <p:blipFill>
          <a:blip r:embed="rId2"/>
          <a:srcRect/>
          <a:stretch>
            <a:fillRect/>
          </a:stretch>
        </p:blipFill>
        <p:spPr bwMode="auto">
          <a:xfrm>
            <a:off x="4500562" y="1785926"/>
            <a:ext cx="1428760" cy="1102186"/>
          </a:xfrm>
          <a:prstGeom prst="rect">
            <a:avLst/>
          </a:prstGeom>
          <a:noFill/>
          <a:ln w="9525">
            <a:noFill/>
            <a:miter lim="800000"/>
            <a:headEnd/>
            <a:tailEnd/>
          </a:ln>
          <a:effectLst/>
        </p:spPr>
      </p:pic>
      <p:pic>
        <p:nvPicPr>
          <p:cNvPr id="4100" name="Picture 4"/>
          <p:cNvPicPr>
            <a:picLocks noChangeAspect="1" noChangeArrowheads="1"/>
          </p:cNvPicPr>
          <p:nvPr/>
        </p:nvPicPr>
        <p:blipFill>
          <a:blip r:embed="rId3"/>
          <a:srcRect/>
          <a:stretch>
            <a:fillRect/>
          </a:stretch>
        </p:blipFill>
        <p:spPr bwMode="auto">
          <a:xfrm>
            <a:off x="5214942" y="4500570"/>
            <a:ext cx="1686871" cy="1295403"/>
          </a:xfrm>
          <a:prstGeom prst="rect">
            <a:avLst/>
          </a:prstGeom>
          <a:noFill/>
          <a:ln w="9525">
            <a:noFill/>
            <a:miter lim="800000"/>
            <a:headEnd/>
            <a:tailEnd/>
          </a:ln>
          <a:effectLst/>
        </p:spPr>
      </p:pic>
      <p:pic>
        <p:nvPicPr>
          <p:cNvPr id="4101" name="Picture 5"/>
          <p:cNvPicPr>
            <a:picLocks noChangeAspect="1" noChangeArrowheads="1"/>
          </p:cNvPicPr>
          <p:nvPr/>
        </p:nvPicPr>
        <p:blipFill>
          <a:blip r:embed="rId4"/>
          <a:srcRect/>
          <a:stretch>
            <a:fillRect/>
          </a:stretch>
        </p:blipFill>
        <p:spPr bwMode="auto">
          <a:xfrm>
            <a:off x="5357818" y="3214686"/>
            <a:ext cx="1357322" cy="717442"/>
          </a:xfrm>
          <a:prstGeom prst="rect">
            <a:avLst/>
          </a:prstGeom>
          <a:noFill/>
          <a:ln w="9525">
            <a:noFill/>
            <a:miter lim="800000"/>
            <a:headEnd/>
            <a:tailEnd/>
          </a:ln>
          <a:effectLst/>
        </p:spPr>
      </p:pic>
      <p:pic>
        <p:nvPicPr>
          <p:cNvPr id="29697" name="Picture 1"/>
          <p:cNvPicPr>
            <a:picLocks noChangeAspect="1" noChangeArrowheads="1"/>
          </p:cNvPicPr>
          <p:nvPr/>
        </p:nvPicPr>
        <p:blipFill>
          <a:blip r:embed="rId5"/>
          <a:srcRect/>
          <a:stretch>
            <a:fillRect/>
          </a:stretch>
        </p:blipFill>
        <p:spPr bwMode="auto">
          <a:xfrm>
            <a:off x="6715140" y="1643050"/>
            <a:ext cx="1638300" cy="1276350"/>
          </a:xfrm>
          <a:prstGeom prst="rect">
            <a:avLst/>
          </a:prstGeom>
          <a:noFill/>
          <a:ln w="9525">
            <a:noFill/>
            <a:miter lim="800000"/>
            <a:headEnd/>
            <a:tailEnd/>
          </a:ln>
          <a:effectLst/>
        </p:spPr>
      </p:pic>
      <p:cxnSp>
        <p:nvCxnSpPr>
          <p:cNvPr id="9" name="Straight Connector 8"/>
          <p:cNvCxnSpPr/>
          <p:nvPr/>
        </p:nvCxnSpPr>
        <p:spPr bwMode="auto">
          <a:xfrm>
            <a:off x="6072198" y="2357430"/>
            <a:ext cx="428628"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Straight Connector 10"/>
          <p:cNvCxnSpPr/>
          <p:nvPr/>
        </p:nvCxnSpPr>
        <p:spPr bwMode="auto">
          <a:xfrm rot="5400000">
            <a:off x="6072198" y="2357430"/>
            <a:ext cx="428628"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dirty="0" smtClean="0"/>
              <a:t>2</a:t>
            </a:r>
            <a:r>
              <a:rPr lang="en-US" baseline="30000" dirty="0" smtClean="0"/>
              <a:t>nd</a:t>
            </a:r>
            <a:r>
              <a:rPr lang="en-US" dirty="0" smtClean="0"/>
              <a:t> step: Server purchasing and DSpace installation</a:t>
            </a:r>
            <a:endParaRPr lang="en-US" dirty="0"/>
          </a:p>
        </p:txBody>
      </p:sp>
      <p:sp>
        <p:nvSpPr>
          <p:cNvPr id="38915" name="Rectangle 3"/>
          <p:cNvSpPr>
            <a:spLocks noGrp="1" noChangeArrowheads="1"/>
          </p:cNvSpPr>
          <p:nvPr>
            <p:ph type="body" idx="1"/>
          </p:nvPr>
        </p:nvSpPr>
        <p:spPr>
          <a:xfrm>
            <a:off x="428596" y="1571613"/>
            <a:ext cx="8358246" cy="4429156"/>
          </a:xfrm>
        </p:spPr>
        <p:txBody>
          <a:bodyPr/>
          <a:lstStyle/>
          <a:p>
            <a:r>
              <a:rPr lang="en-US" dirty="0" smtClean="0"/>
              <a:t>Hardware: </a:t>
            </a:r>
            <a:r>
              <a:rPr lang="en-US" sz="2400" dirty="0" smtClean="0"/>
              <a:t>Dell server </a:t>
            </a:r>
            <a:r>
              <a:rPr lang="en-US" sz="2400" dirty="0" err="1" smtClean="0"/>
              <a:t>PowerEdge</a:t>
            </a:r>
            <a:r>
              <a:rPr lang="en-US" sz="2400" dirty="0" smtClean="0"/>
              <a:t> R720</a:t>
            </a:r>
            <a:endParaRPr lang="en-US" dirty="0" smtClean="0"/>
          </a:p>
          <a:p>
            <a:r>
              <a:rPr lang="en-US" dirty="0" smtClean="0"/>
              <a:t>Software:</a:t>
            </a:r>
          </a:p>
          <a:p>
            <a:pPr lvl="1"/>
            <a:r>
              <a:rPr lang="en-US" dirty="0" smtClean="0"/>
              <a:t>Platform – </a:t>
            </a:r>
            <a:r>
              <a:rPr lang="en-US" dirty="0" err="1" smtClean="0"/>
              <a:t>Redhat</a:t>
            </a:r>
            <a:r>
              <a:rPr lang="en-US" dirty="0" smtClean="0"/>
              <a:t> </a:t>
            </a:r>
            <a:r>
              <a:rPr lang="en-US" dirty="0" err="1" smtClean="0"/>
              <a:t>linux</a:t>
            </a:r>
            <a:r>
              <a:rPr lang="en-US" dirty="0" smtClean="0"/>
              <a:t> 6.4</a:t>
            </a:r>
          </a:p>
          <a:p>
            <a:pPr lvl="1"/>
            <a:r>
              <a:rPr lang="en-US" dirty="0" err="1" smtClean="0"/>
              <a:t>Javaserver</a:t>
            </a:r>
            <a:r>
              <a:rPr lang="en-US" dirty="0" smtClean="0"/>
              <a:t> - Tomcat</a:t>
            </a:r>
          </a:p>
          <a:p>
            <a:pPr lvl="1"/>
            <a:r>
              <a:rPr lang="en-US" dirty="0" smtClean="0"/>
              <a:t>Database – </a:t>
            </a:r>
            <a:r>
              <a:rPr lang="en-US" dirty="0" err="1" smtClean="0"/>
              <a:t>PostGreSQL</a:t>
            </a:r>
            <a:endParaRPr lang="en-US" dirty="0" smtClean="0"/>
          </a:p>
          <a:p>
            <a:pPr lvl="1"/>
            <a:r>
              <a:rPr lang="en-US" dirty="0" smtClean="0"/>
              <a:t>Packaging - Maven</a:t>
            </a:r>
          </a:p>
          <a:p>
            <a:pPr lvl="1"/>
            <a:r>
              <a:rPr lang="en-US" dirty="0" smtClean="0"/>
              <a:t>Building - Ant</a:t>
            </a:r>
          </a:p>
          <a:p>
            <a:endParaRPr lang="en-US" dirty="0" smtClean="0"/>
          </a:p>
          <a:p>
            <a:endParaRPr lang="en-US" dirty="0" smtClean="0"/>
          </a:p>
          <a:p>
            <a:endParaRPr lang="en-US" dirty="0"/>
          </a:p>
        </p:txBody>
      </p:sp>
      <p:pic>
        <p:nvPicPr>
          <p:cNvPr id="5122" name="Picture 2"/>
          <p:cNvPicPr>
            <a:picLocks noChangeAspect="1" noChangeArrowheads="1"/>
          </p:cNvPicPr>
          <p:nvPr/>
        </p:nvPicPr>
        <p:blipFill>
          <a:blip r:embed="rId3"/>
          <a:srcRect/>
          <a:stretch>
            <a:fillRect/>
          </a:stretch>
        </p:blipFill>
        <p:spPr bwMode="auto">
          <a:xfrm>
            <a:off x="6215074" y="4786322"/>
            <a:ext cx="2428892" cy="1718451"/>
          </a:xfrm>
          <a:prstGeom prst="rect">
            <a:avLst/>
          </a:prstGeom>
          <a:noFill/>
          <a:ln w="9525">
            <a:noFill/>
            <a:miter lim="800000"/>
            <a:headEnd/>
            <a:tailEnd/>
          </a:ln>
          <a:effectLst/>
        </p:spPr>
      </p:pic>
      <p:pic>
        <p:nvPicPr>
          <p:cNvPr id="28673" name="Picture 1"/>
          <p:cNvPicPr>
            <a:picLocks noChangeAspect="1" noChangeArrowheads="1"/>
          </p:cNvPicPr>
          <p:nvPr/>
        </p:nvPicPr>
        <p:blipFill>
          <a:blip r:embed="rId4"/>
          <a:srcRect/>
          <a:stretch>
            <a:fillRect/>
          </a:stretch>
        </p:blipFill>
        <p:spPr bwMode="auto">
          <a:xfrm>
            <a:off x="6929454" y="1714488"/>
            <a:ext cx="1681163" cy="770316"/>
          </a:xfrm>
          <a:prstGeom prst="rect">
            <a:avLst/>
          </a:prstGeom>
          <a:noFill/>
          <a:ln w="9525">
            <a:noFill/>
            <a:miter lim="800000"/>
            <a:headEnd/>
            <a:tailEnd/>
          </a:ln>
          <a:effectLst/>
        </p:spPr>
      </p:pic>
      <p:pic>
        <p:nvPicPr>
          <p:cNvPr id="28674" name="Picture 2"/>
          <p:cNvPicPr>
            <a:picLocks noChangeAspect="1" noChangeArrowheads="1"/>
          </p:cNvPicPr>
          <p:nvPr/>
        </p:nvPicPr>
        <p:blipFill>
          <a:blip r:embed="rId5" cstate="print"/>
          <a:srcRect/>
          <a:stretch>
            <a:fillRect/>
          </a:stretch>
        </p:blipFill>
        <p:spPr bwMode="auto">
          <a:xfrm>
            <a:off x="5357818" y="2571744"/>
            <a:ext cx="576260" cy="534871"/>
          </a:xfrm>
          <a:prstGeom prst="rect">
            <a:avLst/>
          </a:prstGeom>
          <a:noFill/>
          <a:ln w="9525">
            <a:noFill/>
            <a:miter lim="800000"/>
            <a:headEnd/>
            <a:tailEnd/>
          </a:ln>
          <a:effectLst/>
        </p:spPr>
      </p:pic>
      <p:pic>
        <p:nvPicPr>
          <p:cNvPr id="28675" name="Picture 3"/>
          <p:cNvPicPr>
            <a:picLocks noChangeAspect="1" noChangeArrowheads="1"/>
          </p:cNvPicPr>
          <p:nvPr/>
        </p:nvPicPr>
        <p:blipFill>
          <a:blip r:embed="rId6" cstate="print"/>
          <a:srcRect/>
          <a:stretch>
            <a:fillRect/>
          </a:stretch>
        </p:blipFill>
        <p:spPr bwMode="auto">
          <a:xfrm>
            <a:off x="4572000" y="3071810"/>
            <a:ext cx="566736" cy="577103"/>
          </a:xfrm>
          <a:prstGeom prst="rect">
            <a:avLst/>
          </a:prstGeom>
          <a:noFill/>
          <a:ln w="9525">
            <a:noFill/>
            <a:miter lim="800000"/>
            <a:headEnd/>
            <a:tailEnd/>
          </a:ln>
          <a:effectLst/>
        </p:spPr>
      </p:pic>
      <p:pic>
        <p:nvPicPr>
          <p:cNvPr id="28676" name="Picture 4"/>
          <p:cNvPicPr>
            <a:picLocks noChangeAspect="1" noChangeArrowheads="1"/>
          </p:cNvPicPr>
          <p:nvPr/>
        </p:nvPicPr>
        <p:blipFill>
          <a:blip r:embed="rId7" cstate="print"/>
          <a:srcRect/>
          <a:stretch>
            <a:fillRect/>
          </a:stretch>
        </p:blipFill>
        <p:spPr bwMode="auto">
          <a:xfrm>
            <a:off x="5429256" y="3571877"/>
            <a:ext cx="510997" cy="500066"/>
          </a:xfrm>
          <a:prstGeom prst="rect">
            <a:avLst/>
          </a:prstGeom>
          <a:noFill/>
          <a:ln w="9525">
            <a:noFill/>
            <a:miter lim="800000"/>
            <a:headEnd/>
            <a:tailEnd/>
          </a:ln>
          <a:effectLst/>
        </p:spPr>
      </p:pic>
      <p:pic>
        <p:nvPicPr>
          <p:cNvPr id="28677" name="Picture 5"/>
          <p:cNvPicPr>
            <a:picLocks noChangeAspect="1" noChangeArrowheads="1"/>
          </p:cNvPicPr>
          <p:nvPr/>
        </p:nvPicPr>
        <p:blipFill>
          <a:blip r:embed="rId8" cstate="print"/>
          <a:srcRect/>
          <a:stretch>
            <a:fillRect/>
          </a:stretch>
        </p:blipFill>
        <p:spPr bwMode="auto">
          <a:xfrm>
            <a:off x="4000496" y="4214818"/>
            <a:ext cx="1008933" cy="347673"/>
          </a:xfrm>
          <a:prstGeom prst="rect">
            <a:avLst/>
          </a:prstGeom>
          <a:noFill/>
          <a:ln w="9525">
            <a:noFill/>
            <a:miter lim="800000"/>
            <a:headEnd/>
            <a:tailEnd/>
          </a:ln>
          <a:effectLst/>
        </p:spPr>
      </p:pic>
      <p:pic>
        <p:nvPicPr>
          <p:cNvPr id="28678" name="Picture 6"/>
          <p:cNvPicPr>
            <a:picLocks noChangeAspect="1" noChangeArrowheads="1"/>
          </p:cNvPicPr>
          <p:nvPr/>
        </p:nvPicPr>
        <p:blipFill>
          <a:blip r:embed="rId9" cstate="print"/>
          <a:srcRect/>
          <a:stretch>
            <a:fillRect/>
          </a:stretch>
        </p:blipFill>
        <p:spPr bwMode="auto">
          <a:xfrm>
            <a:off x="5000628" y="4572008"/>
            <a:ext cx="680058" cy="428628"/>
          </a:xfrm>
          <a:prstGeom prst="rect">
            <a:avLst/>
          </a:prstGeom>
          <a:noFill/>
          <a:ln w="9525">
            <a:noFill/>
            <a:miter lim="800000"/>
            <a:headEnd/>
            <a:tailEnd/>
          </a:ln>
          <a:effectLst/>
        </p:spPr>
      </p:pic>
      <p:sp>
        <p:nvSpPr>
          <p:cNvPr id="11" name="TextBox 10"/>
          <p:cNvSpPr txBox="1"/>
          <p:nvPr/>
        </p:nvSpPr>
        <p:spPr>
          <a:xfrm>
            <a:off x="571472" y="6215082"/>
            <a:ext cx="4643470" cy="369332"/>
          </a:xfrm>
          <a:prstGeom prst="rect">
            <a:avLst/>
          </a:prstGeom>
          <a:noFill/>
        </p:spPr>
        <p:txBody>
          <a:bodyPr wrap="square" rtlCol="0">
            <a:spAutoFit/>
          </a:bodyPr>
          <a:lstStyle/>
          <a:p>
            <a:r>
              <a:rPr lang="en-US" dirty="0" smtClean="0">
                <a:solidFill>
                  <a:srgbClr val="C00000"/>
                </a:solidFill>
              </a:rPr>
              <a:t>Installation process see appendix II</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dirty="0" smtClean="0"/>
              <a:t>DSpace interface</a:t>
            </a:r>
            <a:endParaRPr lang="en-US" dirty="0"/>
          </a:p>
        </p:txBody>
      </p:sp>
      <p:pic>
        <p:nvPicPr>
          <p:cNvPr id="6146" name="Picture 2"/>
          <p:cNvPicPr>
            <a:picLocks noChangeAspect="1" noChangeArrowheads="1"/>
          </p:cNvPicPr>
          <p:nvPr/>
        </p:nvPicPr>
        <p:blipFill>
          <a:blip r:embed="rId2"/>
          <a:srcRect/>
          <a:stretch>
            <a:fillRect/>
          </a:stretch>
        </p:blipFill>
        <p:spPr bwMode="auto">
          <a:xfrm>
            <a:off x="1428728" y="1571612"/>
            <a:ext cx="4929222" cy="496642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571472" y="214290"/>
            <a:ext cx="7543800" cy="1295400"/>
          </a:xfrm>
        </p:spPr>
        <p:txBody>
          <a:bodyPr/>
          <a:lstStyle/>
          <a:p>
            <a:r>
              <a:rPr lang="en-US" sz="3200" dirty="0" smtClean="0"/>
              <a:t>3</a:t>
            </a:r>
            <a:r>
              <a:rPr lang="en-US" sz="3200" baseline="30000" dirty="0" smtClean="0"/>
              <a:t>rd</a:t>
            </a:r>
            <a:r>
              <a:rPr lang="en-US" sz="3200" dirty="0" smtClean="0"/>
              <a:t> step: Prepare </a:t>
            </a:r>
            <a:r>
              <a:rPr lang="en-US" sz="3200" dirty="0" smtClean="0">
                <a:solidFill>
                  <a:srgbClr val="C00000"/>
                </a:solidFill>
              </a:rPr>
              <a:t>SIP</a:t>
            </a:r>
            <a:r>
              <a:rPr lang="en-US" sz="3200" dirty="0" smtClean="0"/>
              <a:t> for the preparation to inject data into DSpace</a:t>
            </a:r>
            <a:endParaRPr lang="en-US" sz="3200" dirty="0"/>
          </a:p>
        </p:txBody>
      </p:sp>
      <p:pic>
        <p:nvPicPr>
          <p:cNvPr id="7170" name="Picture 2"/>
          <p:cNvPicPr>
            <a:picLocks noChangeAspect="1" noChangeArrowheads="1"/>
          </p:cNvPicPr>
          <p:nvPr/>
        </p:nvPicPr>
        <p:blipFill>
          <a:blip r:embed="rId3"/>
          <a:srcRect/>
          <a:stretch>
            <a:fillRect/>
          </a:stretch>
        </p:blipFill>
        <p:spPr bwMode="auto">
          <a:xfrm>
            <a:off x="500034" y="2571744"/>
            <a:ext cx="2771775" cy="2419350"/>
          </a:xfrm>
          <a:prstGeom prst="rect">
            <a:avLst/>
          </a:prstGeom>
          <a:noFill/>
          <a:ln w="9525">
            <a:noFill/>
            <a:miter lim="800000"/>
            <a:headEnd/>
            <a:tailEnd/>
          </a:ln>
          <a:effectLst/>
        </p:spPr>
      </p:pic>
      <p:pic>
        <p:nvPicPr>
          <p:cNvPr id="7172" name="Picture 4"/>
          <p:cNvPicPr>
            <a:picLocks noChangeAspect="1" noChangeArrowheads="1"/>
          </p:cNvPicPr>
          <p:nvPr/>
        </p:nvPicPr>
        <p:blipFill>
          <a:blip r:embed="rId4"/>
          <a:srcRect/>
          <a:stretch>
            <a:fillRect/>
          </a:stretch>
        </p:blipFill>
        <p:spPr bwMode="auto">
          <a:xfrm>
            <a:off x="5143504" y="1643050"/>
            <a:ext cx="3643338" cy="1071570"/>
          </a:xfrm>
          <a:prstGeom prst="rect">
            <a:avLst/>
          </a:prstGeom>
          <a:noFill/>
          <a:ln w="9525">
            <a:noFill/>
            <a:miter lim="800000"/>
            <a:headEnd/>
            <a:tailEnd/>
          </a:ln>
          <a:effectLst/>
        </p:spPr>
      </p:pic>
      <p:sp>
        <p:nvSpPr>
          <p:cNvPr id="9" name="Left Brace 8"/>
          <p:cNvSpPr/>
          <p:nvPr/>
        </p:nvSpPr>
        <p:spPr bwMode="auto">
          <a:xfrm>
            <a:off x="4714876" y="1857364"/>
            <a:ext cx="214314" cy="785818"/>
          </a:xfrm>
          <a:prstGeom prst="leftBrace">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cxnSp>
        <p:nvCxnSpPr>
          <p:cNvPr id="11" name="Straight Arrow Connector 10"/>
          <p:cNvCxnSpPr/>
          <p:nvPr/>
        </p:nvCxnSpPr>
        <p:spPr bwMode="auto">
          <a:xfrm flipV="1">
            <a:off x="1571604" y="2214554"/>
            <a:ext cx="3071834" cy="157163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4" name="Rectangle 13"/>
          <p:cNvSpPr/>
          <p:nvPr/>
        </p:nvSpPr>
        <p:spPr bwMode="auto">
          <a:xfrm>
            <a:off x="1071538" y="1714488"/>
            <a:ext cx="1285884" cy="57150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smtClean="0">
                <a:ln>
                  <a:noFill/>
                </a:ln>
                <a:solidFill>
                  <a:schemeClr val="tx1"/>
                </a:solidFill>
                <a:effectLst/>
                <a:latin typeface="Arial" charset="0"/>
              </a:rPr>
              <a:t>SIP</a:t>
            </a:r>
          </a:p>
        </p:txBody>
      </p:sp>
      <p:cxnSp>
        <p:nvCxnSpPr>
          <p:cNvPr id="16" name="Straight Arrow Connector 15"/>
          <p:cNvCxnSpPr/>
          <p:nvPr/>
        </p:nvCxnSpPr>
        <p:spPr bwMode="auto">
          <a:xfrm rot="5400000">
            <a:off x="1572398" y="2428074"/>
            <a:ext cx="285752"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pic>
        <p:nvPicPr>
          <p:cNvPr id="7173" name="Picture 5"/>
          <p:cNvPicPr>
            <a:picLocks noChangeAspect="1" noChangeArrowheads="1"/>
          </p:cNvPicPr>
          <p:nvPr/>
        </p:nvPicPr>
        <p:blipFill>
          <a:blip r:embed="rId5"/>
          <a:srcRect/>
          <a:stretch>
            <a:fillRect/>
          </a:stretch>
        </p:blipFill>
        <p:spPr bwMode="auto">
          <a:xfrm>
            <a:off x="6786578" y="3000372"/>
            <a:ext cx="1933575" cy="971550"/>
          </a:xfrm>
          <a:prstGeom prst="rect">
            <a:avLst/>
          </a:prstGeom>
          <a:noFill/>
          <a:ln w="9525">
            <a:noFill/>
            <a:miter lim="800000"/>
            <a:headEnd/>
            <a:tailEnd/>
          </a:ln>
          <a:effectLst/>
        </p:spPr>
      </p:pic>
      <p:cxnSp>
        <p:nvCxnSpPr>
          <p:cNvPr id="19" name="Curved Connector 18"/>
          <p:cNvCxnSpPr/>
          <p:nvPr/>
        </p:nvCxnSpPr>
        <p:spPr bwMode="auto">
          <a:xfrm>
            <a:off x="6286512" y="1857364"/>
            <a:ext cx="2214578" cy="1071570"/>
          </a:xfrm>
          <a:prstGeom prst="curvedConnector3">
            <a:avLst>
              <a:gd name="adj1" fmla="val 102432"/>
            </a:avLst>
          </a:prstGeom>
          <a:solidFill>
            <a:schemeClr val="accent1"/>
          </a:solidFill>
          <a:ln w="9525" cap="flat" cmpd="sng" algn="ctr">
            <a:solidFill>
              <a:schemeClr val="tx1"/>
            </a:solidFill>
            <a:prstDash val="solid"/>
            <a:round/>
            <a:headEnd type="none" w="med" len="med"/>
            <a:tailEnd type="arrow"/>
          </a:ln>
          <a:effectLst/>
        </p:spPr>
      </p:cxnSp>
      <p:pic>
        <p:nvPicPr>
          <p:cNvPr id="7174" name="Picture 6"/>
          <p:cNvPicPr>
            <a:picLocks noChangeAspect="1" noChangeArrowheads="1"/>
          </p:cNvPicPr>
          <p:nvPr/>
        </p:nvPicPr>
        <p:blipFill>
          <a:blip r:embed="rId6"/>
          <a:srcRect/>
          <a:stretch>
            <a:fillRect/>
          </a:stretch>
        </p:blipFill>
        <p:spPr bwMode="auto">
          <a:xfrm>
            <a:off x="3286116" y="4143380"/>
            <a:ext cx="5629749" cy="2519369"/>
          </a:xfrm>
          <a:prstGeom prst="rect">
            <a:avLst/>
          </a:prstGeom>
          <a:noFill/>
          <a:ln w="9525">
            <a:noFill/>
            <a:miter lim="800000"/>
            <a:headEnd/>
            <a:tailEnd/>
          </a:ln>
          <a:effectLst/>
        </p:spPr>
      </p:pic>
      <p:cxnSp>
        <p:nvCxnSpPr>
          <p:cNvPr id="30" name="Elbow Connector 29"/>
          <p:cNvCxnSpPr/>
          <p:nvPr/>
        </p:nvCxnSpPr>
        <p:spPr bwMode="auto">
          <a:xfrm rot="5400000">
            <a:off x="5357818" y="2500306"/>
            <a:ext cx="1928826" cy="1214446"/>
          </a:xfrm>
          <a:prstGeom prst="bentConnector3">
            <a:avLst>
              <a:gd name="adj1" fmla="val 38713"/>
            </a:avLst>
          </a:prstGeom>
          <a:solidFill>
            <a:schemeClr val="accent1"/>
          </a:solidFill>
          <a:ln w="9525" cap="flat" cmpd="sng" algn="ctr">
            <a:solidFill>
              <a:schemeClr val="tx1"/>
            </a:solidFill>
            <a:prstDash val="solid"/>
            <a:round/>
            <a:headEnd type="none" w="med" len="med"/>
            <a:tailEnd type="arrow"/>
          </a:ln>
          <a:effectLst/>
        </p:spPr>
      </p:cxnSp>
      <p:pic>
        <p:nvPicPr>
          <p:cNvPr id="35" name="Picture 5"/>
          <p:cNvPicPr>
            <a:picLocks noChangeAspect="1" noChangeArrowheads="1"/>
          </p:cNvPicPr>
          <p:nvPr/>
        </p:nvPicPr>
        <p:blipFill>
          <a:blip r:embed="rId7" cstate="print"/>
          <a:srcRect/>
          <a:stretch>
            <a:fillRect/>
          </a:stretch>
        </p:blipFill>
        <p:spPr bwMode="auto">
          <a:xfrm>
            <a:off x="4143372" y="3214686"/>
            <a:ext cx="1214446" cy="799025"/>
          </a:xfrm>
          <a:prstGeom prst="rect">
            <a:avLst/>
          </a:prstGeom>
          <a:noFill/>
          <a:ln w="9525">
            <a:noFill/>
            <a:miter lim="800000"/>
            <a:headEnd/>
            <a:tailEnd/>
          </a:ln>
          <a:effectLst/>
        </p:spPr>
      </p:pic>
      <p:cxnSp>
        <p:nvCxnSpPr>
          <p:cNvPr id="37" name="Straight Arrow Connector 36"/>
          <p:cNvCxnSpPr/>
          <p:nvPr/>
        </p:nvCxnSpPr>
        <p:spPr bwMode="auto">
          <a:xfrm rot="5400000">
            <a:off x="5250661" y="2678901"/>
            <a:ext cx="500066" cy="42862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technical issue in step 3</a:t>
            </a:r>
            <a:endParaRPr lang="en-US" dirty="0"/>
          </a:p>
        </p:txBody>
      </p:sp>
      <p:sp>
        <p:nvSpPr>
          <p:cNvPr id="3" name="Content Placeholder 2"/>
          <p:cNvSpPr>
            <a:spLocks noGrp="1"/>
          </p:cNvSpPr>
          <p:nvPr>
            <p:ph idx="1"/>
          </p:nvPr>
        </p:nvSpPr>
        <p:spPr/>
        <p:txBody>
          <a:bodyPr/>
          <a:lstStyle/>
          <a:p>
            <a:pPr>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xmlns="" val="3972311242"/>
              </p:ext>
            </p:extLst>
          </p:nvPr>
        </p:nvGraphicFramePr>
        <p:xfrm>
          <a:off x="571472" y="1857364"/>
          <a:ext cx="7786742" cy="4083846"/>
        </p:xfrm>
        <a:graphic>
          <a:graphicData uri="http://schemas.openxmlformats.org/drawingml/2006/table">
            <a:tbl>
              <a:tblPr firstRow="1" bandRow="1">
                <a:tableStyleId>{5C22544A-7EE6-4342-B048-85BDC9FD1C3A}</a:tableStyleId>
              </a:tblPr>
              <a:tblGrid>
                <a:gridCol w="3893371"/>
                <a:gridCol w="3893371"/>
              </a:tblGrid>
              <a:tr h="487206">
                <a:tc>
                  <a:txBody>
                    <a:bodyPr/>
                    <a:lstStyle/>
                    <a:p>
                      <a:r>
                        <a:rPr lang="en-US" sz="2400" dirty="0" smtClean="0"/>
                        <a:t>Issues</a:t>
                      </a:r>
                      <a:endParaRPr lang="en-US" sz="2400" dirty="0"/>
                    </a:p>
                  </a:txBody>
                  <a:tcPr/>
                </a:tc>
                <a:tc>
                  <a:txBody>
                    <a:bodyPr/>
                    <a:lstStyle/>
                    <a:p>
                      <a:r>
                        <a:rPr lang="en-US" sz="2400" dirty="0" smtClean="0"/>
                        <a:t>Solution</a:t>
                      </a:r>
                      <a:endParaRPr lang="en-US" sz="2400" dirty="0"/>
                    </a:p>
                  </a:txBody>
                  <a:tcPr/>
                </a:tc>
              </a:tr>
              <a:tr h="15617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smtClean="0"/>
                        <a:t>How to improve the efficiency of record injection.</a:t>
                      </a:r>
                    </a:p>
                    <a:p>
                      <a:endParaRPr lang="en-US" sz="2800" dirty="0"/>
                    </a:p>
                  </a:txBody>
                  <a:tcPr/>
                </a:tc>
                <a:tc>
                  <a:txBody>
                    <a:bodyPr/>
                    <a:lstStyle/>
                    <a:p>
                      <a:r>
                        <a:rPr lang="en-US" sz="2400" dirty="0" smtClean="0"/>
                        <a:t>Create some Applications</a:t>
                      </a:r>
                      <a:endParaRPr lang="en-US" sz="2400" dirty="0"/>
                    </a:p>
                  </a:txBody>
                  <a:tcPr/>
                </a:tc>
              </a:tr>
              <a:tr h="15617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smtClean="0"/>
                        <a:t>How to design some friendly tools to help library staff create SIP</a:t>
                      </a:r>
                    </a:p>
                    <a:p>
                      <a:endParaRPr lang="en-US" sz="2800" dirty="0"/>
                    </a:p>
                  </a:txBody>
                  <a:tcPr/>
                </a:tc>
                <a:tc>
                  <a:txBody>
                    <a:bodyPr/>
                    <a:lstStyle/>
                    <a:p>
                      <a:r>
                        <a:rPr lang="en-US" sz="2400" dirty="0" smtClean="0"/>
                        <a:t>GUI interfaces</a:t>
                      </a:r>
                      <a:endParaRPr lang="en-US" sz="2400" dirty="0"/>
                    </a:p>
                  </a:txBody>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dirty="0" smtClean="0"/>
              <a:t>SIP visual tools</a:t>
            </a:r>
            <a:endParaRPr lang="en-US" dirty="0"/>
          </a:p>
        </p:txBody>
      </p:sp>
      <p:sp>
        <p:nvSpPr>
          <p:cNvPr id="39939" name="Rectangle 3"/>
          <p:cNvSpPr>
            <a:spLocks noGrp="1" noChangeArrowheads="1"/>
          </p:cNvSpPr>
          <p:nvPr>
            <p:ph type="body" idx="1"/>
          </p:nvPr>
        </p:nvSpPr>
        <p:spPr/>
        <p:txBody>
          <a:bodyPr/>
          <a:lstStyle/>
          <a:p>
            <a:r>
              <a:rPr lang="en-US" sz="2400" dirty="0" smtClean="0"/>
              <a:t>Visual tools is created to help library staff to do batch importing. </a:t>
            </a:r>
          </a:p>
          <a:p>
            <a:endParaRPr lang="en-US" dirty="0"/>
          </a:p>
        </p:txBody>
      </p:sp>
      <p:pic>
        <p:nvPicPr>
          <p:cNvPr id="8194" name="Picture 2"/>
          <p:cNvPicPr>
            <a:picLocks noChangeAspect="1" noChangeArrowheads="1"/>
          </p:cNvPicPr>
          <p:nvPr/>
        </p:nvPicPr>
        <p:blipFill>
          <a:blip r:embed="rId3"/>
          <a:srcRect/>
          <a:stretch>
            <a:fillRect/>
          </a:stretch>
        </p:blipFill>
        <p:spPr bwMode="auto">
          <a:xfrm>
            <a:off x="285720" y="2500306"/>
            <a:ext cx="4233232" cy="3214710"/>
          </a:xfrm>
          <a:prstGeom prst="rect">
            <a:avLst/>
          </a:prstGeom>
          <a:noFill/>
          <a:ln w="9525">
            <a:noFill/>
            <a:miter lim="800000"/>
            <a:headEnd/>
            <a:tailEnd/>
          </a:ln>
          <a:effectLst/>
        </p:spPr>
      </p:pic>
      <p:pic>
        <p:nvPicPr>
          <p:cNvPr id="8195" name="Picture 3"/>
          <p:cNvPicPr>
            <a:picLocks noChangeAspect="1" noChangeArrowheads="1"/>
          </p:cNvPicPr>
          <p:nvPr/>
        </p:nvPicPr>
        <p:blipFill>
          <a:blip r:embed="rId4"/>
          <a:srcRect/>
          <a:stretch>
            <a:fillRect/>
          </a:stretch>
        </p:blipFill>
        <p:spPr bwMode="auto">
          <a:xfrm>
            <a:off x="4786314" y="2500306"/>
            <a:ext cx="4117855" cy="3216918"/>
          </a:xfrm>
          <a:prstGeom prst="rect">
            <a:avLst/>
          </a:prstGeom>
          <a:noFill/>
          <a:ln w="9525">
            <a:noFill/>
            <a:miter lim="800000"/>
            <a:headEnd/>
            <a:tailEnd/>
          </a:ln>
          <a:effectLst/>
        </p:spPr>
      </p:pic>
      <p:cxnSp>
        <p:nvCxnSpPr>
          <p:cNvPr id="7" name="Straight Arrow Connector 6"/>
          <p:cNvCxnSpPr/>
          <p:nvPr/>
        </p:nvCxnSpPr>
        <p:spPr bwMode="auto">
          <a:xfrm>
            <a:off x="4429124" y="3929066"/>
            <a:ext cx="285752" cy="158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TextBox 7"/>
          <p:cNvSpPr txBox="1"/>
          <p:nvPr/>
        </p:nvSpPr>
        <p:spPr>
          <a:xfrm>
            <a:off x="785786" y="6143644"/>
            <a:ext cx="5429288" cy="369332"/>
          </a:xfrm>
          <a:prstGeom prst="rect">
            <a:avLst/>
          </a:prstGeom>
          <a:noFill/>
        </p:spPr>
        <p:txBody>
          <a:bodyPr wrap="square" rtlCol="0">
            <a:spAutoFit/>
          </a:bodyPr>
          <a:lstStyle/>
          <a:p>
            <a:r>
              <a:rPr lang="en-US" dirty="0" smtClean="0">
                <a:solidFill>
                  <a:srgbClr val="C00000"/>
                </a:solidFill>
              </a:rPr>
              <a:t>Codes see appendix I</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dirty="0" smtClean="0"/>
              <a:t>4</a:t>
            </a:r>
            <a:r>
              <a:rPr lang="en-US" baseline="30000" dirty="0" smtClean="0"/>
              <a:t>th</a:t>
            </a:r>
            <a:r>
              <a:rPr lang="en-US" dirty="0" smtClean="0"/>
              <a:t> step: Batch import</a:t>
            </a:r>
            <a:endParaRPr lang="en-US" dirty="0"/>
          </a:p>
        </p:txBody>
      </p:sp>
      <p:sp>
        <p:nvSpPr>
          <p:cNvPr id="44035" name="Rectangle 3"/>
          <p:cNvSpPr>
            <a:spLocks noGrp="1" noChangeArrowheads="1"/>
          </p:cNvSpPr>
          <p:nvPr>
            <p:ph type="body" idx="1"/>
          </p:nvPr>
        </p:nvSpPr>
        <p:spPr/>
        <p:txBody>
          <a:bodyPr/>
          <a:lstStyle/>
          <a:p>
            <a:r>
              <a:rPr lang="en-US" sz="3200" dirty="0" smtClean="0"/>
              <a:t>Batch importing has high efficiency</a:t>
            </a:r>
          </a:p>
        </p:txBody>
      </p:sp>
      <p:pic>
        <p:nvPicPr>
          <p:cNvPr id="9219" name="Picture 3"/>
          <p:cNvPicPr>
            <a:picLocks noChangeAspect="1" noChangeArrowheads="1"/>
          </p:cNvPicPr>
          <p:nvPr/>
        </p:nvPicPr>
        <p:blipFill>
          <a:blip r:embed="rId3"/>
          <a:srcRect/>
          <a:stretch>
            <a:fillRect/>
          </a:stretch>
        </p:blipFill>
        <p:spPr bwMode="auto">
          <a:xfrm>
            <a:off x="428596" y="2500306"/>
            <a:ext cx="8501122" cy="7605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dirty="0" smtClean="0"/>
              <a:t>The final product</a:t>
            </a:r>
            <a:endParaRPr lang="en-US" dirty="0"/>
          </a:p>
        </p:txBody>
      </p:sp>
      <p:sp>
        <p:nvSpPr>
          <p:cNvPr id="5" name="Text Placeholder 4"/>
          <p:cNvSpPr>
            <a:spLocks noGrp="1"/>
          </p:cNvSpPr>
          <p:nvPr>
            <p:ph type="body" sz="half" idx="1"/>
          </p:nvPr>
        </p:nvSpPr>
        <p:spPr/>
        <p:txBody>
          <a:bodyPr/>
          <a:lstStyle/>
          <a:p>
            <a:endParaRPr lang="en-US"/>
          </a:p>
        </p:txBody>
      </p:sp>
      <p:pic>
        <p:nvPicPr>
          <p:cNvPr id="10243" name="Picture 3"/>
          <p:cNvPicPr>
            <a:picLocks noChangeAspect="1" noChangeArrowheads="1"/>
          </p:cNvPicPr>
          <p:nvPr/>
        </p:nvPicPr>
        <p:blipFill>
          <a:blip r:embed="rId3"/>
          <a:srcRect/>
          <a:stretch>
            <a:fillRect/>
          </a:stretch>
        </p:blipFill>
        <p:spPr bwMode="auto">
          <a:xfrm>
            <a:off x="428596" y="1643050"/>
            <a:ext cx="8068289" cy="4138621"/>
          </a:xfrm>
          <a:prstGeom prst="rect">
            <a:avLst/>
          </a:prstGeom>
          <a:noFill/>
          <a:ln w="9525">
            <a:noFill/>
            <a:miter lim="800000"/>
            <a:headEnd/>
            <a:tailEnd/>
          </a:ln>
          <a:effectLst/>
        </p:spPr>
      </p:pic>
      <p:pic>
        <p:nvPicPr>
          <p:cNvPr id="10244" name="Picture 4"/>
          <p:cNvPicPr>
            <a:picLocks noChangeAspect="1" noChangeArrowheads="1"/>
          </p:cNvPicPr>
          <p:nvPr/>
        </p:nvPicPr>
        <p:blipFill>
          <a:blip r:embed="rId4"/>
          <a:srcRect/>
          <a:stretch>
            <a:fillRect/>
          </a:stretch>
        </p:blipFill>
        <p:spPr bwMode="auto">
          <a:xfrm>
            <a:off x="1357290" y="4786322"/>
            <a:ext cx="7540678" cy="1285884"/>
          </a:xfrm>
          <a:prstGeom prst="rect">
            <a:avLst/>
          </a:prstGeom>
          <a:noFill/>
          <a:ln w="9525">
            <a:solidFill>
              <a:schemeClr val="tx1"/>
            </a:solidFill>
            <a:miter lim="800000"/>
            <a:headEnd/>
            <a:tailEnd/>
          </a:ln>
          <a:effectLst/>
        </p:spPr>
      </p:pic>
      <p:cxnSp>
        <p:nvCxnSpPr>
          <p:cNvPr id="10" name="Straight Arrow Connector 9"/>
          <p:cNvCxnSpPr/>
          <p:nvPr/>
        </p:nvCxnSpPr>
        <p:spPr bwMode="auto">
          <a:xfrm rot="5400000">
            <a:off x="5179223" y="4607727"/>
            <a:ext cx="928694" cy="14287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7" name="TextBox 6"/>
          <p:cNvSpPr txBox="1"/>
          <p:nvPr/>
        </p:nvSpPr>
        <p:spPr>
          <a:xfrm>
            <a:off x="857224" y="6215082"/>
            <a:ext cx="6286544" cy="369332"/>
          </a:xfrm>
          <a:prstGeom prst="rect">
            <a:avLst/>
          </a:prstGeom>
          <a:noFill/>
        </p:spPr>
        <p:txBody>
          <a:bodyPr wrap="square" rtlCol="0">
            <a:spAutoFit/>
          </a:bodyPr>
          <a:lstStyle/>
          <a:p>
            <a:r>
              <a:rPr lang="en-US" dirty="0" smtClean="0">
                <a:solidFill>
                  <a:srgbClr val="C00000"/>
                </a:solidFill>
              </a:rPr>
              <a:t>Customization on toolbar see appendix III</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results</a:t>
            </a:r>
            <a:endParaRPr lang="en-US" dirty="0"/>
          </a:p>
        </p:txBody>
      </p:sp>
      <p:sp>
        <p:nvSpPr>
          <p:cNvPr id="3" name="Text Placeholder 2"/>
          <p:cNvSpPr>
            <a:spLocks noGrp="1"/>
          </p:cNvSpPr>
          <p:nvPr>
            <p:ph type="body" sz="half" idx="1"/>
          </p:nvPr>
        </p:nvSpPr>
        <p:spPr>
          <a:xfrm>
            <a:off x="457200" y="1719263"/>
            <a:ext cx="8115328" cy="4710133"/>
          </a:xfrm>
        </p:spPr>
        <p:txBody>
          <a:bodyPr/>
          <a:lstStyle/>
          <a:p>
            <a:r>
              <a:rPr lang="en-US" sz="2800" dirty="0" smtClean="0">
                <a:solidFill>
                  <a:srgbClr val="C00000"/>
                </a:solidFill>
              </a:rPr>
              <a:t>Patrons’ satisfaction </a:t>
            </a:r>
            <a:r>
              <a:rPr lang="en-US" sz="2800" dirty="0" smtClean="0"/>
              <a:t>- Patrons reflects that the information retrieving efficiency is improved.</a:t>
            </a:r>
          </a:p>
          <a:p>
            <a:r>
              <a:rPr lang="en-US" sz="2800" dirty="0" smtClean="0">
                <a:solidFill>
                  <a:srgbClr val="C00000"/>
                </a:solidFill>
              </a:rPr>
              <a:t>Reduce abrasion </a:t>
            </a:r>
            <a:r>
              <a:rPr lang="en-US" sz="2800" dirty="0" smtClean="0"/>
              <a:t>– microfilm preservation</a:t>
            </a:r>
          </a:p>
          <a:p>
            <a:r>
              <a:rPr lang="en-US" sz="2800" dirty="0" smtClean="0">
                <a:solidFill>
                  <a:srgbClr val="C00000"/>
                </a:solidFill>
              </a:rPr>
              <a:t>Reduce workload - </a:t>
            </a:r>
            <a:r>
              <a:rPr lang="en-US" sz="2800" dirty="0" smtClean="0"/>
              <a:t>Library</a:t>
            </a:r>
            <a:r>
              <a:rPr lang="en-US" sz="2800" dirty="0" smtClean="0">
                <a:solidFill>
                  <a:srgbClr val="C00000"/>
                </a:solidFill>
              </a:rPr>
              <a:t> </a:t>
            </a:r>
            <a:r>
              <a:rPr lang="en-US" sz="2800" dirty="0" smtClean="0"/>
              <a:t>staff don’t have to teach patron on how to use microfilm reader.</a:t>
            </a:r>
          </a:p>
          <a:p>
            <a:r>
              <a:rPr lang="en-US" sz="2800" dirty="0" smtClean="0">
                <a:solidFill>
                  <a:srgbClr val="C00000"/>
                </a:solidFill>
              </a:rPr>
              <a:t>Improve efficiency</a:t>
            </a:r>
            <a:r>
              <a:rPr lang="en-US" sz="2800" dirty="0" smtClean="0">
                <a:solidFill>
                  <a:srgbClr val="FF0000"/>
                </a:solidFill>
              </a:rPr>
              <a:t>- </a:t>
            </a:r>
            <a:r>
              <a:rPr lang="en-US" sz="2800" dirty="0" smtClean="0"/>
              <a:t>Library</a:t>
            </a:r>
            <a:r>
              <a:rPr lang="en-US" sz="2800" dirty="0" smtClean="0">
                <a:solidFill>
                  <a:srgbClr val="FF0000"/>
                </a:solidFill>
              </a:rPr>
              <a:t> </a:t>
            </a:r>
            <a:r>
              <a:rPr lang="en-US" sz="2800" dirty="0" smtClean="0"/>
              <a:t>staff feel easy to teach patron how to search and locate digital microfilm.</a:t>
            </a:r>
          </a:p>
          <a:p>
            <a:r>
              <a:rPr lang="en-US" sz="2800" dirty="0" smtClean="0">
                <a:solidFill>
                  <a:srgbClr val="C00000"/>
                </a:solidFill>
              </a:rPr>
              <a:t>Improve reputation - </a:t>
            </a:r>
            <a:r>
              <a:rPr lang="en-US" sz="2800" dirty="0" smtClean="0"/>
              <a:t>College vice president likes it.</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dirty="0" smtClean="0"/>
              <a:t>Successive Training</a:t>
            </a:r>
            <a:endParaRPr lang="en-US" dirty="0"/>
          </a:p>
        </p:txBody>
      </p:sp>
      <p:sp>
        <p:nvSpPr>
          <p:cNvPr id="40963" name="Rectangle 3"/>
          <p:cNvSpPr>
            <a:spLocks noGrp="1" noChangeArrowheads="1"/>
          </p:cNvSpPr>
          <p:nvPr>
            <p:ph type="body" idx="1"/>
          </p:nvPr>
        </p:nvSpPr>
        <p:spPr/>
        <p:txBody>
          <a:bodyPr/>
          <a:lstStyle/>
          <a:p>
            <a:r>
              <a:rPr lang="en-US" dirty="0" smtClean="0"/>
              <a:t>Manual</a:t>
            </a:r>
          </a:p>
          <a:p>
            <a:pPr lvl="1"/>
            <a:r>
              <a:rPr lang="en-US" dirty="0" smtClean="0"/>
              <a:t>Teach archive management staff</a:t>
            </a:r>
          </a:p>
          <a:p>
            <a:r>
              <a:rPr lang="en-US" dirty="0" smtClean="0"/>
              <a:t>Training Video</a:t>
            </a:r>
          </a:p>
          <a:p>
            <a:pPr lvl="1"/>
            <a:r>
              <a:rPr lang="en-US" dirty="0" smtClean="0"/>
              <a:t>For Archive management staff</a:t>
            </a:r>
          </a:p>
          <a:p>
            <a:pPr lvl="1"/>
            <a:r>
              <a:rPr lang="en-US" dirty="0" smtClean="0"/>
              <a:t>For reference staff</a:t>
            </a:r>
          </a:p>
          <a:p>
            <a:pPr lvl="1">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Training Video</a:t>
            </a:r>
            <a:endParaRPr lang="en-US" dirty="0"/>
          </a:p>
        </p:txBody>
      </p:sp>
      <p:pic>
        <p:nvPicPr>
          <p:cNvPr id="6" name="Dspace usage training.avi">
            <a:hlinkClick r:id="" action="ppaction://media"/>
          </p:cNvPr>
          <p:cNvPicPr>
            <a:picLocks noGrp="1" noRot="1" noChangeAspect="1"/>
          </p:cNvPicPr>
          <p:nvPr>
            <p:ph idx="1"/>
            <a:videoFile r:link="rId1"/>
          </p:nvPr>
        </p:nvPicPr>
        <p:blipFill>
          <a:blip r:embed="rId3"/>
          <a:stretch>
            <a:fillRect/>
          </a:stretch>
        </p:blipFill>
        <p:spPr>
          <a:xfrm>
            <a:off x="-357222" y="0"/>
            <a:ext cx="9753600" cy="70104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6"/>
                                        </p:tgtEl>
                                      </p:cBhvr>
                                    </p:cmd>
                                  </p:childTnLst>
                                </p:cTn>
                              </p:par>
                            </p:childTnLst>
                          </p:cTn>
                        </p:par>
                      </p:childTnLst>
                    </p:cTn>
                  </p:par>
                </p:childTnLst>
              </p:cTn>
              <p:nextCondLst>
                <p:cond evt="onClick" delay="0">
                  <p:tgtEl>
                    <p:spTgt spid="6"/>
                  </p:tgtEl>
                </p:cond>
              </p:nextCondLst>
            </p:seq>
            <p:video>
              <p:cMediaNode>
                <p:cTn id="7" fill="hold" display="0">
                  <p:stCondLst>
                    <p:cond delay="indefinite"/>
                  </p:stCondLst>
                  <p:endCondLst>
                    <p:cond evt="onNext" delay="0">
                      <p:tgtEl>
                        <p:sldTgt/>
                      </p:tgtEl>
                    </p:cond>
                    <p:cond evt="onPrev" delay="0">
                      <p:tgtEl>
                        <p:sldTgt/>
                      </p:tgtEl>
                    </p:cond>
                  </p:endCondLst>
                </p:cTn>
                <p:tgtEl>
                  <p:spTgt spid="6"/>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Q&amp;A</a:t>
            </a:r>
            <a:endParaRPr lang="en-US" dirty="0"/>
          </a:p>
        </p:txBody>
      </p:sp>
      <p:pic>
        <p:nvPicPr>
          <p:cNvPr id="14338" name="Picture 2" descr="C:\Program Files\Microsoft Office\MEDIA\CAGCAT10\j0216516.wmf"/>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87624" y="2708920"/>
            <a:ext cx="1572768" cy="182057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extBox 3"/>
          <p:cNvSpPr txBox="1"/>
          <p:nvPr/>
        </p:nvSpPr>
        <p:spPr>
          <a:xfrm>
            <a:off x="4067944" y="2492896"/>
            <a:ext cx="2736304" cy="2646878"/>
          </a:xfrm>
          <a:prstGeom prst="rect">
            <a:avLst/>
          </a:prstGeom>
          <a:noFill/>
        </p:spPr>
        <p:txBody>
          <a:bodyPr wrap="square" rtlCol="0">
            <a:spAutoFit/>
          </a:bodyPr>
          <a:lstStyle/>
          <a:p>
            <a:r>
              <a:rPr lang="en-US" sz="16600" dirty="0" smtClean="0">
                <a:solidFill>
                  <a:srgbClr val="FF0000"/>
                </a:solidFill>
              </a:rPr>
              <a:t>?</a:t>
            </a:r>
            <a:endParaRPr lang="en-US" sz="16600" dirty="0">
              <a:solidFill>
                <a:srgbClr val="FF000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Appendix I</a:t>
            </a:r>
            <a:endParaRPr lang="en-US" dirty="0"/>
          </a:p>
        </p:txBody>
      </p:sp>
      <p:sp>
        <p:nvSpPr>
          <p:cNvPr id="3" name="Content Placeholder 2"/>
          <p:cNvSpPr>
            <a:spLocks noGrp="1"/>
          </p:cNvSpPr>
          <p:nvPr>
            <p:ph idx="1"/>
          </p:nvPr>
        </p:nvSpPr>
        <p:spPr/>
        <p:txBody>
          <a:bodyPr/>
          <a:lstStyle/>
          <a:p>
            <a:r>
              <a:rPr lang="en-US" dirty="0" smtClean="0"/>
              <a:t>The code to create and process SIP (submission information packages)</a:t>
            </a:r>
          </a:p>
          <a:p>
            <a:endParaRPr lang="en-US" dirty="0"/>
          </a:p>
        </p:txBody>
      </p:sp>
      <p:graphicFrame>
        <p:nvGraphicFramePr>
          <p:cNvPr id="6" name="Object 5"/>
          <p:cNvGraphicFramePr>
            <a:graphicFrameLocks noChangeAspect="1"/>
          </p:cNvGraphicFramePr>
          <p:nvPr>
            <p:extLst>
              <p:ext uri="{D42A27DB-BD31-4B8C-83A1-F6EECF244321}">
                <p14:modId xmlns:p14="http://schemas.microsoft.com/office/powerpoint/2010/main" xmlns="" val="1384132548"/>
              </p:ext>
            </p:extLst>
          </p:nvPr>
        </p:nvGraphicFramePr>
        <p:xfrm>
          <a:off x="4114800" y="3071813"/>
          <a:ext cx="914400" cy="714375"/>
        </p:xfrm>
        <a:graphic>
          <a:graphicData uri="http://schemas.openxmlformats.org/presentationml/2006/ole">
            <p:oleObj spid="_x0000_s11273" name="WordPad Document" showAsIcon="1" r:id="rId4" imgW="914400" imgH="714375" progId="WordPad.Document.1">
              <p:embed/>
            </p:oleObj>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Appendix II</a:t>
            </a:r>
            <a:endParaRPr lang="en-US" dirty="0"/>
          </a:p>
        </p:txBody>
      </p:sp>
      <p:sp>
        <p:nvSpPr>
          <p:cNvPr id="3" name="Content Placeholder 2"/>
          <p:cNvSpPr>
            <a:spLocks noGrp="1"/>
          </p:cNvSpPr>
          <p:nvPr>
            <p:ph idx="1"/>
          </p:nvPr>
        </p:nvSpPr>
        <p:spPr/>
        <p:txBody>
          <a:bodyPr/>
          <a:lstStyle/>
          <a:p>
            <a:r>
              <a:rPr lang="en-US" dirty="0" smtClean="0"/>
              <a:t>How do I install DSpace in </a:t>
            </a:r>
            <a:r>
              <a:rPr lang="en-US" dirty="0" err="1" smtClean="0"/>
              <a:t>Redhat</a:t>
            </a:r>
            <a:r>
              <a:rPr lang="en-US" dirty="0" smtClean="0"/>
              <a:t> </a:t>
            </a:r>
            <a:r>
              <a:rPr lang="en-US" dirty="0" err="1" smtClean="0"/>
              <a:t>linux</a:t>
            </a:r>
            <a:r>
              <a:rPr lang="en-US" dirty="0" smtClean="0"/>
              <a:t> 6.4 step by step?</a:t>
            </a:r>
          </a:p>
          <a:p>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xmlns="" val="4245893198"/>
              </p:ext>
            </p:extLst>
          </p:nvPr>
        </p:nvGraphicFramePr>
        <p:xfrm>
          <a:off x="4114800" y="3071813"/>
          <a:ext cx="914400" cy="714375"/>
        </p:xfrm>
        <a:graphic>
          <a:graphicData uri="http://schemas.openxmlformats.org/presentationml/2006/ole">
            <p:oleObj spid="_x0000_s12297" name="Acrobat Document" showAsIcon="1" r:id="rId3" imgW="914400" imgH="714240" progId="AcroExch.Document.7">
              <p:embed/>
            </p:oleObj>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Appendix III</a:t>
            </a:r>
            <a:endParaRPr lang="en-US" dirty="0"/>
          </a:p>
        </p:txBody>
      </p:sp>
      <p:sp>
        <p:nvSpPr>
          <p:cNvPr id="3" name="Content Placeholder 2"/>
          <p:cNvSpPr>
            <a:spLocks noGrp="1"/>
          </p:cNvSpPr>
          <p:nvPr>
            <p:ph idx="1"/>
          </p:nvPr>
        </p:nvSpPr>
        <p:spPr/>
        <p:txBody>
          <a:bodyPr/>
          <a:lstStyle/>
          <a:p>
            <a:r>
              <a:rPr lang="en-US" dirty="0" smtClean="0"/>
              <a:t>Customization on Years navigational bar in DSpace</a:t>
            </a:r>
          </a:p>
          <a:p>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xmlns="" val="2497348276"/>
              </p:ext>
            </p:extLst>
          </p:nvPr>
        </p:nvGraphicFramePr>
        <p:xfrm>
          <a:off x="4114800" y="3071813"/>
          <a:ext cx="914400" cy="714375"/>
        </p:xfrm>
        <a:graphic>
          <a:graphicData uri="http://schemas.openxmlformats.org/presentationml/2006/ole">
            <p:oleObj spid="_x0000_s13321" name="Acrobat Document" showAsIcon="1" r:id="rId3" imgW="914400" imgH="714240" progId="AcroExch.Document.7">
              <p:embed/>
            </p:oleObj>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Training presentation">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Training presentation</Template>
  <TotalTime>824</TotalTime>
  <Words>1125</Words>
  <Application>Microsoft Office PowerPoint</Application>
  <PresentationFormat>On-screen Show (4:3)</PresentationFormat>
  <Paragraphs>288</Paragraphs>
  <Slides>23</Slides>
  <Notes>12</Notes>
  <HiddenSlides>0</HiddenSlides>
  <MMClips>1</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23</vt:i4>
      </vt:variant>
    </vt:vector>
  </HeadingPairs>
  <TitlesOfParts>
    <vt:vector size="26" baseType="lpstr">
      <vt:lpstr>Training presentation</vt:lpstr>
      <vt:lpstr>WordPad Document</vt:lpstr>
      <vt:lpstr>Adobe Acrobat Document</vt:lpstr>
      <vt:lpstr>Digital Repository System in Kilgore College</vt:lpstr>
      <vt:lpstr>Agenda</vt:lpstr>
      <vt:lpstr>Background</vt:lpstr>
      <vt:lpstr>Local newspaper preservation and usage in Kilgore College</vt:lpstr>
      <vt:lpstr>Why do we digitize them</vt:lpstr>
      <vt:lpstr>Project schedule </vt:lpstr>
      <vt:lpstr>Stakeholder interaction </vt:lpstr>
      <vt:lpstr>System selection</vt:lpstr>
      <vt:lpstr>1st step: Digitization</vt:lpstr>
      <vt:lpstr>2nd step: Server purchasing and DSpace installation</vt:lpstr>
      <vt:lpstr>DSpace interface</vt:lpstr>
      <vt:lpstr>3rd step: Prepare SIP for the preparation to inject data into DSpace</vt:lpstr>
      <vt:lpstr>Key technical issue in step 3</vt:lpstr>
      <vt:lpstr>SIP visual tools</vt:lpstr>
      <vt:lpstr>4th step: Batch import</vt:lpstr>
      <vt:lpstr>The final product</vt:lpstr>
      <vt:lpstr>Project results</vt:lpstr>
      <vt:lpstr>Successive Training</vt:lpstr>
      <vt:lpstr>Training Video</vt:lpstr>
      <vt:lpstr>Q&amp;A</vt:lpstr>
      <vt:lpstr>Appendix I</vt:lpstr>
      <vt:lpstr>Appendix II</vt:lpstr>
      <vt:lpstr>Appendix III</vt:lpstr>
    </vt:vector>
  </TitlesOfParts>
  <Company>Victory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Training Presentation</dc:title>
  <dc:creator>Sarcasm101</dc:creator>
  <cp:lastModifiedBy>Sarcasm101</cp:lastModifiedBy>
  <cp:revision>133</cp:revision>
  <dcterms:created xsi:type="dcterms:W3CDTF">2014-12-13T15:27:58Z</dcterms:created>
  <dcterms:modified xsi:type="dcterms:W3CDTF">2015-02-06T20:00:23Z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TC060888081033</vt:lpwstr>
  </property>
</Properties>
</file>