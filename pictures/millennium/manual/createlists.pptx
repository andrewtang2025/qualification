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336" r:id="rId6"/>
    <p:sldId id="260" r:id="rId7"/>
    <p:sldId id="319" r:id="rId8"/>
    <p:sldId id="340" r:id="rId9"/>
    <p:sldId id="278" r:id="rId10"/>
    <p:sldId id="323" r:id="rId11"/>
    <p:sldId id="342" r:id="rId12"/>
    <p:sldId id="261" r:id="rId13"/>
    <p:sldId id="324" r:id="rId14"/>
    <p:sldId id="320" r:id="rId15"/>
    <p:sldId id="337" r:id="rId16"/>
    <p:sldId id="279" r:id="rId17"/>
    <p:sldId id="262" r:id="rId18"/>
    <p:sldId id="321" r:id="rId19"/>
    <p:sldId id="348" r:id="rId20"/>
    <p:sldId id="349" r:id="rId21"/>
    <p:sldId id="350" r:id="rId22"/>
    <p:sldId id="351" r:id="rId23"/>
    <p:sldId id="352" r:id="rId24"/>
    <p:sldId id="353" r:id="rId25"/>
    <p:sldId id="354" r:id="rId26"/>
    <p:sldId id="263" r:id="rId27"/>
    <p:sldId id="325" r:id="rId28"/>
    <p:sldId id="264" r:id="rId29"/>
    <p:sldId id="326" r:id="rId30"/>
    <p:sldId id="344" r:id="rId31"/>
    <p:sldId id="345" r:id="rId32"/>
    <p:sldId id="265" r:id="rId33"/>
    <p:sldId id="280" r:id="rId34"/>
    <p:sldId id="322" r:id="rId35"/>
    <p:sldId id="343" r:id="rId36"/>
    <p:sldId id="267" r:id="rId37"/>
    <p:sldId id="329" r:id="rId38"/>
    <p:sldId id="330" r:id="rId39"/>
    <p:sldId id="268" r:id="rId40"/>
    <p:sldId id="269" r:id="rId41"/>
    <p:sldId id="270" r:id="rId42"/>
    <p:sldId id="271" r:id="rId43"/>
    <p:sldId id="304" r:id="rId44"/>
    <p:sldId id="305" r:id="rId45"/>
    <p:sldId id="339" r:id="rId46"/>
    <p:sldId id="356" r:id="rId47"/>
    <p:sldId id="346" r:id="rId48"/>
    <p:sldId id="273" r:id="rId49"/>
    <p:sldId id="274" r:id="rId50"/>
    <p:sldId id="275" r:id="rId51"/>
    <p:sldId id="284" r:id="rId52"/>
    <p:sldId id="333" r:id="rId53"/>
    <p:sldId id="334" r:id="rId54"/>
    <p:sldId id="335" r:id="rId55"/>
    <p:sldId id="310" r:id="rId56"/>
    <p:sldId id="318" r:id="rId57"/>
    <p:sldId id="312" r:id="rId58"/>
    <p:sldId id="313" r:id="rId59"/>
    <p:sldId id="314" r:id="rId60"/>
    <p:sldId id="315" r:id="rId61"/>
    <p:sldId id="331" r:id="rId62"/>
    <p:sldId id="276" r:id="rId63"/>
    <p:sldId id="277"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13" autoAdjust="0"/>
    <p:restoredTop sz="94660"/>
  </p:normalViewPr>
  <p:slideViewPr>
    <p:cSldViewPr>
      <p:cViewPr varScale="1">
        <p:scale>
          <a:sx n="86" d="100"/>
          <a:sy n="86" d="100"/>
        </p:scale>
        <p:origin x="-1440"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82F87C0-5954-47E9-A107-8723491BB54C}" type="datetimeFigureOut">
              <a:rPr lang="en-US" smtClean="0"/>
              <a:pPr/>
              <a:t>9/20/2012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025D1-72DA-4AF4-8C03-AD642A6E18C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2F87C0-5954-47E9-A107-8723491BB54C}" type="datetimeFigureOut">
              <a:rPr lang="en-US" smtClean="0"/>
              <a:pPr/>
              <a:t>9/20/2012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025D1-72DA-4AF4-8C03-AD642A6E18C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82F87C0-5954-47E9-A107-8723491BB54C}" type="datetimeFigureOut">
              <a:rPr lang="en-US" smtClean="0"/>
              <a:pPr/>
              <a:t>9/20/2012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025D1-72DA-4AF4-8C03-AD642A6E18C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82F87C0-5954-47E9-A107-8723491BB54C}" type="datetimeFigureOut">
              <a:rPr lang="en-US" smtClean="0"/>
              <a:pPr/>
              <a:t>9/20/2012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9025D1-72DA-4AF4-8C03-AD642A6E18C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82F87C0-5954-47E9-A107-8723491BB54C}" type="datetimeFigureOut">
              <a:rPr lang="en-US" smtClean="0"/>
              <a:pPr/>
              <a:t>9/20/2012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9025D1-72DA-4AF4-8C03-AD642A6E18C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82F87C0-5954-47E9-A107-8723491BB54C}" type="datetimeFigureOut">
              <a:rPr lang="en-US" smtClean="0"/>
              <a:pPr/>
              <a:t>9/20/2012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9025D1-72DA-4AF4-8C03-AD642A6E18C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2F87C0-5954-47E9-A107-8723491BB54C}" type="datetimeFigureOut">
              <a:rPr lang="en-US" smtClean="0"/>
              <a:pPr/>
              <a:t>9/20/2012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9025D1-72DA-4AF4-8C03-AD642A6E18C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2F87C0-5954-47E9-A107-8723491BB54C}" type="datetimeFigureOut">
              <a:rPr lang="en-US" smtClean="0"/>
              <a:pPr/>
              <a:t>9/20/2012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9025D1-72DA-4AF4-8C03-AD642A6E18C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2F87C0-5954-47E9-A107-8723491BB54C}" type="datetimeFigureOut">
              <a:rPr lang="en-US" smtClean="0"/>
              <a:pPr/>
              <a:t>9/20/2012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9025D1-72DA-4AF4-8C03-AD642A6E18C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2F87C0-5954-47E9-A107-8723491BB54C}" type="datetimeFigureOut">
              <a:rPr lang="en-US" smtClean="0"/>
              <a:pPr/>
              <a:t>9/20/2012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025D1-72DA-4AF4-8C03-AD642A6E18C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2F87C0-5954-47E9-A107-8723491BB54C}" type="datetimeFigureOut">
              <a:rPr lang="en-US" smtClean="0"/>
              <a:pPr/>
              <a:t>9/20/2012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025D1-72DA-4AF4-8C03-AD642A6E18C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2F87C0-5954-47E9-A107-8723491BB54C}" type="datetimeFigureOut">
              <a:rPr lang="en-US" smtClean="0"/>
              <a:pPr/>
              <a:t>9/20/2012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9025D1-72DA-4AF4-8C03-AD642A6E18C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4648200"/>
            <a:ext cx="6400800" cy="1752600"/>
          </a:xfrm>
        </p:spPr>
        <p:txBody>
          <a:bodyPr/>
          <a:lstStyle/>
          <a:p>
            <a:r>
              <a:rPr lang="en-US" dirty="0" smtClean="0"/>
              <a:t>Phil Shirley</a:t>
            </a:r>
          </a:p>
          <a:p>
            <a:r>
              <a:rPr lang="en-US" dirty="0" smtClean="0"/>
              <a:t>Cuyahoga Falls Library</a:t>
            </a:r>
            <a:endParaRPr lang="en-US" dirty="0"/>
          </a:p>
        </p:txBody>
      </p:sp>
      <p:pic>
        <p:nvPicPr>
          <p:cNvPr id="1026" name="Picture 2" descr="Confession Bear"/>
          <p:cNvPicPr>
            <a:picLocks noChangeAspect="1" noChangeArrowheads="1"/>
          </p:cNvPicPr>
          <p:nvPr/>
        </p:nvPicPr>
        <p:blipFill>
          <a:blip r:embed="rId2" cstate="print"/>
          <a:srcRect/>
          <a:stretch>
            <a:fillRect/>
          </a:stretch>
        </p:blipFill>
        <p:spPr bwMode="auto">
          <a:xfrm>
            <a:off x="2286000" y="152400"/>
            <a:ext cx="4381500" cy="445770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a:t>
            </a:r>
            <a:endParaRPr lang="en-US" dirty="0"/>
          </a:p>
        </p:txBody>
      </p:sp>
      <p:sp>
        <p:nvSpPr>
          <p:cNvPr id="3" name="Content Placeholder 2"/>
          <p:cNvSpPr>
            <a:spLocks noGrp="1"/>
          </p:cNvSpPr>
          <p:nvPr>
            <p:ph idx="1"/>
          </p:nvPr>
        </p:nvSpPr>
        <p:spPr/>
        <p:txBody>
          <a:bodyPr/>
          <a:lstStyle/>
          <a:p>
            <a:r>
              <a:rPr lang="en-US" dirty="0" smtClean="0"/>
              <a:t>Word (2 Examples)</a:t>
            </a:r>
          </a:p>
          <a:p>
            <a:r>
              <a:rPr lang="en-US" dirty="0" smtClean="0"/>
              <a:t>Excel (8 Examples)</a:t>
            </a:r>
          </a:p>
          <a:p>
            <a:r>
              <a:rPr lang="en-US" dirty="0" smtClean="0"/>
              <a:t>Global Update (1 Example)</a:t>
            </a:r>
          </a:p>
          <a:p>
            <a:r>
              <a:rPr lang="en-US" dirty="0"/>
              <a:t>Getting item barcodes into a review </a:t>
            </a:r>
            <a:r>
              <a:rPr lang="en-US" dirty="0" smtClean="0"/>
              <a:t>file </a:t>
            </a:r>
            <a:br>
              <a:rPr lang="en-US" dirty="0" smtClean="0"/>
            </a:br>
            <a:r>
              <a:rPr lang="en-US" dirty="0" smtClean="0"/>
              <a:t>(5 ways)</a:t>
            </a:r>
          </a:p>
          <a:p>
            <a:r>
              <a:rPr lang="en-US" i="1" dirty="0" smtClean="0"/>
              <a:t>Word &amp; Excel 2007</a:t>
            </a:r>
            <a:endParaRPr lang="en-US" i="1"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Word</a:t>
            </a:r>
            <a:endParaRPr lang="en-US" dirty="0"/>
          </a:p>
        </p:txBody>
      </p:sp>
      <p:pic>
        <p:nvPicPr>
          <p:cNvPr id="37892" name="Picture 4" descr="Microsoft loses $290m patent case over Word tool"/>
          <p:cNvPicPr>
            <a:picLocks noChangeAspect="1" noChangeArrowheads="1"/>
          </p:cNvPicPr>
          <p:nvPr/>
        </p:nvPicPr>
        <p:blipFill>
          <a:blip r:embed="rId2" cstate="print"/>
          <a:srcRect/>
          <a:stretch>
            <a:fillRect/>
          </a:stretch>
        </p:blipFill>
        <p:spPr bwMode="auto">
          <a:xfrm>
            <a:off x="2286000" y="1600200"/>
            <a:ext cx="4381500" cy="2743201"/>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Word: Replace</a:t>
            </a:r>
            <a:endParaRPr lang="en-US" dirty="0"/>
          </a:p>
        </p:txBody>
      </p:sp>
      <p:sp>
        <p:nvSpPr>
          <p:cNvPr id="3" name="Content Placeholder 2"/>
          <p:cNvSpPr>
            <a:spLocks noGrp="1"/>
          </p:cNvSpPr>
          <p:nvPr>
            <p:ph idx="1"/>
          </p:nvPr>
        </p:nvSpPr>
        <p:spPr/>
        <p:txBody>
          <a:bodyPr/>
          <a:lstStyle/>
          <a:p>
            <a:r>
              <a:rPr lang="en-US" dirty="0" smtClean="0"/>
              <a:t>Home tab, editing group</a:t>
            </a:r>
          </a:p>
          <a:p>
            <a:r>
              <a:rPr lang="en-US" dirty="0" smtClean="0"/>
              <a:t>CTRL+H   (for </a:t>
            </a:r>
            <a:r>
              <a:rPr lang="en-US" dirty="0" err="1" smtClean="0"/>
              <a:t>cHange</a:t>
            </a:r>
            <a:r>
              <a:rPr lang="en-US" dirty="0" smtClean="0"/>
              <a:t>)</a:t>
            </a:r>
          </a:p>
          <a:p>
            <a:r>
              <a:rPr lang="en-US" dirty="0" smtClean="0"/>
              <a:t>Replace </a:t>
            </a:r>
            <a:r>
              <a:rPr lang="en-US" u="sng" dirty="0" smtClean="0"/>
              <a:t>A</a:t>
            </a:r>
            <a:r>
              <a:rPr lang="en-US" dirty="0" smtClean="0"/>
              <a:t>ll (or ALT+A)</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Word: Replace</a:t>
            </a:r>
            <a:endParaRPr lang="en-US" dirty="0"/>
          </a:p>
        </p:txBody>
      </p:sp>
      <p:sp>
        <p:nvSpPr>
          <p:cNvPr id="3" name="Content Placeholder 2"/>
          <p:cNvSpPr>
            <a:spLocks noGrp="1"/>
          </p:cNvSpPr>
          <p:nvPr>
            <p:ph idx="1"/>
          </p:nvPr>
        </p:nvSpPr>
        <p:spPr/>
        <p:txBody>
          <a:bodyPr/>
          <a:lstStyle/>
          <a:p>
            <a:r>
              <a:rPr lang="en-US" u="sng" dirty="0" smtClean="0"/>
              <a:t>P</a:t>
            </a:r>
            <a:r>
              <a:rPr lang="en-US" dirty="0" smtClean="0"/>
              <a:t>aragraph break:  ^p</a:t>
            </a:r>
          </a:p>
          <a:p>
            <a:r>
              <a:rPr lang="en-US" u="sng" dirty="0" smtClean="0"/>
              <a:t>T</a:t>
            </a:r>
            <a:r>
              <a:rPr lang="en-US" dirty="0" smtClean="0"/>
              <a:t>ab: ^t</a:t>
            </a:r>
          </a:p>
          <a:p>
            <a:r>
              <a:rPr lang="en-US" dirty="0" smtClean="0"/>
              <a:t>Manual </a:t>
            </a:r>
            <a:r>
              <a:rPr lang="en-US" u="sng" dirty="0" smtClean="0"/>
              <a:t>L</a:t>
            </a:r>
            <a:r>
              <a:rPr lang="en-US" dirty="0" smtClean="0"/>
              <a:t>ine Break: ^l</a:t>
            </a:r>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86600" cy="1143000"/>
          </a:xfrm>
        </p:spPr>
        <p:txBody>
          <a:bodyPr>
            <a:normAutofit fontScale="90000"/>
          </a:bodyPr>
          <a:lstStyle/>
          <a:p>
            <a:r>
              <a:rPr lang="en-US" sz="3600" dirty="0" smtClean="0"/>
              <a:t>Word: Replace: Example 1</a:t>
            </a:r>
            <a:br>
              <a:rPr lang="en-US" sz="3600" dirty="0" smtClean="0"/>
            </a:br>
            <a:r>
              <a:rPr lang="en-US" sz="3600" dirty="0" smtClean="0"/>
              <a:t>Clean Up a List</a:t>
            </a:r>
            <a:endParaRPr lang="en-US" dirty="0"/>
          </a:p>
        </p:txBody>
      </p:sp>
      <p:sp>
        <p:nvSpPr>
          <p:cNvPr id="3" name="Content Placeholder 2"/>
          <p:cNvSpPr>
            <a:spLocks noGrp="1"/>
          </p:cNvSpPr>
          <p:nvPr>
            <p:ph idx="1"/>
          </p:nvPr>
        </p:nvSpPr>
        <p:spPr/>
        <p:txBody>
          <a:bodyPr/>
          <a:lstStyle/>
          <a:p>
            <a:r>
              <a:rPr lang="en-US" dirty="0" smtClean="0"/>
              <a:t>Create Lists</a:t>
            </a:r>
          </a:p>
          <a:p>
            <a:pPr lvl="1"/>
            <a:r>
              <a:rPr lang="en-US" dirty="0" smtClean="0"/>
              <a:t>List</a:t>
            </a:r>
          </a:p>
          <a:p>
            <a:pPr lvl="1"/>
            <a:r>
              <a:rPr lang="en-US" dirty="0" smtClean="0"/>
              <a:t>Blank lines between records: 1</a:t>
            </a:r>
          </a:p>
          <a:p>
            <a:pPr lvl="1"/>
            <a:r>
              <a:rPr lang="en-US" dirty="0" smtClean="0"/>
              <a:t>Print to email</a:t>
            </a:r>
          </a:p>
          <a:p>
            <a:r>
              <a:rPr lang="en-US" dirty="0" smtClean="0"/>
              <a:t>Copy from email, paste into Word</a:t>
            </a:r>
            <a:endParaRPr lang="en-US" dirty="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86600" cy="1143000"/>
          </a:xfrm>
        </p:spPr>
        <p:txBody>
          <a:bodyPr>
            <a:normAutofit fontScale="90000"/>
          </a:bodyPr>
          <a:lstStyle/>
          <a:p>
            <a:r>
              <a:rPr lang="en-US" sz="3600" dirty="0" smtClean="0"/>
              <a:t>Word: Replace: Example 1</a:t>
            </a:r>
            <a:br>
              <a:rPr lang="en-US" sz="3600" dirty="0" smtClean="0"/>
            </a:br>
            <a:r>
              <a:rPr lang="en-US" sz="3600" dirty="0" smtClean="0"/>
              <a:t>Clean Up a List</a:t>
            </a:r>
            <a:endParaRPr lang="en-US" dirty="0"/>
          </a:p>
        </p:txBody>
      </p:sp>
      <p:sp>
        <p:nvSpPr>
          <p:cNvPr id="3" name="Content Placeholder 2"/>
          <p:cNvSpPr>
            <a:spLocks noGrp="1"/>
          </p:cNvSpPr>
          <p:nvPr>
            <p:ph idx="1"/>
          </p:nvPr>
        </p:nvSpPr>
        <p:spPr/>
        <p:txBody>
          <a:bodyPr/>
          <a:lstStyle/>
          <a:p>
            <a:r>
              <a:rPr lang="en-US" dirty="0" smtClean="0"/>
              <a:t>Put CAT DATE on its own line.</a:t>
            </a:r>
          </a:p>
          <a:p>
            <a:pPr lvl="1"/>
            <a:r>
              <a:rPr lang="en-US" dirty="0" smtClean="0"/>
              <a:t>CAT DATE to ^</a:t>
            </a:r>
            <a:r>
              <a:rPr lang="en-US" dirty="0" err="1" smtClean="0"/>
              <a:t>pCAT</a:t>
            </a:r>
            <a:r>
              <a:rPr lang="en-US" dirty="0" smtClean="0"/>
              <a:t> DATE</a:t>
            </a:r>
          </a:p>
          <a:p>
            <a:r>
              <a:rPr lang="en-US" dirty="0" smtClean="0"/>
              <a:t>Change field labels to something else.</a:t>
            </a:r>
          </a:p>
          <a:p>
            <a:pPr lvl="1"/>
            <a:r>
              <a:rPr lang="en-US" dirty="0" smtClean="0"/>
              <a:t>Click “More”: “Match Case”</a:t>
            </a:r>
          </a:p>
          <a:p>
            <a:r>
              <a:rPr lang="en-US" dirty="0" smtClean="0"/>
              <a:t>Remove periods at end of lines (some have spaces after them)</a:t>
            </a:r>
          </a:p>
          <a:p>
            <a:pPr lvl="1"/>
            <a:r>
              <a:rPr lang="en-US" dirty="0" smtClean="0"/>
              <a:t>. ^p to ^p</a:t>
            </a:r>
          </a:p>
          <a:p>
            <a:pPr lvl="1"/>
            <a:r>
              <a:rPr lang="en-US" dirty="0" smtClean="0"/>
              <a:t>.^p to ^p</a:t>
            </a:r>
          </a:p>
          <a:p>
            <a:pPr>
              <a:buNone/>
            </a:pPr>
            <a:endParaRPr lang="en-US" dirty="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86600" cy="1143000"/>
          </a:xfrm>
        </p:spPr>
        <p:txBody>
          <a:bodyPr>
            <a:normAutofit fontScale="90000"/>
          </a:bodyPr>
          <a:lstStyle/>
          <a:p>
            <a:r>
              <a:rPr lang="en-US" sz="3600" dirty="0" smtClean="0"/>
              <a:t>Word: Replace: Example 1</a:t>
            </a:r>
            <a:br>
              <a:rPr lang="en-US" sz="3600" dirty="0" smtClean="0"/>
            </a:br>
            <a:r>
              <a:rPr lang="en-US" sz="3600" dirty="0" smtClean="0"/>
              <a:t>Clean Up a List</a:t>
            </a:r>
            <a:endParaRPr lang="en-US" dirty="0"/>
          </a:p>
        </p:txBody>
      </p:sp>
      <p:sp>
        <p:nvSpPr>
          <p:cNvPr id="3" name="Content Placeholder 2"/>
          <p:cNvSpPr>
            <a:spLocks noGrp="1"/>
          </p:cNvSpPr>
          <p:nvPr>
            <p:ph idx="1"/>
          </p:nvPr>
        </p:nvSpPr>
        <p:spPr/>
        <p:txBody>
          <a:bodyPr/>
          <a:lstStyle/>
          <a:p>
            <a:r>
              <a:rPr lang="en-US" dirty="0" smtClean="0"/>
              <a:t>Remove paragraph breaks within titles.</a:t>
            </a:r>
          </a:p>
          <a:p>
            <a:pPr lvl="1"/>
            <a:r>
              <a:rPr lang="en-US" dirty="0" smtClean="0"/>
              <a:t>Change other paragraph breaks to line breaks:</a:t>
            </a:r>
          </a:p>
          <a:p>
            <a:pPr lvl="2"/>
            <a:r>
              <a:rPr lang="en-US" dirty="0" smtClean="0"/>
              <a:t>^</a:t>
            </a:r>
            <a:r>
              <a:rPr lang="en-US" dirty="0" err="1" smtClean="0"/>
              <a:t>p^pTITLE</a:t>
            </a:r>
            <a:r>
              <a:rPr lang="en-US" dirty="0" smtClean="0"/>
              <a:t> to ^</a:t>
            </a:r>
            <a:r>
              <a:rPr lang="en-US" dirty="0" err="1" smtClean="0"/>
              <a:t>l^lTITLE</a:t>
            </a:r>
            <a:endParaRPr lang="en-US" dirty="0" smtClean="0"/>
          </a:p>
          <a:p>
            <a:pPr lvl="2"/>
            <a:r>
              <a:rPr lang="en-US" dirty="0" smtClean="0"/>
              <a:t>^</a:t>
            </a:r>
            <a:r>
              <a:rPr lang="en-US" dirty="0" err="1" smtClean="0"/>
              <a:t>pBIB</a:t>
            </a:r>
            <a:r>
              <a:rPr lang="en-US" dirty="0" smtClean="0"/>
              <a:t> LOC to ^</a:t>
            </a:r>
            <a:r>
              <a:rPr lang="en-US" dirty="0" err="1" smtClean="0"/>
              <a:t>lBIB</a:t>
            </a:r>
            <a:r>
              <a:rPr lang="en-US" dirty="0" smtClean="0"/>
              <a:t> LOC</a:t>
            </a:r>
          </a:p>
          <a:p>
            <a:pPr lvl="2"/>
            <a:r>
              <a:rPr lang="en-US" dirty="0" smtClean="0"/>
              <a:t>^</a:t>
            </a:r>
            <a:r>
              <a:rPr lang="en-US" dirty="0" err="1" smtClean="0"/>
              <a:t>pCAT</a:t>
            </a:r>
            <a:r>
              <a:rPr lang="en-US" dirty="0" smtClean="0"/>
              <a:t> DATE to ^</a:t>
            </a:r>
            <a:r>
              <a:rPr lang="en-US" dirty="0" err="1" smtClean="0"/>
              <a:t>lCAT</a:t>
            </a:r>
            <a:r>
              <a:rPr lang="en-US" dirty="0" smtClean="0"/>
              <a:t> DATE</a:t>
            </a:r>
          </a:p>
          <a:p>
            <a:pPr lvl="1"/>
            <a:r>
              <a:rPr lang="en-US" dirty="0" smtClean="0"/>
              <a:t>Change remaining paragraph marks to spaces</a:t>
            </a:r>
            <a:br>
              <a:rPr lang="en-US" dirty="0" smtClean="0"/>
            </a:br>
            <a:r>
              <a:rPr lang="en-US" dirty="0" smtClean="0"/>
              <a:t/>
            </a:r>
            <a:br>
              <a:rPr lang="en-US" dirty="0" smtClean="0"/>
            </a:br>
            <a:endParaRPr lang="en-US" dirty="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1143000"/>
          </a:xfrm>
        </p:spPr>
        <p:txBody>
          <a:bodyPr>
            <a:normAutofit fontScale="90000"/>
          </a:bodyPr>
          <a:lstStyle/>
          <a:p>
            <a:r>
              <a:rPr lang="en-US" dirty="0" smtClean="0"/>
              <a:t>Word: Replace: Example 2</a:t>
            </a:r>
            <a:br>
              <a:rPr lang="en-US" dirty="0" smtClean="0"/>
            </a:br>
            <a:r>
              <a:rPr lang="en-US" dirty="0" smtClean="0"/>
              <a:t> Magazine list for web site</a:t>
            </a:r>
            <a:endParaRPr lang="en-US" dirty="0"/>
          </a:p>
        </p:txBody>
      </p:sp>
      <p:sp>
        <p:nvSpPr>
          <p:cNvPr id="3" name="Content Placeholder 2"/>
          <p:cNvSpPr>
            <a:spLocks noGrp="1"/>
          </p:cNvSpPr>
          <p:nvPr>
            <p:ph idx="1"/>
          </p:nvPr>
        </p:nvSpPr>
        <p:spPr/>
        <p:txBody>
          <a:bodyPr/>
          <a:lstStyle/>
          <a:p>
            <a:r>
              <a:rPr lang="en-US" dirty="0" smtClean="0"/>
              <a:t>Click a title to go to the catalog record</a:t>
            </a:r>
          </a:p>
          <a:p>
            <a:r>
              <a:rPr lang="en-US" dirty="0" smtClean="0"/>
              <a:t>Construct </a:t>
            </a:r>
            <a:r>
              <a:rPr lang="en-US" dirty="0"/>
              <a:t>URLs from the bib number and </a:t>
            </a:r>
            <a:r>
              <a:rPr lang="en-US" dirty="0" smtClean="0"/>
              <a:t>title </a:t>
            </a:r>
          </a:p>
          <a:p>
            <a:r>
              <a:rPr lang="en-US" dirty="0" smtClean="0"/>
              <a:t>When creating code in Word, beware of</a:t>
            </a:r>
          </a:p>
          <a:p>
            <a:pPr lvl="1"/>
            <a:r>
              <a:rPr lang="en-US" dirty="0" smtClean="0"/>
              <a:t>smart quotes</a:t>
            </a:r>
          </a:p>
          <a:p>
            <a:pPr lvl="1"/>
            <a:r>
              <a:rPr lang="en-US" dirty="0" smtClean="0"/>
              <a:t>extra spaces</a:t>
            </a:r>
          </a:p>
          <a:p>
            <a:pPr lvl="1"/>
            <a:r>
              <a:rPr lang="en-US" dirty="0" smtClean="0"/>
              <a:t>other things</a:t>
            </a:r>
          </a:p>
          <a:p>
            <a:pPr lvl="1"/>
            <a:r>
              <a:rPr lang="en-US" dirty="0" smtClean="0"/>
              <a:t>Set in Word options: advanced</a:t>
            </a:r>
          </a:p>
          <a:p>
            <a:endParaRPr lang="en-US" sz="2400" dirty="0"/>
          </a:p>
          <a:p>
            <a:endParaRPr lang="en-US" dirty="0" smtClean="0"/>
          </a:p>
          <a:p>
            <a:endParaRPr lang="en-US" dirty="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1143000"/>
          </a:xfrm>
        </p:spPr>
        <p:txBody>
          <a:bodyPr>
            <a:normAutofit fontScale="90000"/>
          </a:bodyPr>
          <a:lstStyle/>
          <a:p>
            <a:r>
              <a:rPr lang="en-US" dirty="0" smtClean="0"/>
              <a:t>Word: Replace: Example 2</a:t>
            </a:r>
            <a:br>
              <a:rPr lang="en-US" dirty="0" smtClean="0"/>
            </a:br>
            <a:r>
              <a:rPr lang="en-US" dirty="0" smtClean="0"/>
              <a:t> Magazine list for web site</a:t>
            </a:r>
            <a:endParaRPr lang="en-US" dirty="0"/>
          </a:p>
        </p:txBody>
      </p:sp>
      <p:sp>
        <p:nvSpPr>
          <p:cNvPr id="3" name="Content Placeholder 2"/>
          <p:cNvSpPr>
            <a:spLocks noGrp="1"/>
          </p:cNvSpPr>
          <p:nvPr>
            <p:ph idx="1"/>
          </p:nvPr>
        </p:nvSpPr>
        <p:spPr/>
        <p:txBody>
          <a:bodyPr/>
          <a:lstStyle/>
          <a:p>
            <a:r>
              <a:rPr lang="en-US" sz="2400" dirty="0" smtClean="0"/>
              <a:t>URL that links to the full display for a bib record:</a:t>
            </a:r>
            <a:br>
              <a:rPr lang="en-US" sz="2400" dirty="0" smtClean="0"/>
            </a:br>
            <a:r>
              <a:rPr lang="en-US" sz="2400" dirty="0" smtClean="0"/>
              <a:t/>
            </a:r>
            <a:br>
              <a:rPr lang="en-US" sz="2400" dirty="0" smtClean="0"/>
            </a:br>
            <a:r>
              <a:rPr lang="en-US" sz="2400" dirty="0" smtClean="0"/>
              <a:t>http</a:t>
            </a:r>
            <a:r>
              <a:rPr lang="en-US" sz="2400" dirty="0"/>
              <a:t>://catalog.cuyahogafallslibrary.org/record=b1236742</a:t>
            </a:r>
          </a:p>
          <a:p>
            <a:endParaRPr lang="en-US" dirty="0" smtClean="0"/>
          </a:p>
          <a:p>
            <a:endParaRPr lang="en-US" dirty="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1143000"/>
          </a:xfrm>
        </p:spPr>
        <p:txBody>
          <a:bodyPr>
            <a:normAutofit fontScale="90000"/>
          </a:bodyPr>
          <a:lstStyle/>
          <a:p>
            <a:r>
              <a:rPr lang="en-US" dirty="0" smtClean="0"/>
              <a:t>Word: Replace: Example 2</a:t>
            </a:r>
            <a:br>
              <a:rPr lang="en-US" dirty="0" smtClean="0"/>
            </a:br>
            <a:r>
              <a:rPr lang="en-US" dirty="0" smtClean="0"/>
              <a:t> Magazine list for web site</a:t>
            </a:r>
            <a:endParaRPr lang="en-US" dirty="0"/>
          </a:p>
        </p:txBody>
      </p:sp>
      <p:sp>
        <p:nvSpPr>
          <p:cNvPr id="3" name="Content Placeholder 2"/>
          <p:cNvSpPr>
            <a:spLocks noGrp="1"/>
          </p:cNvSpPr>
          <p:nvPr>
            <p:ph idx="1"/>
          </p:nvPr>
        </p:nvSpPr>
        <p:spPr/>
        <p:txBody>
          <a:bodyPr/>
          <a:lstStyle/>
          <a:p>
            <a:r>
              <a:rPr lang="en-US" sz="2400" dirty="0" smtClean="0"/>
              <a:t>Start with:</a:t>
            </a:r>
            <a:br>
              <a:rPr lang="en-US" sz="2400" dirty="0" smtClean="0"/>
            </a:br>
            <a:r>
              <a:rPr lang="en-US" sz="2400" dirty="0" smtClean="0"/>
              <a:t>b1236742	AARP the Magazine</a:t>
            </a:r>
          </a:p>
          <a:p>
            <a:endParaRPr lang="en-US" sz="2400" dirty="0" smtClean="0"/>
          </a:p>
          <a:p>
            <a:r>
              <a:rPr lang="en-US" sz="2400" dirty="0" smtClean="0"/>
              <a:t>With URL, HTML &amp; title:</a:t>
            </a:r>
            <a:br>
              <a:rPr lang="en-US" sz="2400" dirty="0" smtClean="0"/>
            </a:br>
            <a:r>
              <a:rPr lang="en-US" sz="2400" dirty="0" smtClean="0"/>
              <a:t>&lt;</a:t>
            </a:r>
            <a:r>
              <a:rPr lang="en-US" sz="2400" dirty="0"/>
              <a:t>a </a:t>
            </a:r>
            <a:r>
              <a:rPr lang="en-US" sz="2400" dirty="0" err="1"/>
              <a:t>href</a:t>
            </a:r>
            <a:r>
              <a:rPr lang="en-US" sz="2400" dirty="0" smtClean="0"/>
              <a:t>="</a:t>
            </a:r>
            <a:br>
              <a:rPr lang="en-US" sz="2400" dirty="0" smtClean="0"/>
            </a:br>
            <a:r>
              <a:rPr lang="en-US" sz="2400" dirty="0" smtClean="0"/>
              <a:t>http</a:t>
            </a:r>
            <a:r>
              <a:rPr lang="en-US" sz="2400" dirty="0"/>
              <a:t>://</a:t>
            </a:r>
            <a:r>
              <a:rPr lang="en-US" sz="2400" dirty="0" smtClean="0"/>
              <a:t>catalog.cuyahogafallslibrary.org/record=b1236742</a:t>
            </a:r>
            <a:br>
              <a:rPr lang="en-US" sz="2400" dirty="0" smtClean="0"/>
            </a:br>
            <a:r>
              <a:rPr lang="en-US" sz="2400" dirty="0" smtClean="0"/>
              <a:t>"&gt;</a:t>
            </a:r>
            <a:r>
              <a:rPr lang="en-US" sz="2400" dirty="0"/>
              <a:t>AARP the Magazine&lt;/a&gt;&lt;</a:t>
            </a:r>
            <a:r>
              <a:rPr lang="en-US" sz="2400" dirty="0" err="1"/>
              <a:t>br</a:t>
            </a:r>
            <a:r>
              <a:rPr lang="en-US" sz="2400" dirty="0"/>
              <a:t> /&gt;</a:t>
            </a:r>
          </a:p>
          <a:p>
            <a:endParaRPr lang="en-US" dirty="0" smtClean="0"/>
          </a:p>
          <a:p>
            <a:endParaRPr lang="en-US" dirty="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86600" cy="1143000"/>
          </a:xfrm>
        </p:spPr>
        <p:txBody>
          <a:bodyPr>
            <a:normAutofit fontScale="90000"/>
          </a:bodyPr>
          <a:lstStyle/>
          <a:p>
            <a:r>
              <a:rPr lang="en-US" dirty="0" smtClean="0"/>
              <a:t>Word: Replace: Example 2</a:t>
            </a:r>
            <a:br>
              <a:rPr lang="en-US" dirty="0" smtClean="0"/>
            </a:br>
            <a:r>
              <a:rPr lang="en-US" dirty="0" smtClean="0"/>
              <a:t> Magazine list for web site</a:t>
            </a:r>
            <a:endParaRPr lang="en-US" dirty="0"/>
          </a:p>
        </p:txBody>
      </p:sp>
      <p:sp>
        <p:nvSpPr>
          <p:cNvPr id="3" name="Content Placeholder 2"/>
          <p:cNvSpPr>
            <a:spLocks noGrp="1"/>
          </p:cNvSpPr>
          <p:nvPr>
            <p:ph idx="1"/>
          </p:nvPr>
        </p:nvSpPr>
        <p:spPr/>
        <p:txBody>
          <a:bodyPr/>
          <a:lstStyle/>
          <a:p>
            <a:r>
              <a:rPr lang="en-US" dirty="0" smtClean="0"/>
              <a:t>Create Lists: Export (to get columns)</a:t>
            </a:r>
          </a:p>
          <a:p>
            <a:pPr lvl="1"/>
            <a:r>
              <a:rPr lang="en-US" dirty="0" smtClean="0"/>
              <a:t>Field delimiter: tab (control character 9)</a:t>
            </a:r>
          </a:p>
          <a:p>
            <a:pPr lvl="1"/>
            <a:r>
              <a:rPr lang="en-US" dirty="0" smtClean="0"/>
              <a:t>Text qualifier: none</a:t>
            </a:r>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86600" cy="1143000"/>
          </a:xfrm>
        </p:spPr>
        <p:txBody>
          <a:bodyPr>
            <a:normAutofit fontScale="90000"/>
          </a:bodyPr>
          <a:lstStyle/>
          <a:p>
            <a:r>
              <a:rPr lang="en-US" dirty="0" smtClean="0"/>
              <a:t>Word: Replace: Example 2</a:t>
            </a:r>
            <a:br>
              <a:rPr lang="en-US" dirty="0" smtClean="0"/>
            </a:br>
            <a:r>
              <a:rPr lang="en-US" dirty="0" smtClean="0"/>
              <a:t> Magazine list for web site</a:t>
            </a:r>
            <a:endParaRPr lang="en-US" dirty="0"/>
          </a:p>
        </p:txBody>
      </p:sp>
      <p:sp>
        <p:nvSpPr>
          <p:cNvPr id="3" name="Content Placeholder 2"/>
          <p:cNvSpPr>
            <a:spLocks noGrp="1"/>
          </p:cNvSpPr>
          <p:nvPr>
            <p:ph idx="1"/>
          </p:nvPr>
        </p:nvSpPr>
        <p:spPr/>
        <p:txBody>
          <a:bodyPr/>
          <a:lstStyle/>
          <a:p>
            <a:endParaRPr lang="en-US" dirty="0" smtClean="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pic>
        <p:nvPicPr>
          <p:cNvPr id="6" name="Picture 5"/>
          <p:cNvPicPr/>
          <p:nvPr/>
        </p:nvPicPr>
        <p:blipFill>
          <a:blip r:embed="rId3" cstate="print"/>
          <a:srcRect l="37660" t="23932" r="32372" b="20228"/>
          <a:stretch>
            <a:fillRect/>
          </a:stretch>
        </p:blipFill>
        <p:spPr bwMode="auto">
          <a:xfrm>
            <a:off x="2133600" y="1371600"/>
            <a:ext cx="4495800" cy="4712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1143000"/>
          </a:xfrm>
        </p:spPr>
        <p:txBody>
          <a:bodyPr>
            <a:normAutofit fontScale="90000"/>
          </a:bodyPr>
          <a:lstStyle/>
          <a:p>
            <a:r>
              <a:rPr lang="en-US" dirty="0" smtClean="0"/>
              <a:t>Word: Replace: Example 2</a:t>
            </a:r>
            <a:br>
              <a:rPr lang="en-US" dirty="0" smtClean="0"/>
            </a:br>
            <a:r>
              <a:rPr lang="en-US" dirty="0" smtClean="0"/>
              <a:t> Magazine list for web site</a:t>
            </a:r>
            <a:endParaRPr lang="en-US" dirty="0"/>
          </a:p>
        </p:txBody>
      </p:sp>
      <p:sp>
        <p:nvSpPr>
          <p:cNvPr id="3" name="Content Placeholder 2"/>
          <p:cNvSpPr>
            <a:spLocks noGrp="1"/>
          </p:cNvSpPr>
          <p:nvPr>
            <p:ph idx="1"/>
          </p:nvPr>
        </p:nvSpPr>
        <p:spPr/>
        <p:txBody>
          <a:bodyPr/>
          <a:lstStyle/>
          <a:p>
            <a:r>
              <a:rPr lang="en-US" dirty="0" smtClean="0"/>
              <a:t>Beginning of line: </a:t>
            </a:r>
          </a:p>
          <a:p>
            <a:pPr lvl="1"/>
            <a:r>
              <a:rPr lang="en-US" dirty="0" smtClean="0"/>
              <a:t>Replace ^p with</a:t>
            </a:r>
            <a:br>
              <a:rPr lang="en-US" dirty="0" smtClean="0"/>
            </a:br>
            <a:r>
              <a:rPr lang="en-US" sz="2000" dirty="0" smtClean="0"/>
              <a:t>^p&lt;a </a:t>
            </a:r>
            <a:r>
              <a:rPr lang="en-US" sz="2000" dirty="0" err="1" smtClean="0"/>
              <a:t>href</a:t>
            </a:r>
            <a:r>
              <a:rPr lang="en-US" sz="2000" dirty="0" smtClean="0"/>
              <a:t>="http://catalog.cuyahogafallslibrary.org/record=</a:t>
            </a:r>
          </a:p>
          <a:p>
            <a:r>
              <a:rPr lang="en-US" dirty="0" smtClean="0"/>
              <a:t>Between bib # &amp; title:</a:t>
            </a:r>
          </a:p>
          <a:p>
            <a:pPr lvl="1"/>
            <a:r>
              <a:rPr lang="en-US" dirty="0" smtClean="0"/>
              <a:t>Replace ^t with "&gt;</a:t>
            </a:r>
          </a:p>
          <a:p>
            <a:r>
              <a:rPr lang="en-US" dirty="0" smtClean="0"/>
              <a:t>End of line:</a:t>
            </a:r>
          </a:p>
          <a:p>
            <a:pPr lvl="1"/>
            <a:r>
              <a:rPr lang="en-US" dirty="0" smtClean="0"/>
              <a:t>Replace ^p with &lt;/a&gt;&lt;</a:t>
            </a:r>
            <a:r>
              <a:rPr lang="en-US" dirty="0" err="1" smtClean="0"/>
              <a:t>br</a:t>
            </a:r>
            <a:r>
              <a:rPr lang="en-US" dirty="0" smtClean="0"/>
              <a:t> /&gt;^p</a:t>
            </a:r>
            <a:endParaRPr lang="en-US" dirty="0"/>
          </a:p>
          <a:p>
            <a:endParaRPr lang="en-US" dirty="0" smtClean="0"/>
          </a:p>
          <a:p>
            <a:endParaRPr lang="en-US" dirty="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1143000"/>
          </a:xfrm>
        </p:spPr>
        <p:txBody>
          <a:bodyPr>
            <a:normAutofit fontScale="90000"/>
          </a:bodyPr>
          <a:lstStyle/>
          <a:p>
            <a:r>
              <a:rPr lang="en-US" dirty="0" smtClean="0"/>
              <a:t>Word: Replace: Example 2</a:t>
            </a:r>
            <a:br>
              <a:rPr lang="en-US" dirty="0" smtClean="0"/>
            </a:br>
            <a:r>
              <a:rPr lang="en-US" dirty="0" smtClean="0"/>
              <a:t> Magazine list for web site</a:t>
            </a:r>
            <a:endParaRPr lang="en-US" dirty="0"/>
          </a:p>
        </p:txBody>
      </p:sp>
      <p:sp>
        <p:nvSpPr>
          <p:cNvPr id="3" name="Content Placeholder 2"/>
          <p:cNvSpPr>
            <a:spLocks noGrp="1"/>
          </p:cNvSpPr>
          <p:nvPr>
            <p:ph idx="1"/>
          </p:nvPr>
        </p:nvSpPr>
        <p:spPr/>
        <p:txBody>
          <a:bodyPr/>
          <a:lstStyle/>
          <a:p>
            <a:r>
              <a:rPr lang="en-US" sz="2400" dirty="0" smtClean="0"/>
              <a:t>b1236742	AARP the Magazine</a:t>
            </a:r>
          </a:p>
          <a:p>
            <a:r>
              <a:rPr lang="en-US" sz="2400" dirty="0" smtClean="0"/>
              <a:t>&lt;</a:t>
            </a:r>
            <a:r>
              <a:rPr lang="en-US" sz="2400" dirty="0"/>
              <a:t>a </a:t>
            </a:r>
            <a:r>
              <a:rPr lang="en-US" sz="2400" dirty="0" err="1"/>
              <a:t>href</a:t>
            </a:r>
            <a:r>
              <a:rPr lang="en-US" sz="2400" dirty="0" smtClean="0"/>
              <a:t>="</a:t>
            </a:r>
            <a:br>
              <a:rPr lang="en-US" sz="2400" dirty="0" smtClean="0"/>
            </a:br>
            <a:r>
              <a:rPr lang="en-US" sz="2400" dirty="0" smtClean="0"/>
              <a:t>http</a:t>
            </a:r>
            <a:r>
              <a:rPr lang="en-US" sz="2400" dirty="0"/>
              <a:t>://</a:t>
            </a:r>
            <a:r>
              <a:rPr lang="en-US" sz="2400" dirty="0" smtClean="0"/>
              <a:t>catalog.cuyahogafallslibrary.org/record=b1236742</a:t>
            </a:r>
            <a:br>
              <a:rPr lang="en-US" sz="2400" dirty="0" smtClean="0"/>
            </a:br>
            <a:r>
              <a:rPr lang="en-US" sz="2400" dirty="0" smtClean="0"/>
              <a:t>"&gt;</a:t>
            </a:r>
            <a:r>
              <a:rPr lang="en-US" sz="2400" dirty="0"/>
              <a:t>AARP the Magazine&lt;/a&gt;&lt;</a:t>
            </a:r>
            <a:r>
              <a:rPr lang="en-US" sz="2400" dirty="0" err="1"/>
              <a:t>br</a:t>
            </a:r>
            <a:r>
              <a:rPr lang="en-US" sz="2400" dirty="0"/>
              <a:t> /&gt;</a:t>
            </a:r>
          </a:p>
          <a:p>
            <a:endParaRPr lang="en-US" dirty="0" smtClean="0"/>
          </a:p>
          <a:p>
            <a:endParaRPr lang="en-US" dirty="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Excel</a:t>
            </a:r>
            <a:endParaRPr lang="en-US" dirty="0"/>
          </a:p>
        </p:txBody>
      </p:sp>
      <p:pic>
        <p:nvPicPr>
          <p:cNvPr id="38914" name="Picture 2" descr="http://www.makronetz.com/typo3temp/pics/30440f3380.jpg"/>
          <p:cNvPicPr>
            <a:picLocks noChangeAspect="1" noChangeArrowheads="1"/>
          </p:cNvPicPr>
          <p:nvPr/>
        </p:nvPicPr>
        <p:blipFill>
          <a:blip r:embed="rId2" cstate="print"/>
          <a:srcRect/>
          <a:stretch>
            <a:fillRect/>
          </a:stretch>
        </p:blipFill>
        <p:spPr bwMode="auto">
          <a:xfrm>
            <a:off x="2971800" y="1524000"/>
            <a:ext cx="3048000" cy="304800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Export, Open in Excel</a:t>
            </a:r>
            <a:endParaRPr lang="en-US" dirty="0"/>
          </a:p>
        </p:txBody>
      </p:sp>
      <p:sp>
        <p:nvSpPr>
          <p:cNvPr id="3" name="Content Placeholder 2"/>
          <p:cNvSpPr>
            <a:spLocks noGrp="1"/>
          </p:cNvSpPr>
          <p:nvPr>
            <p:ph idx="1"/>
          </p:nvPr>
        </p:nvSpPr>
        <p:spPr/>
        <p:txBody>
          <a:bodyPr/>
          <a:lstStyle/>
          <a:p>
            <a:r>
              <a:rPr lang="en-US" dirty="0" smtClean="0"/>
              <a:t>Create Lists: Export (use defaults)</a:t>
            </a:r>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pic>
        <p:nvPicPr>
          <p:cNvPr id="6" name="Picture 5"/>
          <p:cNvPicPr/>
          <p:nvPr/>
        </p:nvPicPr>
        <p:blipFill>
          <a:blip r:embed="rId3" cstate="print"/>
          <a:srcRect l="2257" t="61446" r="1806" b="16265"/>
          <a:stretch>
            <a:fillRect/>
          </a:stretch>
        </p:blipFill>
        <p:spPr bwMode="auto">
          <a:xfrm>
            <a:off x="990600" y="2209800"/>
            <a:ext cx="7002162" cy="182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Export, Open in Excel</a:t>
            </a:r>
            <a:endParaRPr lang="en-US" dirty="0"/>
          </a:p>
        </p:txBody>
      </p:sp>
      <p:sp>
        <p:nvSpPr>
          <p:cNvPr id="3" name="Content Placeholder 2"/>
          <p:cNvSpPr>
            <a:spLocks noGrp="1"/>
          </p:cNvSpPr>
          <p:nvPr>
            <p:ph idx="1"/>
          </p:nvPr>
        </p:nvSpPr>
        <p:spPr/>
        <p:txBody>
          <a:bodyPr/>
          <a:lstStyle/>
          <a:p>
            <a:r>
              <a:rPr lang="en-US" dirty="0" smtClean="0"/>
              <a:t>Excel: Open (show all file types)</a:t>
            </a:r>
          </a:p>
          <a:p>
            <a:pPr lvl="1"/>
            <a:r>
              <a:rPr lang="en-US" dirty="0" smtClean="0"/>
              <a:t>Delimited (accept default)</a:t>
            </a:r>
          </a:p>
          <a:p>
            <a:pPr lvl="1"/>
            <a:r>
              <a:rPr lang="en-US" dirty="0" smtClean="0"/>
              <a:t>Delimiter: change to comma</a:t>
            </a:r>
          </a:p>
          <a:p>
            <a:pPr lvl="1"/>
            <a:r>
              <a:rPr lang="en-US" dirty="0" smtClean="0"/>
              <a:t>Text qualifier (accept default)</a:t>
            </a:r>
          </a:p>
          <a:p>
            <a:pPr lvl="1"/>
            <a:r>
              <a:rPr lang="en-US" dirty="0" smtClean="0"/>
              <a:t>Data format for each column (accept default)</a:t>
            </a:r>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86600" cy="1143000"/>
          </a:xfrm>
        </p:spPr>
        <p:txBody>
          <a:bodyPr>
            <a:normAutofit fontScale="90000"/>
          </a:bodyPr>
          <a:lstStyle/>
          <a:p>
            <a:r>
              <a:rPr lang="en-US" dirty="0" smtClean="0"/>
              <a:t>Excel Example 1</a:t>
            </a:r>
            <a:br>
              <a:rPr lang="en-US" dirty="0" smtClean="0"/>
            </a:br>
            <a:r>
              <a:rPr lang="en-US" dirty="0" smtClean="0"/>
              <a:t> Patrons with multiple barcodes</a:t>
            </a:r>
            <a:endParaRPr lang="en-US" dirty="0"/>
          </a:p>
        </p:txBody>
      </p:sp>
      <p:sp>
        <p:nvSpPr>
          <p:cNvPr id="3" name="Content Placeholder 2"/>
          <p:cNvSpPr>
            <a:spLocks noGrp="1"/>
          </p:cNvSpPr>
          <p:nvPr>
            <p:ph idx="1"/>
          </p:nvPr>
        </p:nvSpPr>
        <p:spPr/>
        <p:txBody>
          <a:bodyPr/>
          <a:lstStyle/>
          <a:p>
            <a:r>
              <a:rPr lang="en-US" dirty="0" smtClean="0"/>
              <a:t>Create a </a:t>
            </a:r>
            <a:r>
              <a:rPr lang="en-US" dirty="0"/>
              <a:t>list of patrons.</a:t>
            </a:r>
          </a:p>
          <a:p>
            <a:r>
              <a:rPr lang="en-US" dirty="0"/>
              <a:t>Export to </a:t>
            </a:r>
            <a:r>
              <a:rPr lang="en-US" dirty="0" smtClean="0"/>
              <a:t>Excel </a:t>
            </a:r>
            <a:r>
              <a:rPr lang="en-US" dirty="0"/>
              <a:t>with patron number and barcode, with repeated field delimiter same as field </a:t>
            </a:r>
            <a:r>
              <a:rPr lang="en-US" dirty="0" smtClean="0"/>
              <a:t>delimiter.</a:t>
            </a:r>
            <a:endParaRPr lang="en-US" dirty="0"/>
          </a:p>
          <a:p>
            <a:endParaRPr lang="en-US" dirty="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86600" cy="1143000"/>
          </a:xfrm>
        </p:spPr>
        <p:txBody>
          <a:bodyPr>
            <a:normAutofit fontScale="90000"/>
          </a:bodyPr>
          <a:lstStyle/>
          <a:p>
            <a:r>
              <a:rPr lang="en-US" dirty="0" smtClean="0"/>
              <a:t>Excel Example 1</a:t>
            </a:r>
            <a:br>
              <a:rPr lang="en-US" dirty="0" smtClean="0"/>
            </a:br>
            <a:r>
              <a:rPr lang="en-US" dirty="0" smtClean="0"/>
              <a:t> Patrons with multiple barcodes</a:t>
            </a:r>
            <a:endParaRPr lang="en-US" dirty="0"/>
          </a:p>
        </p:txBody>
      </p:sp>
      <p:sp>
        <p:nvSpPr>
          <p:cNvPr id="3" name="Content Placeholder 2"/>
          <p:cNvSpPr>
            <a:spLocks noGrp="1"/>
          </p:cNvSpPr>
          <p:nvPr>
            <p:ph idx="1"/>
          </p:nvPr>
        </p:nvSpPr>
        <p:spPr/>
        <p:txBody>
          <a:bodyPr/>
          <a:lstStyle/>
          <a:p>
            <a:endParaRPr lang="en-US" dirty="0"/>
          </a:p>
          <a:p>
            <a:endParaRPr lang="en-US" dirty="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pic>
        <p:nvPicPr>
          <p:cNvPr id="5" name="Picture 4"/>
          <p:cNvPicPr/>
          <p:nvPr/>
        </p:nvPicPr>
        <p:blipFill>
          <a:blip r:embed="rId3" cstate="print"/>
          <a:srcRect l="2257" t="61245" r="3386" b="22088"/>
          <a:stretch>
            <a:fillRect/>
          </a:stretch>
        </p:blipFill>
        <p:spPr bwMode="auto">
          <a:xfrm>
            <a:off x="533400" y="1752600"/>
            <a:ext cx="8058839" cy="160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86600" cy="1143000"/>
          </a:xfrm>
        </p:spPr>
        <p:txBody>
          <a:bodyPr>
            <a:normAutofit fontScale="90000"/>
          </a:bodyPr>
          <a:lstStyle/>
          <a:p>
            <a:r>
              <a:rPr lang="en-US" dirty="0" smtClean="0"/>
              <a:t>Excel Example 1</a:t>
            </a:r>
            <a:br>
              <a:rPr lang="en-US" dirty="0" smtClean="0"/>
            </a:br>
            <a:r>
              <a:rPr lang="en-US" dirty="0" smtClean="0"/>
              <a:t> Patrons with multiple barcodes</a:t>
            </a:r>
            <a:endParaRPr lang="en-US" dirty="0"/>
          </a:p>
        </p:txBody>
      </p:sp>
      <p:sp>
        <p:nvSpPr>
          <p:cNvPr id="3" name="Content Placeholder 2"/>
          <p:cNvSpPr>
            <a:spLocks noGrp="1"/>
          </p:cNvSpPr>
          <p:nvPr>
            <p:ph idx="1"/>
          </p:nvPr>
        </p:nvSpPr>
        <p:spPr/>
        <p:txBody>
          <a:bodyPr/>
          <a:lstStyle/>
          <a:p>
            <a:r>
              <a:rPr lang="en-US" dirty="0" smtClean="0"/>
              <a:t>Excel:</a:t>
            </a:r>
            <a:endParaRPr lang="en-US" dirty="0"/>
          </a:p>
          <a:p>
            <a:pPr lvl="1"/>
            <a:r>
              <a:rPr lang="en-US" dirty="0"/>
              <a:t>Sort by column C (data tab, sort).</a:t>
            </a:r>
          </a:p>
          <a:p>
            <a:r>
              <a:rPr lang="en-US" dirty="0"/>
              <a:t>Also works for multiple attached </a:t>
            </a:r>
            <a:r>
              <a:rPr lang="en-US" dirty="0" smtClean="0"/>
              <a:t>records. </a:t>
            </a:r>
            <a:endParaRPr lang="en-US" dirty="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1143000"/>
          </a:xfrm>
        </p:spPr>
        <p:txBody>
          <a:bodyPr>
            <a:normAutofit fontScale="90000"/>
          </a:bodyPr>
          <a:lstStyle/>
          <a:p>
            <a:r>
              <a:rPr lang="en-US" dirty="0" smtClean="0"/>
              <a:t>Excel Example 2</a:t>
            </a:r>
            <a:br>
              <a:rPr lang="en-US" dirty="0" smtClean="0"/>
            </a:br>
            <a:r>
              <a:rPr lang="en-US" dirty="0" smtClean="0"/>
              <a:t>Finding Duplicate Records</a:t>
            </a:r>
            <a:endParaRPr lang="en-US" dirty="0"/>
          </a:p>
        </p:txBody>
      </p:sp>
      <p:sp>
        <p:nvSpPr>
          <p:cNvPr id="3" name="Content Placeholder 2"/>
          <p:cNvSpPr>
            <a:spLocks noGrp="1"/>
          </p:cNvSpPr>
          <p:nvPr>
            <p:ph idx="1"/>
          </p:nvPr>
        </p:nvSpPr>
        <p:spPr/>
        <p:txBody>
          <a:bodyPr/>
          <a:lstStyle/>
          <a:p>
            <a:r>
              <a:rPr lang="en-US" dirty="0" smtClean="0"/>
              <a:t>How </a:t>
            </a:r>
            <a:r>
              <a:rPr lang="en-US" dirty="0"/>
              <a:t>do I find </a:t>
            </a:r>
            <a:r>
              <a:rPr lang="en-US" dirty="0" smtClean="0"/>
              <a:t>records </a:t>
            </a:r>
            <a:r>
              <a:rPr lang="en-US" dirty="0"/>
              <a:t>with </a:t>
            </a:r>
            <a:r>
              <a:rPr lang="en-US" dirty="0" smtClean="0"/>
              <a:t>the same value </a:t>
            </a:r>
            <a:r>
              <a:rPr lang="en-US" dirty="0"/>
              <a:t>in </a:t>
            </a:r>
            <a:r>
              <a:rPr lang="en-US" dirty="0" smtClean="0"/>
              <a:t>some field?</a:t>
            </a:r>
          </a:p>
          <a:p>
            <a:r>
              <a:rPr lang="en-US" dirty="0" smtClean="0"/>
              <a:t>Like bibs with the same OCLC #</a:t>
            </a:r>
          </a:p>
          <a:p>
            <a:r>
              <a:rPr lang="en-US" dirty="0" smtClean="0"/>
              <a:t>Or patrons with the same phone #</a:t>
            </a:r>
          </a:p>
          <a:p>
            <a:pPr lvl="1"/>
            <a:r>
              <a:rPr lang="en-US" dirty="0" smtClean="0"/>
              <a:t>Create a list of all patrons</a:t>
            </a:r>
          </a:p>
          <a:p>
            <a:pPr lvl="1"/>
            <a:r>
              <a:rPr lang="en-US" dirty="0" smtClean="0"/>
              <a:t>Export phone number field</a:t>
            </a:r>
          </a:p>
          <a:p>
            <a:pPr lvl="1">
              <a:buNone/>
            </a:pPr>
            <a:endParaRPr lang="en-US" dirty="0"/>
          </a:p>
          <a:p>
            <a:endParaRPr lang="en-US" dirty="0"/>
          </a:p>
          <a:p>
            <a:pPr lvl="1"/>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1143000"/>
          </a:xfrm>
        </p:spPr>
        <p:txBody>
          <a:bodyPr>
            <a:normAutofit fontScale="90000"/>
          </a:bodyPr>
          <a:lstStyle/>
          <a:p>
            <a:r>
              <a:rPr lang="en-US" dirty="0" smtClean="0"/>
              <a:t>Excel Example 2</a:t>
            </a:r>
            <a:br>
              <a:rPr lang="en-US" dirty="0" smtClean="0"/>
            </a:br>
            <a:r>
              <a:rPr lang="en-US" dirty="0" smtClean="0"/>
              <a:t>Finding Duplicate Records</a:t>
            </a:r>
            <a:endParaRPr lang="en-US" dirty="0"/>
          </a:p>
        </p:txBody>
      </p:sp>
      <p:sp>
        <p:nvSpPr>
          <p:cNvPr id="3" name="Content Placeholder 2"/>
          <p:cNvSpPr>
            <a:spLocks noGrp="1"/>
          </p:cNvSpPr>
          <p:nvPr>
            <p:ph idx="1"/>
          </p:nvPr>
        </p:nvSpPr>
        <p:spPr/>
        <p:txBody>
          <a:bodyPr/>
          <a:lstStyle/>
          <a:p>
            <a:r>
              <a:rPr lang="en-US" dirty="0" smtClean="0"/>
              <a:t>Step 1: Conditional Formatting</a:t>
            </a:r>
          </a:p>
          <a:p>
            <a:pPr lvl="1"/>
            <a:r>
              <a:rPr lang="en-US" dirty="0" smtClean="0"/>
              <a:t>Select the column</a:t>
            </a:r>
          </a:p>
          <a:p>
            <a:pPr lvl="1"/>
            <a:r>
              <a:rPr lang="en-US" dirty="0" smtClean="0"/>
              <a:t>Home tab</a:t>
            </a:r>
          </a:p>
          <a:p>
            <a:pPr lvl="1"/>
            <a:r>
              <a:rPr lang="en-US" dirty="0"/>
              <a:t>S</a:t>
            </a:r>
            <a:r>
              <a:rPr lang="en-US" dirty="0" smtClean="0"/>
              <a:t>tyles group</a:t>
            </a:r>
          </a:p>
          <a:p>
            <a:pPr lvl="1"/>
            <a:r>
              <a:rPr lang="en-US" dirty="0"/>
              <a:t>C</a:t>
            </a:r>
            <a:r>
              <a:rPr lang="en-US" dirty="0" smtClean="0"/>
              <a:t>onditional formatting</a:t>
            </a:r>
          </a:p>
          <a:p>
            <a:pPr lvl="1"/>
            <a:r>
              <a:rPr lang="en-US" dirty="0"/>
              <a:t>H</a:t>
            </a:r>
            <a:r>
              <a:rPr lang="en-US" dirty="0" smtClean="0"/>
              <a:t>ighlight </a:t>
            </a:r>
            <a:r>
              <a:rPr lang="en-US" dirty="0"/>
              <a:t>cells </a:t>
            </a:r>
            <a:r>
              <a:rPr lang="en-US" dirty="0" smtClean="0"/>
              <a:t>rules</a:t>
            </a:r>
          </a:p>
          <a:p>
            <a:pPr lvl="1"/>
            <a:r>
              <a:rPr lang="en-US" dirty="0" smtClean="0"/>
              <a:t>Duplicate values</a:t>
            </a:r>
          </a:p>
          <a:p>
            <a:pPr>
              <a:buNone/>
            </a:pPr>
            <a:endParaRPr lang="en-US" dirty="0" smtClean="0"/>
          </a:p>
          <a:p>
            <a:endParaRPr lang="en-US" dirty="0"/>
          </a:p>
          <a:p>
            <a:endParaRPr lang="en-US" dirty="0"/>
          </a:p>
          <a:p>
            <a:pPr lvl="1"/>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1143000"/>
          </a:xfrm>
        </p:spPr>
        <p:txBody>
          <a:bodyPr>
            <a:normAutofit fontScale="90000"/>
          </a:bodyPr>
          <a:lstStyle/>
          <a:p>
            <a:r>
              <a:rPr lang="en-US" dirty="0" smtClean="0"/>
              <a:t>Excel Example 2</a:t>
            </a:r>
            <a:br>
              <a:rPr lang="en-US" dirty="0" smtClean="0"/>
            </a:br>
            <a:r>
              <a:rPr lang="en-US" dirty="0" smtClean="0"/>
              <a:t>Finding Duplicate Records</a:t>
            </a:r>
            <a:endParaRPr lang="en-US" dirty="0"/>
          </a:p>
        </p:txBody>
      </p:sp>
      <p:sp>
        <p:nvSpPr>
          <p:cNvPr id="3" name="Content Placeholder 2"/>
          <p:cNvSpPr>
            <a:spLocks noGrp="1"/>
          </p:cNvSpPr>
          <p:nvPr>
            <p:ph idx="1"/>
          </p:nvPr>
        </p:nvSpPr>
        <p:spPr/>
        <p:txBody>
          <a:bodyPr/>
          <a:lstStyle/>
          <a:p>
            <a:r>
              <a:rPr lang="en-US" dirty="0" smtClean="0"/>
              <a:t>Step 2: Sort by cell color</a:t>
            </a:r>
          </a:p>
          <a:p>
            <a:pPr lvl="1"/>
            <a:r>
              <a:rPr lang="en-US" dirty="0" smtClean="0"/>
              <a:t>Data tab</a:t>
            </a:r>
          </a:p>
          <a:p>
            <a:pPr lvl="1"/>
            <a:r>
              <a:rPr lang="en-US" dirty="0" smtClean="0"/>
              <a:t>Sort by cell color; no color: on bottom</a:t>
            </a:r>
          </a:p>
          <a:p>
            <a:pPr lvl="1"/>
            <a:r>
              <a:rPr lang="en-US" i="1" dirty="0" smtClean="0"/>
              <a:t>Excel freezes with large sets</a:t>
            </a:r>
            <a:r>
              <a:rPr lang="en-US" dirty="0" smtClean="0"/>
              <a:t/>
            </a:r>
            <a:br>
              <a:rPr lang="en-US" dirty="0" smtClean="0"/>
            </a:br>
            <a:r>
              <a:rPr lang="en-US" dirty="0" smtClean="0"/>
              <a:t>(For me, it freezes with 50,000 rows, </a:t>
            </a:r>
            <a:br>
              <a:rPr lang="en-US" dirty="0" smtClean="0"/>
            </a:br>
            <a:r>
              <a:rPr lang="en-US" dirty="0" smtClean="0"/>
              <a:t>but works with 200 rows)</a:t>
            </a:r>
          </a:p>
          <a:p>
            <a:endParaRPr lang="en-US" dirty="0"/>
          </a:p>
          <a:p>
            <a:endParaRPr lang="en-US" dirty="0"/>
          </a:p>
          <a:p>
            <a:pPr lvl="1"/>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1143000"/>
          </a:xfrm>
        </p:spPr>
        <p:txBody>
          <a:bodyPr>
            <a:normAutofit fontScale="90000"/>
          </a:bodyPr>
          <a:lstStyle/>
          <a:p>
            <a:r>
              <a:rPr lang="en-US" dirty="0" smtClean="0"/>
              <a:t>Excel Example 2</a:t>
            </a:r>
            <a:br>
              <a:rPr lang="en-US" dirty="0" smtClean="0"/>
            </a:br>
            <a:r>
              <a:rPr lang="en-US" dirty="0" smtClean="0"/>
              <a:t>Finding Duplicate Records</a:t>
            </a:r>
            <a:endParaRPr lang="en-US" dirty="0"/>
          </a:p>
        </p:txBody>
      </p:sp>
      <p:sp>
        <p:nvSpPr>
          <p:cNvPr id="3" name="Content Placeholder 2"/>
          <p:cNvSpPr>
            <a:spLocks noGrp="1"/>
          </p:cNvSpPr>
          <p:nvPr>
            <p:ph idx="1"/>
          </p:nvPr>
        </p:nvSpPr>
        <p:spPr/>
        <p:txBody>
          <a:bodyPr/>
          <a:lstStyle/>
          <a:p>
            <a:r>
              <a:rPr lang="en-US" dirty="0" smtClean="0"/>
              <a:t>Step 2 alternative: Filter by cell color</a:t>
            </a:r>
          </a:p>
          <a:p>
            <a:pPr lvl="1"/>
            <a:r>
              <a:rPr lang="en-US" dirty="0" smtClean="0"/>
              <a:t>Data tab</a:t>
            </a:r>
          </a:p>
          <a:p>
            <a:pPr lvl="1"/>
            <a:r>
              <a:rPr lang="en-US" dirty="0" smtClean="0"/>
              <a:t>Filter</a:t>
            </a:r>
          </a:p>
          <a:p>
            <a:pPr lvl="1"/>
            <a:r>
              <a:rPr lang="en-US" dirty="0" smtClean="0"/>
              <a:t>Filter by cell color</a:t>
            </a:r>
          </a:p>
          <a:p>
            <a:pPr lvl="1"/>
            <a:r>
              <a:rPr lang="en-US" dirty="0" smtClean="0"/>
              <a:t>Slow, but it works for me with 50,000 rows</a:t>
            </a:r>
          </a:p>
          <a:p>
            <a:endParaRPr lang="en-US" dirty="0"/>
          </a:p>
          <a:p>
            <a:endParaRPr lang="en-US" dirty="0"/>
          </a:p>
          <a:p>
            <a:pPr lvl="1"/>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Excel Example 3:</a:t>
            </a:r>
            <a:br>
              <a:rPr lang="en-US" dirty="0" smtClean="0"/>
            </a:br>
            <a:r>
              <a:rPr lang="en-US" dirty="0" smtClean="0"/>
              <a:t>Subtotal Circ by Location</a:t>
            </a:r>
            <a:endParaRPr lang="en-US" dirty="0"/>
          </a:p>
        </p:txBody>
      </p:sp>
      <p:sp>
        <p:nvSpPr>
          <p:cNvPr id="3" name="Content Placeholder 2"/>
          <p:cNvSpPr>
            <a:spLocks noGrp="1"/>
          </p:cNvSpPr>
          <p:nvPr>
            <p:ph idx="1"/>
          </p:nvPr>
        </p:nvSpPr>
        <p:spPr/>
        <p:txBody>
          <a:bodyPr/>
          <a:lstStyle/>
          <a:p>
            <a:r>
              <a:rPr lang="en-US" dirty="0" smtClean="0"/>
              <a:t>Create Lists</a:t>
            </a:r>
          </a:p>
          <a:p>
            <a:pPr lvl="1"/>
            <a:r>
              <a:rPr lang="en-US" dirty="0" smtClean="0"/>
              <a:t>Item records sorted by item location</a:t>
            </a:r>
          </a:p>
          <a:p>
            <a:pPr lvl="1"/>
            <a:r>
              <a:rPr lang="en-US" dirty="0" smtClean="0"/>
              <a:t>Export item location, TOT CHKOUT</a:t>
            </a:r>
          </a:p>
          <a:p>
            <a:pPr>
              <a:buNone/>
            </a:pP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Excel Example 3:</a:t>
            </a:r>
            <a:br>
              <a:rPr lang="en-US" dirty="0" smtClean="0"/>
            </a:br>
            <a:r>
              <a:rPr lang="en-US" dirty="0" smtClean="0"/>
              <a:t>Subtotal Circ by Location</a:t>
            </a:r>
            <a:endParaRPr lang="en-US" dirty="0"/>
          </a:p>
        </p:txBody>
      </p:sp>
      <p:sp>
        <p:nvSpPr>
          <p:cNvPr id="3" name="Content Placeholder 2"/>
          <p:cNvSpPr>
            <a:spLocks noGrp="1"/>
          </p:cNvSpPr>
          <p:nvPr>
            <p:ph idx="1"/>
          </p:nvPr>
        </p:nvSpPr>
        <p:spPr/>
        <p:txBody>
          <a:bodyPr/>
          <a:lstStyle/>
          <a:p>
            <a:r>
              <a:rPr lang="en-US" dirty="0" smtClean="0"/>
              <a:t>Excel</a:t>
            </a:r>
          </a:p>
          <a:p>
            <a:pPr lvl="1"/>
            <a:r>
              <a:rPr lang="en-US" dirty="0"/>
              <a:t>Data tab, Outline group, </a:t>
            </a:r>
            <a:r>
              <a:rPr lang="en-US" dirty="0" smtClean="0"/>
              <a:t>Subtotal</a:t>
            </a:r>
          </a:p>
          <a:p>
            <a:pPr lvl="1"/>
            <a:r>
              <a:rPr lang="en-US" dirty="0" smtClean="0"/>
              <a:t>At change in location, sum checkouts</a:t>
            </a:r>
          </a:p>
          <a:p>
            <a:pPr lvl="1"/>
            <a:r>
              <a:rPr lang="en-US" dirty="0" smtClean="0"/>
              <a:t>Display only subtotals: Click “2” on left</a:t>
            </a:r>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72400" cy="1143000"/>
          </a:xfrm>
        </p:spPr>
        <p:txBody>
          <a:bodyPr>
            <a:normAutofit fontScale="90000"/>
          </a:bodyPr>
          <a:lstStyle/>
          <a:p>
            <a:r>
              <a:rPr lang="en-US" dirty="0" smtClean="0"/>
              <a:t>Excel Example 4:</a:t>
            </a:r>
            <a:br>
              <a:rPr lang="en-US" dirty="0" smtClean="0"/>
            </a:br>
            <a:r>
              <a:rPr lang="en-US" dirty="0" smtClean="0"/>
              <a:t>Number of items by location</a:t>
            </a:r>
            <a:endParaRPr lang="en-US" dirty="0"/>
          </a:p>
        </p:txBody>
      </p:sp>
      <p:sp>
        <p:nvSpPr>
          <p:cNvPr id="3" name="Content Placeholder 2"/>
          <p:cNvSpPr>
            <a:spLocks noGrp="1"/>
          </p:cNvSpPr>
          <p:nvPr>
            <p:ph idx="1"/>
          </p:nvPr>
        </p:nvSpPr>
        <p:spPr/>
        <p:txBody>
          <a:bodyPr/>
          <a:lstStyle/>
          <a:p>
            <a:r>
              <a:rPr lang="en-US" dirty="0" smtClean="0"/>
              <a:t>Create Lists</a:t>
            </a:r>
          </a:p>
          <a:p>
            <a:pPr lvl="1"/>
            <a:r>
              <a:rPr lang="en-US" dirty="0" smtClean="0"/>
              <a:t>Item records sorted by item location</a:t>
            </a:r>
          </a:p>
          <a:p>
            <a:pPr lvl="1"/>
            <a:r>
              <a:rPr lang="en-US" dirty="0" smtClean="0"/>
              <a:t>Export item location</a:t>
            </a:r>
          </a:p>
          <a:p>
            <a:pPr>
              <a:buNone/>
            </a:pPr>
            <a:endParaRPr lang="en-US" dirty="0" smtClean="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72400" cy="1143000"/>
          </a:xfrm>
        </p:spPr>
        <p:txBody>
          <a:bodyPr>
            <a:normAutofit fontScale="90000"/>
          </a:bodyPr>
          <a:lstStyle/>
          <a:p>
            <a:r>
              <a:rPr lang="en-US" dirty="0" smtClean="0"/>
              <a:t>Excel Example 4:</a:t>
            </a:r>
            <a:br>
              <a:rPr lang="en-US" dirty="0" smtClean="0"/>
            </a:br>
            <a:r>
              <a:rPr lang="en-US" dirty="0" smtClean="0"/>
              <a:t>Number of items by location</a:t>
            </a:r>
            <a:endParaRPr lang="en-US" dirty="0"/>
          </a:p>
        </p:txBody>
      </p:sp>
      <p:sp>
        <p:nvSpPr>
          <p:cNvPr id="3" name="Content Placeholder 2"/>
          <p:cNvSpPr>
            <a:spLocks noGrp="1"/>
          </p:cNvSpPr>
          <p:nvPr>
            <p:ph idx="1"/>
          </p:nvPr>
        </p:nvSpPr>
        <p:spPr/>
        <p:txBody>
          <a:bodyPr/>
          <a:lstStyle/>
          <a:p>
            <a:r>
              <a:rPr lang="en-US" dirty="0" smtClean="0"/>
              <a:t>Excel</a:t>
            </a:r>
          </a:p>
          <a:p>
            <a:pPr lvl="1"/>
            <a:r>
              <a:rPr lang="en-US" dirty="0" smtClean="0"/>
              <a:t>Insert QTY column, “1” in each row</a:t>
            </a:r>
          </a:p>
          <a:p>
            <a:pPr lvl="2"/>
            <a:r>
              <a:rPr lang="en-US" dirty="0" smtClean="0"/>
              <a:t>1&lt;Enter&gt;, copy, select, paste</a:t>
            </a:r>
          </a:p>
          <a:p>
            <a:pPr lvl="2"/>
            <a:r>
              <a:rPr lang="en-US" dirty="0" err="1" smtClean="0"/>
              <a:t>Ctrl+Shift+End</a:t>
            </a:r>
            <a:r>
              <a:rPr lang="en-US" dirty="0" smtClean="0"/>
              <a:t> to select everything to the end</a:t>
            </a:r>
          </a:p>
          <a:p>
            <a:pPr lvl="1"/>
            <a:r>
              <a:rPr lang="en-US" dirty="0" smtClean="0"/>
              <a:t>Data tab, Outline group, Subtotal</a:t>
            </a:r>
          </a:p>
          <a:p>
            <a:pPr lvl="1"/>
            <a:r>
              <a:rPr lang="en-US" dirty="0" smtClean="0"/>
              <a:t>At change in location, sum QTY</a:t>
            </a:r>
          </a:p>
          <a:p>
            <a:pPr lvl="1"/>
            <a:r>
              <a:rPr lang="en-US" dirty="0" smtClean="0"/>
              <a:t>Display only subtotals: Click “2” on left</a:t>
            </a:r>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72400" cy="1143000"/>
          </a:xfrm>
        </p:spPr>
        <p:txBody>
          <a:bodyPr>
            <a:normAutofit fontScale="90000"/>
          </a:bodyPr>
          <a:lstStyle/>
          <a:p>
            <a:r>
              <a:rPr lang="en-US" dirty="0" smtClean="0"/>
              <a:t>Excel Example 5:</a:t>
            </a:r>
            <a:br>
              <a:rPr lang="en-US" dirty="0" smtClean="0"/>
            </a:br>
            <a:r>
              <a:rPr lang="en-US" dirty="0" smtClean="0"/>
              <a:t>Bibs by number of items</a:t>
            </a:r>
            <a:endParaRPr lang="en-US" dirty="0"/>
          </a:p>
        </p:txBody>
      </p:sp>
      <p:sp>
        <p:nvSpPr>
          <p:cNvPr id="3" name="Content Placeholder 2"/>
          <p:cNvSpPr>
            <a:spLocks noGrp="1"/>
          </p:cNvSpPr>
          <p:nvPr>
            <p:ph idx="1"/>
          </p:nvPr>
        </p:nvSpPr>
        <p:spPr/>
        <p:txBody>
          <a:bodyPr/>
          <a:lstStyle/>
          <a:p>
            <a:r>
              <a:rPr lang="en-US" dirty="0" smtClean="0"/>
              <a:t>Which “new fiction” titles have the most copies?</a:t>
            </a:r>
          </a:p>
          <a:p>
            <a:r>
              <a:rPr lang="en-US" dirty="0" smtClean="0"/>
              <a:t>Create Lists</a:t>
            </a:r>
          </a:p>
          <a:p>
            <a:pPr lvl="1"/>
            <a:r>
              <a:rPr lang="en-US" dirty="0" smtClean="0"/>
              <a:t>Create a list of items in location “new fiction”.</a:t>
            </a:r>
          </a:p>
          <a:p>
            <a:pPr lvl="1"/>
            <a:r>
              <a:rPr lang="en-US" dirty="0" smtClean="0"/>
              <a:t>Sort by title.</a:t>
            </a:r>
          </a:p>
          <a:p>
            <a:pPr lvl="1"/>
            <a:r>
              <a:rPr lang="en-US" dirty="0" smtClean="0"/>
              <a:t>Export title.</a:t>
            </a:r>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72400" cy="1143000"/>
          </a:xfrm>
        </p:spPr>
        <p:txBody>
          <a:bodyPr>
            <a:normAutofit fontScale="90000"/>
          </a:bodyPr>
          <a:lstStyle/>
          <a:p>
            <a:r>
              <a:rPr lang="en-US" dirty="0" smtClean="0"/>
              <a:t>Excel Example 5:</a:t>
            </a:r>
            <a:br>
              <a:rPr lang="en-US" dirty="0" smtClean="0"/>
            </a:br>
            <a:r>
              <a:rPr lang="en-US" dirty="0" smtClean="0"/>
              <a:t>Bibs by number of items</a:t>
            </a:r>
            <a:endParaRPr lang="en-US" dirty="0"/>
          </a:p>
        </p:txBody>
      </p:sp>
      <p:sp>
        <p:nvSpPr>
          <p:cNvPr id="3" name="Content Placeholder 2"/>
          <p:cNvSpPr>
            <a:spLocks noGrp="1"/>
          </p:cNvSpPr>
          <p:nvPr>
            <p:ph idx="1"/>
          </p:nvPr>
        </p:nvSpPr>
        <p:spPr/>
        <p:txBody>
          <a:bodyPr/>
          <a:lstStyle/>
          <a:p>
            <a:r>
              <a:rPr lang="en-US" dirty="0" smtClean="0"/>
              <a:t>Excel</a:t>
            </a:r>
          </a:p>
          <a:p>
            <a:pPr lvl="1"/>
            <a:r>
              <a:rPr lang="en-US" dirty="0" smtClean="0"/>
              <a:t>Add QTY column.</a:t>
            </a:r>
          </a:p>
          <a:p>
            <a:pPr lvl="1"/>
            <a:r>
              <a:rPr lang="en-US" dirty="0" smtClean="0"/>
              <a:t>Subtotal QTY.</a:t>
            </a:r>
          </a:p>
          <a:p>
            <a:pPr lvl="1"/>
            <a:r>
              <a:rPr lang="en-US" dirty="0" smtClean="0"/>
              <a:t>Collapse to level 2.</a:t>
            </a:r>
          </a:p>
          <a:p>
            <a:pPr lvl="1"/>
            <a:r>
              <a:rPr lang="en-US" dirty="0" smtClean="0"/>
              <a:t>Sort by QTY, descending.</a:t>
            </a:r>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1143000"/>
          </a:xfrm>
        </p:spPr>
        <p:txBody>
          <a:bodyPr>
            <a:normAutofit fontScale="90000"/>
          </a:bodyPr>
          <a:lstStyle/>
          <a:p>
            <a:r>
              <a:rPr lang="en-US" dirty="0" smtClean="0"/>
              <a:t>Excel Example 6:</a:t>
            </a:r>
            <a:br>
              <a:rPr lang="en-US" dirty="0" smtClean="0"/>
            </a:br>
            <a:r>
              <a:rPr lang="en-US" dirty="0" smtClean="0"/>
              <a:t>Look up groups in other file</a:t>
            </a:r>
            <a:endParaRPr lang="en-US" dirty="0"/>
          </a:p>
        </p:txBody>
      </p:sp>
      <p:sp>
        <p:nvSpPr>
          <p:cNvPr id="3" name="Content Placeholder 2"/>
          <p:cNvSpPr>
            <a:spLocks noGrp="1"/>
          </p:cNvSpPr>
          <p:nvPr>
            <p:ph idx="1"/>
          </p:nvPr>
        </p:nvSpPr>
        <p:spPr/>
        <p:txBody>
          <a:bodyPr/>
          <a:lstStyle/>
          <a:p>
            <a:r>
              <a:rPr lang="en-US" dirty="0" smtClean="0"/>
              <a:t>How do you group similar location codes?</a:t>
            </a:r>
          </a:p>
          <a:p>
            <a:pPr lvl="1"/>
            <a:r>
              <a:rPr lang="en-US" dirty="0" smtClean="0"/>
              <a:t>DVDs: </a:t>
            </a:r>
            <a:r>
              <a:rPr lang="en-US" dirty="0" err="1" smtClean="0"/>
              <a:t>dvda</a:t>
            </a:r>
            <a:r>
              <a:rPr lang="en-US" dirty="0" smtClean="0"/>
              <a:t>, </a:t>
            </a:r>
            <a:r>
              <a:rPr lang="en-US" dirty="0" err="1" smtClean="0"/>
              <a:t>dvde</a:t>
            </a:r>
            <a:r>
              <a:rPr lang="en-US" dirty="0" smtClean="0"/>
              <a:t>, </a:t>
            </a:r>
            <a:r>
              <a:rPr lang="en-US" dirty="0" err="1" smtClean="0"/>
              <a:t>dvdn</a:t>
            </a:r>
            <a:r>
              <a:rPr lang="en-US" dirty="0" smtClean="0"/>
              <a:t>, </a:t>
            </a:r>
            <a:r>
              <a:rPr lang="en-US" dirty="0" err="1" smtClean="0"/>
              <a:t>dvdp</a:t>
            </a:r>
            <a:endParaRPr lang="en-US" dirty="0" smtClean="0"/>
          </a:p>
          <a:p>
            <a:r>
              <a:rPr lang="en-US" dirty="0" smtClean="0"/>
              <a:t>Create a spreadsheet with codes &amp; categories</a:t>
            </a:r>
          </a:p>
          <a:p>
            <a:r>
              <a:rPr lang="en-US" dirty="0" smtClean="0"/>
              <a:t>In another </a:t>
            </a:r>
            <a:r>
              <a:rPr lang="en-US" dirty="0" err="1" smtClean="0"/>
              <a:t>spreassheet</a:t>
            </a:r>
            <a:r>
              <a:rPr lang="en-US" dirty="0" smtClean="0"/>
              <a:t>, add a “Category” column with VLOOKUP function</a:t>
            </a:r>
          </a:p>
          <a:p>
            <a:endParaRPr lang="en-US" dirty="0" smtClean="0"/>
          </a:p>
          <a:p>
            <a:pPr lvl="1"/>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1143000"/>
          </a:xfrm>
        </p:spPr>
        <p:txBody>
          <a:bodyPr>
            <a:normAutofit fontScale="90000"/>
          </a:bodyPr>
          <a:lstStyle/>
          <a:p>
            <a:r>
              <a:rPr lang="en-US" dirty="0" smtClean="0"/>
              <a:t>Excel Example 6:</a:t>
            </a:r>
            <a:br>
              <a:rPr lang="en-US" dirty="0" smtClean="0"/>
            </a:br>
            <a:r>
              <a:rPr lang="en-US" dirty="0" smtClean="0"/>
              <a:t>Look up groups in other file</a:t>
            </a:r>
            <a:endParaRPr lang="en-US" dirty="0"/>
          </a:p>
        </p:txBody>
      </p:sp>
      <p:sp>
        <p:nvSpPr>
          <p:cNvPr id="3" name="Content Placeholder 2"/>
          <p:cNvSpPr>
            <a:spLocks noGrp="1"/>
          </p:cNvSpPr>
          <p:nvPr>
            <p:ph idx="1"/>
          </p:nvPr>
        </p:nvSpPr>
        <p:spPr/>
        <p:txBody>
          <a:bodyPr/>
          <a:lstStyle/>
          <a:p>
            <a:pPr>
              <a:buNone/>
            </a:pPr>
            <a:r>
              <a:rPr lang="en-US" dirty="0" smtClean="0"/>
              <a:t>=VLOOKUP(A2,'c:\[</a:t>
            </a:r>
            <a:r>
              <a:rPr lang="en-US" dirty="0"/>
              <a:t>Locations lookup table.xlsx]Sheet1'!$A:$B,2,0</a:t>
            </a:r>
            <a:r>
              <a:rPr lang="en-US" dirty="0" smtClean="0"/>
              <a:t>)</a:t>
            </a:r>
          </a:p>
          <a:p>
            <a:pPr lvl="1"/>
            <a:r>
              <a:rPr lang="en-US" dirty="0" smtClean="0"/>
              <a:t>A2: Cell with value to search for</a:t>
            </a:r>
          </a:p>
          <a:p>
            <a:pPr lvl="1"/>
            <a:r>
              <a:rPr lang="en-US" dirty="0" smtClean="0"/>
              <a:t>'c:\[Locations lookup table.xlsx]Sheet1': file</a:t>
            </a:r>
          </a:p>
          <a:p>
            <a:pPr lvl="1"/>
            <a:r>
              <a:rPr lang="en-US" dirty="0" smtClean="0"/>
              <a:t>!$A:$B: columns A and B in that file</a:t>
            </a:r>
          </a:p>
          <a:p>
            <a:pPr lvl="1"/>
            <a:r>
              <a:rPr lang="en-US" dirty="0" smtClean="0"/>
              <a:t>2: Bring back the value that’s in 2</a:t>
            </a:r>
            <a:r>
              <a:rPr lang="en-US" baseline="30000" dirty="0" smtClean="0"/>
              <a:t>nd</a:t>
            </a:r>
            <a:r>
              <a:rPr lang="en-US" dirty="0" smtClean="0"/>
              <a:t> column</a:t>
            </a:r>
          </a:p>
          <a:p>
            <a:pPr lvl="1"/>
            <a:r>
              <a:rPr lang="en-US" dirty="0" smtClean="0"/>
              <a:t>0: If no exact match, say “#N/A”</a:t>
            </a:r>
          </a:p>
          <a:p>
            <a:pPr lvl="1"/>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1143000"/>
          </a:xfrm>
        </p:spPr>
        <p:txBody>
          <a:bodyPr>
            <a:normAutofit fontScale="90000"/>
          </a:bodyPr>
          <a:lstStyle/>
          <a:p>
            <a:r>
              <a:rPr lang="en-US" dirty="0" smtClean="0"/>
              <a:t>Excel Example 6:</a:t>
            </a:r>
            <a:br>
              <a:rPr lang="en-US" dirty="0" smtClean="0"/>
            </a:br>
            <a:r>
              <a:rPr lang="en-US" dirty="0" smtClean="0"/>
              <a:t>Look up groups in other file</a:t>
            </a:r>
            <a:endParaRPr lang="en-US" dirty="0"/>
          </a:p>
        </p:txBody>
      </p:sp>
      <p:sp>
        <p:nvSpPr>
          <p:cNvPr id="3" name="Content Placeholder 2"/>
          <p:cNvSpPr>
            <a:spLocks noGrp="1"/>
          </p:cNvSpPr>
          <p:nvPr>
            <p:ph idx="1"/>
          </p:nvPr>
        </p:nvSpPr>
        <p:spPr/>
        <p:txBody>
          <a:bodyPr>
            <a:normAutofit/>
          </a:bodyPr>
          <a:lstStyle/>
          <a:p>
            <a:r>
              <a:rPr lang="en-US" dirty="0" smtClean="0"/>
              <a:t>This example is simplified from an Export from Millennium Web Management Reports (/manage)</a:t>
            </a:r>
          </a:p>
          <a:p>
            <a:r>
              <a:rPr lang="en-US" dirty="0" smtClean="0"/>
              <a:t>Circ activity, all activity, last month, by item location</a:t>
            </a:r>
          </a:p>
          <a:p>
            <a:r>
              <a:rPr lang="en-US" dirty="0" smtClean="0"/>
              <a:t>I go on to sort by category, then subtotal, &amp; display only the subtotals</a:t>
            </a:r>
          </a:p>
          <a:p>
            <a:pPr lvl="1"/>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1143000"/>
          </a:xfrm>
        </p:spPr>
        <p:txBody>
          <a:bodyPr>
            <a:normAutofit fontScale="90000"/>
          </a:bodyPr>
          <a:lstStyle/>
          <a:p>
            <a:r>
              <a:rPr lang="en-US" dirty="0" smtClean="0"/>
              <a:t>Excel Example 6:</a:t>
            </a:r>
            <a:br>
              <a:rPr lang="en-US" dirty="0" smtClean="0"/>
            </a:br>
            <a:r>
              <a:rPr lang="en-US" dirty="0" smtClean="0"/>
              <a:t>Look up groups in other file</a:t>
            </a:r>
            <a:endParaRPr lang="en-US" dirty="0"/>
          </a:p>
        </p:txBody>
      </p:sp>
      <p:sp>
        <p:nvSpPr>
          <p:cNvPr id="3" name="Content Placeholder 2"/>
          <p:cNvSpPr>
            <a:spLocks noGrp="1"/>
          </p:cNvSpPr>
          <p:nvPr>
            <p:ph idx="1"/>
          </p:nvPr>
        </p:nvSpPr>
        <p:spPr/>
        <p:txBody>
          <a:bodyPr>
            <a:normAutofit/>
          </a:bodyPr>
          <a:lstStyle/>
          <a:p>
            <a:r>
              <a:rPr lang="en-US" dirty="0" smtClean="0"/>
              <a:t>You could also use VLOOKUP to simply translate </a:t>
            </a:r>
            <a:r>
              <a:rPr lang="en-US" dirty="0" err="1" smtClean="0"/>
              <a:t>itype</a:t>
            </a:r>
            <a:r>
              <a:rPr lang="en-US" dirty="0" smtClean="0"/>
              <a:t> or </a:t>
            </a:r>
            <a:r>
              <a:rPr lang="en-US" dirty="0" err="1" smtClean="0"/>
              <a:t>ptype</a:t>
            </a:r>
            <a:r>
              <a:rPr lang="en-US" dirty="0" smtClean="0"/>
              <a:t> codes to text labels.</a:t>
            </a:r>
          </a:p>
          <a:p>
            <a:pPr lvl="1"/>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Excel Example 7:</a:t>
            </a:r>
            <a:br>
              <a:rPr lang="en-US" dirty="0" smtClean="0"/>
            </a:br>
            <a:r>
              <a:rPr lang="en-US" dirty="0" smtClean="0"/>
              <a:t>Analyzing billed items</a:t>
            </a:r>
            <a:endParaRPr lang="en-US" dirty="0"/>
          </a:p>
        </p:txBody>
      </p:sp>
      <p:sp>
        <p:nvSpPr>
          <p:cNvPr id="3" name="Content Placeholder 2"/>
          <p:cNvSpPr>
            <a:spLocks noGrp="1"/>
          </p:cNvSpPr>
          <p:nvPr>
            <p:ph idx="1"/>
          </p:nvPr>
        </p:nvSpPr>
        <p:spPr/>
        <p:txBody>
          <a:bodyPr/>
          <a:lstStyle/>
          <a:p>
            <a:r>
              <a:rPr lang="en-US" dirty="0" smtClean="0"/>
              <a:t>For items that are currently billed, what type of patron has how many of what type of item, and what are the total costs, and how does this vary by branch?</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Excel Example 7:</a:t>
            </a:r>
            <a:br>
              <a:rPr lang="en-US" dirty="0" smtClean="0"/>
            </a:br>
            <a:r>
              <a:rPr lang="en-US" dirty="0" smtClean="0"/>
              <a:t>Analyzing billed items</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pic>
        <p:nvPicPr>
          <p:cNvPr id="1026" name="Picture 2" descr="\\dc01\users\pshirley\desktop\16behwy.jpg"/>
          <p:cNvPicPr>
            <a:picLocks noChangeAspect="1" noChangeArrowheads="1"/>
          </p:cNvPicPr>
          <p:nvPr/>
        </p:nvPicPr>
        <p:blipFill>
          <a:blip r:embed="rId3" cstate="print"/>
          <a:srcRect/>
          <a:stretch>
            <a:fillRect/>
          </a:stretch>
        </p:blipFill>
        <p:spPr bwMode="auto">
          <a:xfrm>
            <a:off x="1981200" y="1524000"/>
            <a:ext cx="4953000" cy="3576066"/>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Excel Example 7:</a:t>
            </a:r>
            <a:br>
              <a:rPr lang="en-US" dirty="0" smtClean="0"/>
            </a:br>
            <a:r>
              <a:rPr lang="en-US" dirty="0" smtClean="0"/>
              <a:t>Analyzing billed items</a:t>
            </a:r>
            <a:endParaRPr lang="en-US" dirty="0"/>
          </a:p>
        </p:txBody>
      </p:sp>
      <p:sp>
        <p:nvSpPr>
          <p:cNvPr id="3" name="Content Placeholder 2"/>
          <p:cNvSpPr>
            <a:spLocks noGrp="1"/>
          </p:cNvSpPr>
          <p:nvPr>
            <p:ph idx="1"/>
          </p:nvPr>
        </p:nvSpPr>
        <p:spPr/>
        <p:txBody>
          <a:bodyPr/>
          <a:lstStyle/>
          <a:p>
            <a:r>
              <a:rPr lang="en-US" dirty="0" smtClean="0"/>
              <a:t>For items that are currently billed, what type of patron has how many of what type of item, and what are the total costs, and how does this vary by branch?</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Excel Example 7:</a:t>
            </a:r>
            <a:br>
              <a:rPr lang="en-US" dirty="0" smtClean="0"/>
            </a:br>
            <a:r>
              <a:rPr lang="en-US" dirty="0" smtClean="0"/>
              <a:t>Analyzing billed items</a:t>
            </a:r>
            <a:endParaRPr lang="en-US" dirty="0"/>
          </a:p>
        </p:txBody>
      </p:sp>
      <p:sp>
        <p:nvSpPr>
          <p:cNvPr id="3" name="Content Placeholder 2"/>
          <p:cNvSpPr>
            <a:spLocks noGrp="1"/>
          </p:cNvSpPr>
          <p:nvPr>
            <p:ph idx="1"/>
          </p:nvPr>
        </p:nvSpPr>
        <p:spPr/>
        <p:txBody>
          <a:bodyPr/>
          <a:lstStyle/>
          <a:p>
            <a:r>
              <a:rPr lang="en-US" dirty="0" smtClean="0"/>
              <a:t>Create a list of items with status “billed”.</a:t>
            </a:r>
          </a:p>
          <a:p>
            <a:r>
              <a:rPr lang="en-US" dirty="0" smtClean="0"/>
              <a:t>Export barcode, </a:t>
            </a:r>
            <a:r>
              <a:rPr lang="en-US" dirty="0" err="1" smtClean="0"/>
              <a:t>itype</a:t>
            </a:r>
            <a:r>
              <a:rPr lang="en-US" dirty="0" smtClean="0"/>
              <a:t>, </a:t>
            </a:r>
            <a:r>
              <a:rPr lang="en-US" dirty="0" err="1" smtClean="0"/>
              <a:t>ptype</a:t>
            </a:r>
            <a:r>
              <a:rPr lang="en-US" dirty="0" smtClean="0"/>
              <a:t>, price, branch.</a:t>
            </a:r>
          </a:p>
          <a:p>
            <a:r>
              <a:rPr lang="en-US" dirty="0" smtClean="0"/>
              <a:t>Open in Excel. </a:t>
            </a:r>
          </a:p>
          <a:p>
            <a:r>
              <a:rPr lang="en-US" dirty="0" smtClean="0"/>
              <a:t>Add QTY column.</a:t>
            </a:r>
          </a:p>
          <a:p>
            <a:endParaRPr lang="en-US" dirty="0" smtClean="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Excel Example 7:</a:t>
            </a:r>
            <a:br>
              <a:rPr lang="en-US" dirty="0" smtClean="0"/>
            </a:br>
            <a:r>
              <a:rPr lang="en-US" dirty="0" smtClean="0"/>
              <a:t>Analyzing billed items</a:t>
            </a:r>
            <a:endParaRPr lang="en-US" dirty="0"/>
          </a:p>
        </p:txBody>
      </p:sp>
      <p:sp>
        <p:nvSpPr>
          <p:cNvPr id="3" name="Content Placeholder 2"/>
          <p:cNvSpPr>
            <a:spLocks noGrp="1"/>
          </p:cNvSpPr>
          <p:nvPr>
            <p:ph idx="1"/>
          </p:nvPr>
        </p:nvSpPr>
        <p:spPr/>
        <p:txBody>
          <a:bodyPr/>
          <a:lstStyle/>
          <a:p>
            <a:r>
              <a:rPr lang="en-US" dirty="0" smtClean="0"/>
              <a:t>Select any cell; “Insert” tab: Pivot Table</a:t>
            </a:r>
          </a:p>
          <a:p>
            <a:r>
              <a:rPr lang="en-US" dirty="0" smtClean="0"/>
              <a:t>Accept defaults.</a:t>
            </a:r>
          </a:p>
          <a:p>
            <a:r>
              <a:rPr lang="en-US" dirty="0" smtClean="0"/>
              <a:t>Drag </a:t>
            </a:r>
            <a:r>
              <a:rPr lang="en-US" dirty="0" err="1" smtClean="0"/>
              <a:t>itype</a:t>
            </a:r>
            <a:r>
              <a:rPr lang="en-US" dirty="0" smtClean="0"/>
              <a:t> to Row Labels</a:t>
            </a:r>
          </a:p>
          <a:p>
            <a:r>
              <a:rPr lang="en-US" dirty="0" smtClean="0"/>
              <a:t>Drag </a:t>
            </a:r>
            <a:r>
              <a:rPr lang="en-US" dirty="0" err="1" smtClean="0"/>
              <a:t>ptype</a:t>
            </a:r>
            <a:r>
              <a:rPr lang="en-US" dirty="0" smtClean="0"/>
              <a:t> to Column Labels</a:t>
            </a:r>
          </a:p>
          <a:p>
            <a:r>
              <a:rPr lang="en-US" dirty="0" smtClean="0"/>
              <a:t>Drag QTY to Values</a:t>
            </a:r>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Excel Example 7:</a:t>
            </a:r>
            <a:br>
              <a:rPr lang="en-US" dirty="0" smtClean="0"/>
            </a:br>
            <a:r>
              <a:rPr lang="en-US" dirty="0" smtClean="0"/>
              <a:t>Analyzing billed items</a:t>
            </a:r>
            <a:endParaRPr lang="en-US" dirty="0"/>
          </a:p>
        </p:txBody>
      </p:sp>
      <p:sp>
        <p:nvSpPr>
          <p:cNvPr id="3" name="Content Placeholder 2"/>
          <p:cNvSpPr>
            <a:spLocks noGrp="1"/>
          </p:cNvSpPr>
          <p:nvPr>
            <p:ph idx="1"/>
          </p:nvPr>
        </p:nvSpPr>
        <p:spPr/>
        <p:txBody>
          <a:bodyPr/>
          <a:lstStyle/>
          <a:p>
            <a:r>
              <a:rPr lang="en-US" dirty="0" smtClean="0"/>
              <a:t>Value: Drag QTY out, drag Price in.</a:t>
            </a:r>
          </a:p>
          <a:p>
            <a:r>
              <a:rPr lang="en-US" dirty="0" smtClean="0"/>
              <a:t>Drag Branch to Report Filter</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Excel Example 8:</a:t>
            </a:r>
            <a:br>
              <a:rPr lang="en-US" dirty="0" smtClean="0"/>
            </a:br>
            <a:r>
              <a:rPr lang="en-US" dirty="0" smtClean="0"/>
              <a:t>Analyzing item statuses</a:t>
            </a:r>
            <a:endParaRPr lang="en-US" dirty="0"/>
          </a:p>
        </p:txBody>
      </p:sp>
      <p:sp>
        <p:nvSpPr>
          <p:cNvPr id="3" name="Content Placeholder 2"/>
          <p:cNvSpPr>
            <a:spLocks noGrp="1"/>
          </p:cNvSpPr>
          <p:nvPr>
            <p:ph idx="1"/>
          </p:nvPr>
        </p:nvSpPr>
        <p:spPr/>
        <p:txBody>
          <a:bodyPr/>
          <a:lstStyle/>
          <a:p>
            <a:r>
              <a:rPr lang="en-US" dirty="0" smtClean="0"/>
              <a:t>How many items have what status, by bib location, subdivided by item location?</a:t>
            </a:r>
          </a:p>
          <a:p>
            <a:r>
              <a:rPr lang="en-US" dirty="0" smtClean="0"/>
              <a:t>Create a list of items.</a:t>
            </a:r>
          </a:p>
          <a:p>
            <a:r>
              <a:rPr lang="en-US" dirty="0" smtClean="0"/>
              <a:t>Export item status, item loc, bib loc.</a:t>
            </a:r>
          </a:p>
          <a:p>
            <a:r>
              <a:rPr lang="en-US" dirty="0" smtClean="0"/>
              <a:t>Open in Excel.</a:t>
            </a:r>
          </a:p>
          <a:p>
            <a:r>
              <a:rPr lang="en-US" dirty="0" smtClean="0"/>
              <a:t>Add QTY column.</a:t>
            </a:r>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Excel Example 8:</a:t>
            </a:r>
            <a:br>
              <a:rPr lang="en-US" dirty="0" smtClean="0"/>
            </a:br>
            <a:r>
              <a:rPr lang="en-US" dirty="0" smtClean="0"/>
              <a:t>Analyzing item statuses</a:t>
            </a:r>
            <a:endParaRPr lang="en-US" dirty="0"/>
          </a:p>
        </p:txBody>
      </p:sp>
      <p:sp>
        <p:nvSpPr>
          <p:cNvPr id="3" name="Content Placeholder 2"/>
          <p:cNvSpPr>
            <a:spLocks noGrp="1"/>
          </p:cNvSpPr>
          <p:nvPr>
            <p:ph idx="1"/>
          </p:nvPr>
        </p:nvSpPr>
        <p:spPr/>
        <p:txBody>
          <a:bodyPr/>
          <a:lstStyle/>
          <a:p>
            <a:r>
              <a:rPr lang="en-US" dirty="0" smtClean="0"/>
              <a:t>Insert pivot table</a:t>
            </a:r>
          </a:p>
          <a:p>
            <a:r>
              <a:rPr lang="en-US" dirty="0" smtClean="0"/>
              <a:t>Rows: bib loc, then item loc</a:t>
            </a:r>
          </a:p>
          <a:p>
            <a:r>
              <a:rPr lang="en-US" dirty="0" smtClean="0"/>
              <a:t>Columns: status</a:t>
            </a:r>
          </a:p>
          <a:p>
            <a:r>
              <a:rPr lang="en-US" dirty="0" smtClean="0"/>
              <a:t>Value: QTY</a:t>
            </a:r>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239000" cy="1143000"/>
          </a:xfrm>
        </p:spPr>
        <p:txBody>
          <a:bodyPr>
            <a:noAutofit/>
          </a:bodyPr>
          <a:lstStyle/>
          <a:p>
            <a:r>
              <a:rPr lang="en-US" sz="2900" b="1" dirty="0" smtClean="0"/>
              <a:t>Global Update</a:t>
            </a:r>
            <a:br>
              <a:rPr lang="en-US" sz="2900" b="1" dirty="0" smtClean="0"/>
            </a:br>
            <a:r>
              <a:rPr lang="en-US" sz="2900" b="1" dirty="0" smtClean="0"/>
              <a:t> Unsuppressed Bibs with all items suppressed</a:t>
            </a:r>
            <a:endParaRPr lang="en-US" sz="2900" b="1" dirty="0"/>
          </a:p>
        </p:txBody>
      </p:sp>
      <p:sp>
        <p:nvSpPr>
          <p:cNvPr id="3" name="Content Placeholder 2"/>
          <p:cNvSpPr>
            <a:spLocks noGrp="1"/>
          </p:cNvSpPr>
          <p:nvPr>
            <p:ph idx="1"/>
          </p:nvPr>
        </p:nvSpPr>
        <p:spPr/>
        <p:txBody>
          <a:bodyPr/>
          <a:lstStyle/>
          <a:p>
            <a:r>
              <a:rPr lang="en-US" dirty="0" smtClean="0"/>
              <a:t>Find:</a:t>
            </a:r>
          </a:p>
          <a:p>
            <a:pPr lvl="1"/>
            <a:r>
              <a:rPr lang="en-US" dirty="0" smtClean="0"/>
              <a:t>Bibs that are not suppressed …</a:t>
            </a:r>
          </a:p>
          <a:p>
            <a:pPr lvl="1"/>
            <a:r>
              <a:rPr lang="en-US" dirty="0" smtClean="0"/>
              <a:t>Where all the attached items are suppressed</a:t>
            </a:r>
          </a:p>
          <a:p>
            <a:r>
              <a:rPr lang="en-US" dirty="0" smtClean="0"/>
              <a:t>It’s easy to find bibs where at least one item is suppressed.</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239000" cy="1143000"/>
          </a:xfrm>
        </p:spPr>
        <p:txBody>
          <a:bodyPr>
            <a:noAutofit/>
          </a:bodyPr>
          <a:lstStyle/>
          <a:p>
            <a:r>
              <a:rPr lang="en-US" sz="2900" b="1" dirty="0" smtClean="0"/>
              <a:t>Global Update</a:t>
            </a:r>
            <a:br>
              <a:rPr lang="en-US" sz="2900" b="1" dirty="0" smtClean="0"/>
            </a:br>
            <a:r>
              <a:rPr lang="en-US" sz="2900" b="1" dirty="0" smtClean="0"/>
              <a:t> Unsuppressed Bibs with all items suppressed</a:t>
            </a:r>
            <a:endParaRPr lang="en-US" sz="2900" b="1" dirty="0"/>
          </a:p>
        </p:txBody>
      </p:sp>
      <p:sp>
        <p:nvSpPr>
          <p:cNvPr id="3" name="Content Placeholder 2"/>
          <p:cNvSpPr>
            <a:spLocks noGrp="1"/>
          </p:cNvSpPr>
          <p:nvPr>
            <p:ph idx="1"/>
          </p:nvPr>
        </p:nvSpPr>
        <p:spPr>
          <a:xfrm>
            <a:off x="457200" y="1600200"/>
            <a:ext cx="8382000" cy="4525963"/>
          </a:xfrm>
        </p:spPr>
        <p:txBody>
          <a:bodyPr>
            <a:normAutofit/>
          </a:bodyPr>
          <a:lstStyle/>
          <a:p>
            <a:r>
              <a:rPr lang="en-US" dirty="0" smtClean="0"/>
              <a:t>A: Create a list of bibs with bib suppression code “unsuppressed” &amp; icode2 “suppressed”.</a:t>
            </a:r>
          </a:p>
          <a:p>
            <a:pPr lvl="1"/>
            <a:r>
              <a:rPr lang="en-US" dirty="0" smtClean="0"/>
              <a:t>You get bibs where at least one item is suppressed.</a:t>
            </a:r>
          </a:p>
          <a:p>
            <a:pPr lvl="1"/>
            <a:r>
              <a:rPr lang="en-US" dirty="0" smtClean="0"/>
              <a:t>Includes bibs where all items are suppressed, and bibs where some items are not suppressed.</a:t>
            </a:r>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239000" cy="1143000"/>
          </a:xfrm>
        </p:spPr>
        <p:txBody>
          <a:bodyPr>
            <a:noAutofit/>
          </a:bodyPr>
          <a:lstStyle/>
          <a:p>
            <a:r>
              <a:rPr lang="en-US" sz="2900" b="1" dirty="0" smtClean="0"/>
              <a:t>Global Update</a:t>
            </a:r>
            <a:br>
              <a:rPr lang="en-US" sz="2900" b="1" dirty="0" smtClean="0"/>
            </a:br>
            <a:r>
              <a:rPr lang="en-US" sz="2900" b="1" dirty="0" smtClean="0"/>
              <a:t> Unsuppressed Bibs with all items suppressed</a:t>
            </a:r>
            <a:endParaRPr lang="en-US" sz="2900" b="1"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pic>
        <p:nvPicPr>
          <p:cNvPr id="5" name="Picture 4"/>
          <p:cNvPicPr/>
          <p:nvPr/>
        </p:nvPicPr>
        <p:blipFill>
          <a:blip r:embed="rId3" cstate="print"/>
          <a:srcRect r="31456" b="59235"/>
          <a:stretch>
            <a:fillRect/>
          </a:stretch>
        </p:blipFill>
        <p:spPr bwMode="auto">
          <a:xfrm>
            <a:off x="1143000" y="1752600"/>
            <a:ext cx="6553200" cy="3429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239000" cy="1143000"/>
          </a:xfrm>
        </p:spPr>
        <p:txBody>
          <a:bodyPr>
            <a:noAutofit/>
          </a:bodyPr>
          <a:lstStyle/>
          <a:p>
            <a:r>
              <a:rPr lang="en-US" sz="2900" b="1" dirty="0" smtClean="0"/>
              <a:t>Global Update</a:t>
            </a:r>
            <a:br>
              <a:rPr lang="en-US" sz="2900" b="1" dirty="0" smtClean="0"/>
            </a:br>
            <a:r>
              <a:rPr lang="en-US" sz="2900" b="1" dirty="0" smtClean="0"/>
              <a:t> Unsuppressed Bibs with all items suppressed</a:t>
            </a:r>
            <a:endParaRPr lang="en-US" sz="2900" b="1" dirty="0"/>
          </a:p>
        </p:txBody>
      </p:sp>
      <p:sp>
        <p:nvSpPr>
          <p:cNvPr id="3" name="Content Placeholder 2"/>
          <p:cNvSpPr>
            <a:spLocks noGrp="1"/>
          </p:cNvSpPr>
          <p:nvPr>
            <p:ph idx="1"/>
          </p:nvPr>
        </p:nvSpPr>
        <p:spPr/>
        <p:txBody>
          <a:bodyPr>
            <a:normAutofit/>
          </a:bodyPr>
          <a:lstStyle/>
          <a:p>
            <a:r>
              <a:rPr lang="en-US" dirty="0" smtClean="0"/>
              <a:t>B: Create another list of bibs</a:t>
            </a:r>
          </a:p>
          <a:p>
            <a:pPr lvl="1"/>
            <a:r>
              <a:rPr lang="en-US" dirty="0" smtClean="0"/>
              <a:t>Limited to list A</a:t>
            </a:r>
          </a:p>
          <a:p>
            <a:pPr lvl="1"/>
            <a:r>
              <a:rPr lang="en-US" dirty="0" smtClean="0"/>
              <a:t>With icode2 not “suppressed”</a:t>
            </a:r>
          </a:p>
          <a:p>
            <a:pPr lvl="1"/>
            <a:r>
              <a:rPr lang="en-US" dirty="0" smtClean="0"/>
              <a:t>These are the bibs in list A that you don’t want.</a:t>
            </a:r>
          </a:p>
          <a:p>
            <a:pPr lvl="1"/>
            <a:r>
              <a:rPr lang="en-US" dirty="0" smtClean="0"/>
              <a:t>Update these bibs with something unique that you can search for, so you can exclude them.</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7467600" cy="1143000"/>
          </a:xfrm>
        </p:spPr>
        <p:txBody>
          <a:bodyPr>
            <a:normAutofit fontScale="90000"/>
          </a:bodyPr>
          <a:lstStyle/>
          <a:p>
            <a:r>
              <a:rPr lang="en-US" sz="3200" b="1" dirty="0" smtClean="0">
                <a:solidFill>
                  <a:prstClr val="black"/>
                </a:solidFill>
              </a:rPr>
              <a:t>Global Update</a:t>
            </a:r>
            <a:br>
              <a:rPr lang="en-US" sz="3200" b="1" dirty="0" smtClean="0">
                <a:solidFill>
                  <a:prstClr val="black"/>
                </a:solidFill>
              </a:rPr>
            </a:br>
            <a:r>
              <a:rPr lang="en-US" sz="3200" b="1" dirty="0" smtClean="0">
                <a:solidFill>
                  <a:prstClr val="black"/>
                </a:solidFill>
              </a:rPr>
              <a:t> Unsuppressed Bibs with all items suppressed</a:t>
            </a:r>
            <a:endParaRPr lang="en-US" dirty="0"/>
          </a:p>
        </p:txBody>
      </p:sp>
      <p:sp>
        <p:nvSpPr>
          <p:cNvPr id="3" name="Content Placeholder 2"/>
          <p:cNvSpPr>
            <a:spLocks noGrp="1"/>
          </p:cNvSpPr>
          <p:nvPr>
            <p:ph idx="1"/>
          </p:nvPr>
        </p:nvSpPr>
        <p:spPr/>
        <p:txBody>
          <a:bodyPr/>
          <a:lstStyle/>
          <a:p>
            <a:r>
              <a:rPr lang="en-US" dirty="0" smtClean="0"/>
              <a:t>Global Update list B to change bib suppression to “suppressed” (or some other field to a temporary code you can find)</a:t>
            </a:r>
          </a:p>
          <a:p>
            <a:r>
              <a:rPr lang="en-US" dirty="0" smtClean="0"/>
              <a:t>C: Create a list of bibs</a:t>
            </a:r>
          </a:p>
          <a:p>
            <a:pPr lvl="1"/>
            <a:r>
              <a:rPr lang="en-US" dirty="0" smtClean="0"/>
              <a:t>Limited to list A</a:t>
            </a:r>
          </a:p>
          <a:p>
            <a:pPr lvl="1"/>
            <a:r>
              <a:rPr lang="en-US" dirty="0" smtClean="0"/>
              <a:t>With bib suppression code not “suppressed”</a:t>
            </a:r>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7162800" cy="1143000"/>
          </a:xfrm>
        </p:spPr>
        <p:txBody>
          <a:bodyPr>
            <a:normAutofit fontScale="90000"/>
          </a:bodyPr>
          <a:lstStyle/>
          <a:p>
            <a:r>
              <a:rPr lang="en-US" sz="3200" b="1" dirty="0" smtClean="0">
                <a:solidFill>
                  <a:prstClr val="black"/>
                </a:solidFill>
              </a:rPr>
              <a:t>Global Update</a:t>
            </a:r>
            <a:br>
              <a:rPr lang="en-US" sz="3200" b="1" dirty="0" smtClean="0">
                <a:solidFill>
                  <a:prstClr val="black"/>
                </a:solidFill>
              </a:rPr>
            </a:br>
            <a:r>
              <a:rPr lang="en-US" sz="3200" b="1" dirty="0" smtClean="0">
                <a:solidFill>
                  <a:prstClr val="black"/>
                </a:solidFill>
              </a:rPr>
              <a:t> Unsuppressed Bibs with all items suppressed</a:t>
            </a:r>
            <a:endParaRPr lang="en-US" dirty="0"/>
          </a:p>
        </p:txBody>
      </p:sp>
      <p:sp>
        <p:nvSpPr>
          <p:cNvPr id="3" name="Content Placeholder 2"/>
          <p:cNvSpPr>
            <a:spLocks noGrp="1"/>
          </p:cNvSpPr>
          <p:nvPr>
            <p:ph idx="1"/>
          </p:nvPr>
        </p:nvSpPr>
        <p:spPr/>
        <p:txBody>
          <a:bodyPr/>
          <a:lstStyle/>
          <a:p>
            <a:r>
              <a:rPr lang="en-US" dirty="0" smtClean="0"/>
              <a:t>Rapid Update list B again to change bib suppression back to “unsuppressed”</a:t>
            </a:r>
          </a:p>
          <a:p>
            <a:r>
              <a:rPr lang="en-US" dirty="0" smtClean="0"/>
              <a:t>You could use some unused field instead, perhaps with a special value called “marker”, instead of messing with an important field like suppression.</a:t>
            </a:r>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Getting Item Barcodes into</a:t>
            </a:r>
            <a:br>
              <a:rPr lang="en-US" b="1" dirty="0" smtClean="0"/>
            </a:br>
            <a:r>
              <a:rPr lang="en-US" b="1" dirty="0" smtClean="0"/>
              <a:t> a Review File</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pic>
        <p:nvPicPr>
          <p:cNvPr id="4" name="Picture 2"/>
          <p:cNvPicPr>
            <a:picLocks noGrp="1" noChangeAspect="1" noChangeArrowheads="1"/>
          </p:cNvPicPr>
          <p:nvPr>
            <p:ph idx="1"/>
          </p:nvPr>
        </p:nvPicPr>
        <p:blipFill>
          <a:blip r:embed="rId3" cstate="print"/>
          <a:srcRect/>
          <a:stretch>
            <a:fillRect/>
          </a:stretch>
        </p:blipFill>
        <p:spPr bwMode="auto">
          <a:xfrm>
            <a:off x="457200" y="1828800"/>
            <a:ext cx="8229600" cy="32198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10400" cy="1143000"/>
          </a:xfrm>
        </p:spPr>
        <p:txBody>
          <a:bodyPr>
            <a:normAutofit fontScale="90000"/>
          </a:bodyPr>
          <a:lstStyle/>
          <a:p>
            <a:r>
              <a:rPr lang="en-US" b="1" dirty="0" smtClean="0"/>
              <a:t>Barcodes into a Review File 1:</a:t>
            </a:r>
            <a:br>
              <a:rPr lang="en-US" b="1" dirty="0" smtClean="0"/>
            </a:br>
            <a:r>
              <a:rPr lang="en-US" b="1" dirty="0" smtClean="0"/>
              <a:t>“Add” to Existing List</a:t>
            </a:r>
            <a:endParaRPr lang="en-US" dirty="0"/>
          </a:p>
        </p:txBody>
      </p:sp>
      <p:sp>
        <p:nvSpPr>
          <p:cNvPr id="3" name="Content Placeholder 2"/>
          <p:cNvSpPr>
            <a:spLocks noGrp="1"/>
          </p:cNvSpPr>
          <p:nvPr>
            <p:ph idx="1"/>
          </p:nvPr>
        </p:nvSpPr>
        <p:spPr/>
        <p:txBody>
          <a:bodyPr/>
          <a:lstStyle/>
          <a:p>
            <a:r>
              <a:rPr lang="en-US" dirty="0" smtClean="0"/>
              <a:t>Millennium Create Lists: Existing List: Add</a:t>
            </a:r>
          </a:p>
          <a:p>
            <a:r>
              <a:rPr lang="en-US" dirty="0" smtClean="0"/>
              <a:t>Scan in barcodes</a:t>
            </a:r>
          </a:p>
          <a:p>
            <a:r>
              <a:rPr lang="en-US" dirty="0" smtClean="0"/>
              <a:t>Once you get started it's space bar, scan, alt-s</a:t>
            </a:r>
          </a:p>
          <a:p>
            <a:r>
              <a:rPr lang="en-US" dirty="0" smtClean="0"/>
              <a:t>Could paste instead of scan</a:t>
            </a:r>
          </a:p>
          <a:p>
            <a:r>
              <a:rPr lang="en-US" dirty="0" smtClean="0"/>
              <a:t>Cumbersome, but requires nothing extra</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10400" cy="1143000"/>
          </a:xfrm>
        </p:spPr>
        <p:txBody>
          <a:bodyPr>
            <a:normAutofit fontScale="90000"/>
          </a:bodyPr>
          <a:lstStyle/>
          <a:p>
            <a:r>
              <a:rPr lang="en-US" b="1" dirty="0" smtClean="0"/>
              <a:t>Barcodes into a Review File 1:</a:t>
            </a:r>
            <a:br>
              <a:rPr lang="en-US" b="1" dirty="0" smtClean="0"/>
            </a:br>
            <a:r>
              <a:rPr lang="en-US" b="1" dirty="0" smtClean="0"/>
              <a:t>“Add” to Existing List</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pic>
        <p:nvPicPr>
          <p:cNvPr id="5" name="Picture 4"/>
          <p:cNvPicPr/>
          <p:nvPr/>
        </p:nvPicPr>
        <p:blipFill>
          <a:blip r:embed="rId3" cstate="print"/>
          <a:srcRect r="2874" b="42984"/>
          <a:stretch>
            <a:fillRect/>
          </a:stretch>
        </p:blipFill>
        <p:spPr bwMode="auto">
          <a:xfrm>
            <a:off x="457200" y="1752600"/>
            <a:ext cx="8117955" cy="3429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10400" cy="1143000"/>
          </a:xfrm>
        </p:spPr>
        <p:txBody>
          <a:bodyPr>
            <a:normAutofit fontScale="90000"/>
          </a:bodyPr>
          <a:lstStyle/>
          <a:p>
            <a:r>
              <a:rPr lang="en-US" b="1" dirty="0" smtClean="0"/>
              <a:t>Barcodes into a Review File 2:</a:t>
            </a:r>
            <a:br>
              <a:rPr lang="en-US" b="1" dirty="0" smtClean="0"/>
            </a:br>
            <a:r>
              <a:rPr lang="en-US" b="1" dirty="0" smtClean="0"/>
              <a:t> Character-based Rapid Update</a:t>
            </a:r>
            <a:endParaRPr lang="en-US" dirty="0"/>
          </a:p>
        </p:txBody>
      </p:sp>
      <p:sp>
        <p:nvSpPr>
          <p:cNvPr id="3" name="Content Placeholder 2"/>
          <p:cNvSpPr>
            <a:spLocks noGrp="1"/>
          </p:cNvSpPr>
          <p:nvPr>
            <p:ph idx="1"/>
          </p:nvPr>
        </p:nvSpPr>
        <p:spPr/>
        <p:txBody>
          <a:bodyPr/>
          <a:lstStyle/>
          <a:p>
            <a:r>
              <a:rPr lang="en-US" dirty="0" smtClean="0"/>
              <a:t>D &gt; Catalog DATABASE maintenance</a:t>
            </a:r>
          </a:p>
          <a:p>
            <a:r>
              <a:rPr lang="en-US" dirty="0" smtClean="0"/>
              <a:t>R &gt; RAPID updating</a:t>
            </a:r>
          </a:p>
          <a:p>
            <a:pPr lvl="1"/>
            <a:r>
              <a:rPr lang="en-US" dirty="0" smtClean="0"/>
              <a:t>Choose “Items”, “not in a review file”</a:t>
            </a:r>
          </a:p>
          <a:p>
            <a:r>
              <a:rPr lang="en-US" dirty="0" smtClean="0"/>
              <a:t>Make a change that’s unique &amp; reversible</a:t>
            </a:r>
          </a:p>
          <a:p>
            <a:r>
              <a:rPr lang="en-US" dirty="0" smtClean="0"/>
              <a:t>(After you get started, it's scan, enter...)</a:t>
            </a:r>
          </a:p>
          <a:p>
            <a:r>
              <a:rPr lang="en-US" dirty="0" smtClean="0"/>
              <a:t>Create lists: Search for them</a:t>
            </a:r>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10400" cy="1143000"/>
          </a:xfrm>
        </p:spPr>
        <p:txBody>
          <a:bodyPr>
            <a:normAutofit fontScale="90000"/>
          </a:bodyPr>
          <a:lstStyle/>
          <a:p>
            <a:r>
              <a:rPr lang="en-US" b="1" dirty="0" smtClean="0"/>
              <a:t>Barcodes into a Review File 2:</a:t>
            </a:r>
            <a:br>
              <a:rPr lang="en-US" b="1" dirty="0" smtClean="0"/>
            </a:br>
            <a:r>
              <a:rPr lang="en-US" b="1" dirty="0" smtClean="0"/>
              <a:t> Character-based Rapid Update</a:t>
            </a:r>
            <a:endParaRPr lang="en-US" dirty="0"/>
          </a:p>
        </p:txBody>
      </p:sp>
      <p:sp>
        <p:nvSpPr>
          <p:cNvPr id="3" name="Content Placeholder 2"/>
          <p:cNvSpPr>
            <a:spLocks noGrp="1"/>
          </p:cNvSpPr>
          <p:nvPr>
            <p:ph idx="1"/>
          </p:nvPr>
        </p:nvSpPr>
        <p:spPr/>
        <p:txBody>
          <a:bodyPr/>
          <a:lstStyle/>
          <a:p>
            <a:r>
              <a:rPr lang="en-US" dirty="0" smtClean="0"/>
              <a:t>Requires scanning each barcode</a:t>
            </a:r>
          </a:p>
          <a:p>
            <a:r>
              <a:rPr lang="en-US" dirty="0" smtClean="0"/>
              <a:t>Use Millennium Rapid Update to change them back when you’re done</a:t>
            </a:r>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10400" cy="1143000"/>
          </a:xfrm>
        </p:spPr>
        <p:txBody>
          <a:bodyPr>
            <a:normAutofit fontScale="90000"/>
          </a:bodyPr>
          <a:lstStyle/>
          <a:p>
            <a:r>
              <a:rPr lang="en-US" b="1" dirty="0" smtClean="0"/>
              <a:t>Barcodes into a Review File 3:</a:t>
            </a:r>
            <a:br>
              <a:rPr lang="en-US" b="1" dirty="0" smtClean="0"/>
            </a:br>
            <a:r>
              <a:rPr lang="en-US" b="1" dirty="0" smtClean="0"/>
              <a:t> Upload to inventory via FTS</a:t>
            </a:r>
            <a:endParaRPr lang="en-US" dirty="0"/>
          </a:p>
        </p:txBody>
      </p:sp>
      <p:sp>
        <p:nvSpPr>
          <p:cNvPr id="3" name="Content Placeholder 2"/>
          <p:cNvSpPr>
            <a:spLocks noGrp="1"/>
          </p:cNvSpPr>
          <p:nvPr>
            <p:ph idx="1"/>
          </p:nvPr>
        </p:nvSpPr>
        <p:spPr/>
        <p:txBody>
          <a:bodyPr>
            <a:normAutofit/>
          </a:bodyPr>
          <a:lstStyle/>
          <a:p>
            <a:r>
              <a:rPr lang="en-US" dirty="0" smtClean="0"/>
              <a:t>Start with text file of barcodes</a:t>
            </a:r>
          </a:p>
          <a:p>
            <a:r>
              <a:rPr lang="en-US" dirty="0" smtClean="0"/>
              <a:t>Put n: before each barcode, like</a:t>
            </a:r>
            <a:br>
              <a:rPr lang="en-US" dirty="0" smtClean="0"/>
            </a:br>
            <a:r>
              <a:rPr lang="en-US" dirty="0" smtClean="0"/>
              <a:t>n:ITMPL000991587 (replace based on prefix)</a:t>
            </a:r>
          </a:p>
          <a:p>
            <a:r>
              <a:rPr lang="en-US" dirty="0" smtClean="0"/>
              <a:t>Put the file on an FTP server</a:t>
            </a:r>
          </a:p>
          <a:p>
            <a:pPr>
              <a:buNone/>
            </a:pP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10400" cy="1143000"/>
          </a:xfrm>
        </p:spPr>
        <p:txBody>
          <a:bodyPr>
            <a:normAutofit fontScale="90000"/>
          </a:bodyPr>
          <a:lstStyle/>
          <a:p>
            <a:r>
              <a:rPr lang="en-US" b="1" dirty="0" smtClean="0"/>
              <a:t>Barcodes into a Review File 3:</a:t>
            </a:r>
            <a:br>
              <a:rPr lang="en-US" b="1" dirty="0" smtClean="0"/>
            </a:br>
            <a:r>
              <a:rPr lang="en-US" b="1" dirty="0" smtClean="0"/>
              <a:t> Upload to inventory via FTS</a:t>
            </a:r>
            <a:endParaRPr lang="en-US" dirty="0"/>
          </a:p>
        </p:txBody>
      </p:sp>
      <p:sp>
        <p:nvSpPr>
          <p:cNvPr id="3" name="Content Placeholder 2"/>
          <p:cNvSpPr>
            <a:spLocks noGrp="1"/>
          </p:cNvSpPr>
          <p:nvPr>
            <p:ph idx="1"/>
          </p:nvPr>
        </p:nvSpPr>
        <p:spPr/>
        <p:txBody>
          <a:bodyPr>
            <a:normAutofit/>
          </a:bodyPr>
          <a:lstStyle/>
          <a:p>
            <a:r>
              <a:rPr lang="en-US" dirty="0" smtClean="0"/>
              <a:t>C &gt; CIRCULATION subsystem</a:t>
            </a:r>
          </a:p>
          <a:p>
            <a:r>
              <a:rPr lang="en-US" dirty="0" smtClean="0"/>
              <a:t>A &gt; ADDITIONAL circulation functions</a:t>
            </a:r>
          </a:p>
          <a:p>
            <a:r>
              <a:rPr lang="en-US" dirty="0" smtClean="0"/>
              <a:t>P &gt; PROCESS PC transactions</a:t>
            </a:r>
          </a:p>
          <a:p>
            <a:r>
              <a:rPr lang="en-US" dirty="0" smtClean="0"/>
              <a:t>F &gt; FTS Transfer…</a:t>
            </a:r>
          </a:p>
          <a:p>
            <a:r>
              <a:rPr lang="en-US" dirty="0" smtClean="0"/>
              <a:t>C &gt; COMPARE inventory to shelf list</a:t>
            </a:r>
          </a:p>
          <a:p>
            <a:r>
              <a:rPr lang="en-US" dirty="0" smtClean="0"/>
              <a:t>T &gt; TRANSFER file of barcodes to a Review File</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10400" cy="1143000"/>
          </a:xfrm>
        </p:spPr>
        <p:txBody>
          <a:bodyPr>
            <a:normAutofit fontScale="90000"/>
          </a:bodyPr>
          <a:lstStyle/>
          <a:p>
            <a:r>
              <a:rPr lang="en-US" b="1" dirty="0" smtClean="0"/>
              <a:t>Barcodes into a Review File 4:</a:t>
            </a:r>
            <a:br>
              <a:rPr lang="en-US" b="1" dirty="0" smtClean="0"/>
            </a:br>
            <a:r>
              <a:rPr lang="en-US" b="1" dirty="0" smtClean="0"/>
              <a:t>Offline Circ</a:t>
            </a:r>
            <a:endParaRPr lang="en-US" dirty="0"/>
          </a:p>
        </p:txBody>
      </p:sp>
      <p:sp>
        <p:nvSpPr>
          <p:cNvPr id="3" name="Content Placeholder 2"/>
          <p:cNvSpPr>
            <a:spLocks noGrp="1"/>
          </p:cNvSpPr>
          <p:nvPr>
            <p:ph idx="1"/>
          </p:nvPr>
        </p:nvSpPr>
        <p:spPr/>
        <p:txBody>
          <a:bodyPr/>
          <a:lstStyle/>
          <a:p>
            <a:r>
              <a:rPr lang="en-US" dirty="0" smtClean="0"/>
              <a:t>Start with text file of barcodes</a:t>
            </a:r>
          </a:p>
          <a:p>
            <a:r>
              <a:rPr lang="en-US" dirty="0" smtClean="0"/>
              <a:t>Put n: before each barcode, like</a:t>
            </a:r>
            <a:br>
              <a:rPr lang="en-US" dirty="0" smtClean="0"/>
            </a:br>
            <a:r>
              <a:rPr lang="en-US" dirty="0" smtClean="0"/>
              <a:t>n:ITMPL000991587 (replace based on prefix)</a:t>
            </a:r>
          </a:p>
          <a:p>
            <a:r>
              <a:rPr lang="en-US" dirty="0" smtClean="0"/>
              <a:t>Make the file: Millennium\Offline\circ.dat</a:t>
            </a:r>
          </a:p>
          <a:p>
            <a:r>
              <a:rPr lang="en-US" dirty="0" smtClean="0"/>
              <a:t>Upload using Offline Circ product</a:t>
            </a:r>
          </a:p>
          <a:p>
            <a:endParaRPr lang="en-US" dirty="0" smtClean="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10400" cy="1143000"/>
          </a:xfrm>
        </p:spPr>
        <p:txBody>
          <a:bodyPr>
            <a:normAutofit fontScale="90000"/>
          </a:bodyPr>
          <a:lstStyle/>
          <a:p>
            <a:r>
              <a:rPr lang="en-US" b="1" dirty="0" smtClean="0"/>
              <a:t>Barcodes into a Review File 4:</a:t>
            </a:r>
            <a:br>
              <a:rPr lang="en-US" b="1" dirty="0" smtClean="0"/>
            </a:br>
            <a:r>
              <a:rPr lang="en-US" b="1" dirty="0" smtClean="0"/>
              <a:t>Offline Circ</a:t>
            </a:r>
            <a:endParaRPr lang="en-US" dirty="0"/>
          </a:p>
        </p:txBody>
      </p:sp>
      <p:sp>
        <p:nvSpPr>
          <p:cNvPr id="3" name="Content Placeholder 2"/>
          <p:cNvSpPr>
            <a:spLocks noGrp="1"/>
          </p:cNvSpPr>
          <p:nvPr>
            <p:ph idx="1"/>
          </p:nvPr>
        </p:nvSpPr>
        <p:spPr/>
        <p:txBody>
          <a:bodyPr/>
          <a:lstStyle/>
          <a:p>
            <a:r>
              <a:rPr lang="en-US" dirty="0" smtClean="0"/>
              <a:t>C &gt; CIRCULATION subsystem</a:t>
            </a:r>
          </a:p>
          <a:p>
            <a:r>
              <a:rPr lang="en-US" dirty="0" smtClean="0"/>
              <a:t>A &gt; ADDITIONAL circulation functions</a:t>
            </a:r>
          </a:p>
          <a:p>
            <a:r>
              <a:rPr lang="en-US" dirty="0" smtClean="0"/>
              <a:t>P &gt; PROCESS PC transactions</a:t>
            </a:r>
          </a:p>
          <a:p>
            <a:r>
              <a:rPr lang="en-US" dirty="0" smtClean="0"/>
              <a:t>C &gt; COMPARE inventory to shelf list</a:t>
            </a:r>
          </a:p>
          <a:p>
            <a:r>
              <a:rPr lang="en-US" dirty="0" smtClean="0"/>
              <a:t>T &gt; TRANSFER file of barcodes to a Review File</a:t>
            </a:r>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10400" cy="1143000"/>
          </a:xfrm>
        </p:spPr>
        <p:txBody>
          <a:bodyPr>
            <a:normAutofit fontScale="90000"/>
          </a:bodyPr>
          <a:lstStyle/>
          <a:p>
            <a:r>
              <a:rPr lang="en-US" b="1" dirty="0" smtClean="0"/>
              <a:t>Barcodes into a Review File 5:</a:t>
            </a:r>
            <a:br>
              <a:rPr lang="en-US" b="1" dirty="0" smtClean="0"/>
            </a:br>
            <a:r>
              <a:rPr lang="en-US" b="1" dirty="0" smtClean="0"/>
              <a:t> Count Use, Portable Reader</a:t>
            </a:r>
            <a:endParaRPr lang="en-US" dirty="0"/>
          </a:p>
        </p:txBody>
      </p:sp>
      <p:sp>
        <p:nvSpPr>
          <p:cNvPr id="3" name="Content Placeholder 2"/>
          <p:cNvSpPr>
            <a:spLocks noGrp="1"/>
          </p:cNvSpPr>
          <p:nvPr>
            <p:ph idx="1"/>
          </p:nvPr>
        </p:nvSpPr>
        <p:spPr/>
        <p:txBody>
          <a:bodyPr/>
          <a:lstStyle/>
          <a:p>
            <a:r>
              <a:rPr lang="en-US" dirty="0" smtClean="0"/>
              <a:t>You don’t actually use a portable reader</a:t>
            </a:r>
          </a:p>
          <a:p>
            <a:r>
              <a:rPr lang="en-US" dirty="0" smtClean="0"/>
              <a:t>Does your library use “copy use” field?</a:t>
            </a:r>
          </a:p>
          <a:p>
            <a:pPr lvl="1"/>
            <a:r>
              <a:rPr lang="en-US" dirty="0" smtClean="0"/>
              <a:t>Create lists: items with copy use &gt; 0</a:t>
            </a:r>
          </a:p>
          <a:p>
            <a:r>
              <a:rPr lang="en-US" dirty="0" smtClean="0"/>
              <a:t>Start with text file of barcodes</a:t>
            </a:r>
          </a:p>
          <a:p>
            <a:r>
              <a:rPr lang="en-US" dirty="0" smtClean="0"/>
              <a:t>Put n: before each barcode, like</a:t>
            </a:r>
            <a:br>
              <a:rPr lang="en-US" dirty="0" smtClean="0"/>
            </a:br>
            <a:r>
              <a:rPr lang="en-US" dirty="0" smtClean="0"/>
              <a:t>b:ITMPL000991587 (replace based on prefix)</a:t>
            </a:r>
          </a:p>
          <a:p>
            <a:endParaRPr lang="en-US" dirty="0" smtClean="0"/>
          </a:p>
          <a:p>
            <a:endParaRPr lang="en-US" dirty="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10400" cy="1143000"/>
          </a:xfrm>
        </p:spPr>
        <p:txBody>
          <a:bodyPr>
            <a:normAutofit fontScale="90000"/>
          </a:bodyPr>
          <a:lstStyle/>
          <a:p>
            <a:r>
              <a:rPr lang="en-US" b="1" dirty="0" smtClean="0"/>
              <a:t>Barcodes into a Review File 5:</a:t>
            </a:r>
            <a:br>
              <a:rPr lang="en-US" b="1" dirty="0" smtClean="0"/>
            </a:br>
            <a:r>
              <a:rPr lang="en-US" b="1" dirty="0" smtClean="0"/>
              <a:t> Count Use, Portable Reader</a:t>
            </a:r>
            <a:endParaRPr lang="en-US" dirty="0"/>
          </a:p>
        </p:txBody>
      </p:sp>
      <p:sp>
        <p:nvSpPr>
          <p:cNvPr id="3" name="Content Placeholder 2"/>
          <p:cNvSpPr>
            <a:spLocks noGrp="1"/>
          </p:cNvSpPr>
          <p:nvPr>
            <p:ph idx="1"/>
          </p:nvPr>
        </p:nvSpPr>
        <p:spPr/>
        <p:txBody>
          <a:bodyPr/>
          <a:lstStyle/>
          <a:p>
            <a:r>
              <a:rPr lang="en-US" dirty="0" smtClean="0"/>
              <a:t>Millennium Circulation </a:t>
            </a:r>
          </a:p>
          <a:p>
            <a:r>
              <a:rPr lang="en-US" dirty="0" smtClean="0"/>
              <a:t>Count Use mode</a:t>
            </a:r>
          </a:p>
          <a:p>
            <a:r>
              <a:rPr lang="en-US" dirty="0" smtClean="0"/>
              <a:t>Choose “Portable Reader”</a:t>
            </a:r>
          </a:p>
          <a:p>
            <a:r>
              <a:rPr lang="en-US" dirty="0" smtClean="0"/>
              <a:t>Process File: Choose a file to upload.</a:t>
            </a:r>
          </a:p>
          <a:p>
            <a:endParaRPr lang="en-US" dirty="0" smtClean="0"/>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10400" cy="1143000"/>
          </a:xfrm>
        </p:spPr>
        <p:txBody>
          <a:bodyPr>
            <a:normAutofit fontScale="90000"/>
          </a:bodyPr>
          <a:lstStyle/>
          <a:p>
            <a:r>
              <a:rPr lang="en-US" b="1" dirty="0" smtClean="0"/>
              <a:t>Barcodes into a Review File 5:</a:t>
            </a:r>
            <a:br>
              <a:rPr lang="en-US" b="1" dirty="0" smtClean="0"/>
            </a:br>
            <a:r>
              <a:rPr lang="en-US" b="1" dirty="0" smtClean="0"/>
              <a:t> Count Use, Portable Reader</a:t>
            </a:r>
            <a:endParaRPr lang="en-US" dirty="0"/>
          </a:p>
        </p:txBody>
      </p:sp>
      <p:sp>
        <p:nvSpPr>
          <p:cNvPr id="3" name="Content Placeholder 2"/>
          <p:cNvSpPr>
            <a:spLocks noGrp="1"/>
          </p:cNvSpPr>
          <p:nvPr>
            <p:ph idx="1"/>
          </p:nvPr>
        </p:nvSpPr>
        <p:spPr/>
        <p:txBody>
          <a:bodyPr/>
          <a:lstStyle/>
          <a:p>
            <a:r>
              <a:rPr lang="en-US" dirty="0" smtClean="0"/>
              <a:t>Adds to item records’ “copy use” field</a:t>
            </a:r>
          </a:p>
          <a:p>
            <a:r>
              <a:rPr lang="en-US" dirty="0" smtClean="0"/>
              <a:t>Search for copy use &lt; 0 in Create Lists</a:t>
            </a:r>
          </a:p>
          <a:p>
            <a:pPr lvl="1"/>
            <a:r>
              <a:rPr lang="en-US" dirty="0" smtClean="0"/>
              <a:t>Could add “date updated” criteria</a:t>
            </a:r>
          </a:p>
          <a:p>
            <a:r>
              <a:rPr lang="en-US" dirty="0" smtClean="0"/>
              <a:t>Rapid update “copy use” to zero when done</a:t>
            </a:r>
          </a:p>
        </p:txBody>
      </p:sp>
      <p:pic>
        <p:nvPicPr>
          <p:cNvPr id="4098" name="Picture 2" descr="Confession Bear"/>
          <p:cNvPicPr>
            <a:picLocks noChangeAspect="1" noChangeArrowheads="1"/>
          </p:cNvPicPr>
          <p:nvPr/>
        </p:nvPicPr>
        <p:blipFill>
          <a:blip r:embed="rId2" cstate="print"/>
          <a:srcRect/>
          <a:stretch>
            <a:fillRect/>
          </a:stretch>
        </p:blipFill>
        <p:spPr bwMode="auto">
          <a:xfrm>
            <a:off x="7391400" y="304800"/>
            <a:ext cx="1348154" cy="1371600"/>
          </a:xfrm>
          <a:prstGeom prst="rect">
            <a:avLst/>
          </a:prstGeom>
          <a:noFill/>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ttp://zipmeme.com/uploads/generated/g1347633155811988097.jpg"/>
          <p:cNvPicPr>
            <a:picLocks noChangeAspect="1" noChangeArrowheads="1"/>
          </p:cNvPicPr>
          <p:nvPr/>
        </p:nvPicPr>
        <p:blipFill>
          <a:blip r:embed="rId2" cstate="print"/>
          <a:srcRect/>
          <a:stretch>
            <a:fillRect/>
          </a:stretch>
        </p:blipFill>
        <p:spPr bwMode="auto">
          <a:xfrm>
            <a:off x="2057400" y="762000"/>
            <a:ext cx="4876800" cy="4876801"/>
          </a:xfrm>
          <a:prstGeom prst="rect">
            <a:avLst/>
          </a:prstGeom>
          <a:noFill/>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descr="\\dc01\users\pshirley\desktop\Bunny Bros - 60_files\3qwq6z.jpg"/>
          <p:cNvPicPr>
            <a:picLocks noGrp="1" noChangeAspect="1" noChangeArrowheads="1"/>
          </p:cNvPicPr>
          <p:nvPr>
            <p:ph idx="1"/>
          </p:nvPr>
        </p:nvPicPr>
        <p:blipFill>
          <a:blip r:embed="rId2" cstate="print"/>
          <a:srcRect/>
          <a:stretch>
            <a:fillRect/>
          </a:stretch>
        </p:blipFill>
        <p:spPr bwMode="auto">
          <a:xfrm>
            <a:off x="2514600" y="228600"/>
            <a:ext cx="3657600" cy="3333750"/>
          </a:xfrm>
          <a:prstGeom prst="rect">
            <a:avLst/>
          </a:prstGeom>
          <a:noFill/>
        </p:spPr>
      </p:pic>
      <p:sp>
        <p:nvSpPr>
          <p:cNvPr id="7" name="Subtitle 2"/>
          <p:cNvSpPr txBox="1">
            <a:spLocks/>
          </p:cNvSpPr>
          <p:nvPr/>
        </p:nvSpPr>
        <p:spPr>
          <a:xfrm>
            <a:off x="1371600" y="3657600"/>
            <a:ext cx="6400800" cy="21336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en-US" sz="3200" dirty="0" smtClean="0"/>
              <a:t>pshirley@CuyahogaFallsLibrary.org</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1184</TotalTime>
  <Words>1703</Words>
  <Application>Microsoft Office PowerPoint</Application>
  <PresentationFormat>On-screen Show (4:3)</PresentationFormat>
  <Paragraphs>283</Paragraphs>
  <Slides>63</Slides>
  <Notes>0</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Office Theme</vt:lpstr>
      <vt:lpstr>Slide 1</vt:lpstr>
      <vt:lpstr>Overview</vt:lpstr>
      <vt:lpstr>Word</vt:lpstr>
      <vt:lpstr>Word: Replace</vt:lpstr>
      <vt:lpstr>Word: Replace</vt:lpstr>
      <vt:lpstr>Word: Replace: Example 1 Clean Up a List</vt:lpstr>
      <vt:lpstr>Word: Replace: Example 1 Clean Up a List</vt:lpstr>
      <vt:lpstr>Word: Replace: Example 1 Clean Up a List</vt:lpstr>
      <vt:lpstr>Word: Replace: Example 2  Magazine list for web site</vt:lpstr>
      <vt:lpstr>Word: Replace: Example 2  Magazine list for web site</vt:lpstr>
      <vt:lpstr>Word: Replace: Example 2  Magazine list for web site</vt:lpstr>
      <vt:lpstr>Word: Replace: Example 2  Magazine list for web site</vt:lpstr>
      <vt:lpstr>Word: Replace: Example 2  Magazine list for web site</vt:lpstr>
      <vt:lpstr>Word: Replace: Example 2  Magazine list for web site</vt:lpstr>
      <vt:lpstr>Word: Replace: Example 2  Magazine list for web site</vt:lpstr>
      <vt:lpstr>Excel</vt:lpstr>
      <vt:lpstr>Export, Open in Excel</vt:lpstr>
      <vt:lpstr>Export, Open in Excel</vt:lpstr>
      <vt:lpstr>Excel Example 1  Patrons with multiple barcodes</vt:lpstr>
      <vt:lpstr>Excel Example 1  Patrons with multiple barcodes</vt:lpstr>
      <vt:lpstr>Excel Example 1  Patrons with multiple barcodes</vt:lpstr>
      <vt:lpstr>Excel Example 2 Finding Duplicate Records</vt:lpstr>
      <vt:lpstr>Excel Example 2 Finding Duplicate Records</vt:lpstr>
      <vt:lpstr>Excel Example 2 Finding Duplicate Records</vt:lpstr>
      <vt:lpstr>Excel Example 2 Finding Duplicate Records</vt:lpstr>
      <vt:lpstr>Excel Example 3: Subtotal Circ by Location</vt:lpstr>
      <vt:lpstr>Excel Example 3: Subtotal Circ by Location</vt:lpstr>
      <vt:lpstr>Excel Example 4: Number of items by location</vt:lpstr>
      <vt:lpstr>Excel Example 4: Number of items by location</vt:lpstr>
      <vt:lpstr>Excel Example 5: Bibs by number of items</vt:lpstr>
      <vt:lpstr>Excel Example 5: Bibs by number of items</vt:lpstr>
      <vt:lpstr>Excel Example 6: Look up groups in other file</vt:lpstr>
      <vt:lpstr>Excel Example 6: Look up groups in other file</vt:lpstr>
      <vt:lpstr>Excel Example 6: Look up groups in other file</vt:lpstr>
      <vt:lpstr>Excel Example 6: Look up groups in other file</vt:lpstr>
      <vt:lpstr>Excel Example 7: Analyzing billed items</vt:lpstr>
      <vt:lpstr>Excel Example 7: Analyzing billed items</vt:lpstr>
      <vt:lpstr>Excel Example 7: Analyzing billed items</vt:lpstr>
      <vt:lpstr>Excel Example 7: Analyzing billed items</vt:lpstr>
      <vt:lpstr>Excel Example 7: Analyzing billed items</vt:lpstr>
      <vt:lpstr>Excel Example 7: Analyzing billed items</vt:lpstr>
      <vt:lpstr>Excel Example 8: Analyzing item statuses</vt:lpstr>
      <vt:lpstr>Excel Example 8: Analyzing item statuses</vt:lpstr>
      <vt:lpstr>Global Update  Unsuppressed Bibs with all items suppressed</vt:lpstr>
      <vt:lpstr>Global Update  Unsuppressed Bibs with all items suppressed</vt:lpstr>
      <vt:lpstr>Global Update  Unsuppressed Bibs with all items suppressed</vt:lpstr>
      <vt:lpstr>Global Update  Unsuppressed Bibs with all items suppressed</vt:lpstr>
      <vt:lpstr>Global Update  Unsuppressed Bibs with all items suppressed</vt:lpstr>
      <vt:lpstr>Global Update  Unsuppressed Bibs with all items suppressed</vt:lpstr>
      <vt:lpstr>Getting Item Barcodes into  a Review File</vt:lpstr>
      <vt:lpstr>Barcodes into a Review File 1: “Add” to Existing List</vt:lpstr>
      <vt:lpstr>Barcodes into a Review File 1: “Add” to Existing List</vt:lpstr>
      <vt:lpstr>Barcodes into a Review File 2:  Character-based Rapid Update</vt:lpstr>
      <vt:lpstr>Barcodes into a Review File 2:  Character-based Rapid Update</vt:lpstr>
      <vt:lpstr>Barcodes into a Review File 3:  Upload to inventory via FTS</vt:lpstr>
      <vt:lpstr>Barcodes into a Review File 3:  Upload to inventory via FTS</vt:lpstr>
      <vt:lpstr>Barcodes into a Review File 4: Offline Circ</vt:lpstr>
      <vt:lpstr>Barcodes into a Review File 4: Offline Circ</vt:lpstr>
      <vt:lpstr>Barcodes into a Review File 5:  Count Use, Portable Reader</vt:lpstr>
      <vt:lpstr>Barcodes into a Review File 5:  Count Use, Portable Reader</vt:lpstr>
      <vt:lpstr>Barcodes into a Review File 5:  Count Use, Portable Reader</vt:lpstr>
      <vt:lpstr>Slide 62</vt:lpstr>
      <vt:lpstr>Slide 63</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Phil</dc:creator>
  <cp:lastModifiedBy>Phil</cp:lastModifiedBy>
  <cp:revision>186</cp:revision>
  <dcterms:created xsi:type="dcterms:W3CDTF">2012-09-14T14:07:39Z</dcterms:created>
  <dcterms:modified xsi:type="dcterms:W3CDTF">2012-09-20T19:00:53Z</dcterms:modified>
</cp:coreProperties>
</file>