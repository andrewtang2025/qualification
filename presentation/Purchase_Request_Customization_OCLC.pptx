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49"/>
  </p:notesMasterIdLst>
  <p:sldIdLst>
    <p:sldId id="256" r:id="rId2"/>
    <p:sldId id="278" r:id="rId3"/>
    <p:sldId id="257" r:id="rId4"/>
    <p:sldId id="259" r:id="rId5"/>
    <p:sldId id="298" r:id="rId6"/>
    <p:sldId id="299" r:id="rId7"/>
    <p:sldId id="305" r:id="rId8"/>
    <p:sldId id="300" r:id="rId9"/>
    <p:sldId id="301" r:id="rId10"/>
    <p:sldId id="304" r:id="rId11"/>
    <p:sldId id="302" r:id="rId12"/>
    <p:sldId id="303" r:id="rId13"/>
    <p:sldId id="306" r:id="rId14"/>
    <p:sldId id="307" r:id="rId15"/>
    <p:sldId id="310" r:id="rId16"/>
    <p:sldId id="309" r:id="rId17"/>
    <p:sldId id="308" r:id="rId18"/>
    <p:sldId id="315" r:id="rId19"/>
    <p:sldId id="311" r:id="rId20"/>
    <p:sldId id="314" r:id="rId21"/>
    <p:sldId id="313" r:id="rId22"/>
    <p:sldId id="312" r:id="rId23"/>
    <p:sldId id="317" r:id="rId24"/>
    <p:sldId id="343" r:id="rId25"/>
    <p:sldId id="345" r:id="rId26"/>
    <p:sldId id="346" r:id="rId27"/>
    <p:sldId id="347" r:id="rId28"/>
    <p:sldId id="320" r:id="rId29"/>
    <p:sldId id="319" r:id="rId30"/>
    <p:sldId id="273" r:id="rId31"/>
    <p:sldId id="330" r:id="rId32"/>
    <p:sldId id="327" r:id="rId33"/>
    <p:sldId id="332" r:id="rId34"/>
    <p:sldId id="334" r:id="rId35"/>
    <p:sldId id="337" r:id="rId36"/>
    <p:sldId id="339" r:id="rId37"/>
    <p:sldId id="341" r:id="rId38"/>
    <p:sldId id="333" r:id="rId39"/>
    <p:sldId id="331" r:id="rId40"/>
    <p:sldId id="271" r:id="rId41"/>
    <p:sldId id="328" r:id="rId42"/>
    <p:sldId id="277" r:id="rId43"/>
    <p:sldId id="329" r:id="rId44"/>
    <p:sldId id="348" r:id="rId45"/>
    <p:sldId id="349" r:id="rId46"/>
    <p:sldId id="350" r:id="rId47"/>
    <p:sldId id="351" r:id="rId48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rosoft Corp.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47" autoAdjust="0"/>
    <p:restoredTop sz="86387" autoAdjust="0"/>
  </p:normalViewPr>
  <p:slideViewPr>
    <p:cSldViewPr>
      <p:cViewPr>
        <p:scale>
          <a:sx n="64" d="100"/>
          <a:sy n="64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fld id="{988C7076-7580-465C-B955-B9485B2A6B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061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trexler.muhlenberg.edu/about/library-liaisons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mailto:gruber@muhlenberg.edu" TargetMode="External"/><Relationship Id="rId4" Type="http://schemas.openxmlformats.org/officeDocument/2006/relationships/hyperlink" Target="http://trexler.muhlenberg.edu/services/forms/suggest-a-purchase.html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language.pseudo-types.php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99D941-4160-4CD7-8C16-D6AAB81388E8}" type="slidenum">
              <a:rPr lang="en-US"/>
              <a:pPr/>
              <a:t>1</a:t>
            </a:fld>
            <a:endParaRPr 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add notes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3FA2D8-4BAB-4B11-8D33-FA39BF77D7D4}" type="slidenum">
              <a:rPr lang="en-US"/>
              <a:pPr/>
              <a:t>3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How to Place an Order for Books or AV Materials</a:t>
            </a:r>
          </a:p>
          <a:p>
            <a:r>
              <a:rPr lang="en-US" b="1" dirty="0" smtClean="0"/>
              <a:t>http://trexler.muhlenberg.edu/services/faculty.html#d.en.187679</a:t>
            </a:r>
          </a:p>
          <a:p>
            <a:r>
              <a:rPr lang="en-US" dirty="0" smtClean="0"/>
              <a:t>Requests to purchase materials should be sent to your </a:t>
            </a:r>
            <a:r>
              <a:rPr lang="en-US" dirty="0" smtClean="0">
                <a:hlinkClick r:id="rId3"/>
              </a:rPr>
              <a:t>Departmental Liaison</a:t>
            </a:r>
            <a:r>
              <a:rPr lang="en-US" dirty="0" smtClean="0"/>
              <a:t> who reviews the requests and forwards those approved to the Librarian Liaison.</a:t>
            </a:r>
          </a:p>
          <a:p>
            <a:r>
              <a:rPr lang="en-US" dirty="0" smtClean="0"/>
              <a:t>Requests can be sent in any of several forms:</a:t>
            </a:r>
          </a:p>
          <a:p>
            <a:r>
              <a:rPr lang="en-US" dirty="0" smtClean="0"/>
              <a:t>on green order cards (available from your </a:t>
            </a:r>
            <a:r>
              <a:rPr lang="en-US" dirty="0" smtClean="0">
                <a:hlinkClick r:id="rId3"/>
              </a:rPr>
              <a:t>Departmental Liaison</a:t>
            </a:r>
            <a:r>
              <a:rPr lang="en-US" dirty="0" smtClean="0"/>
              <a:t>)</a:t>
            </a:r>
          </a:p>
          <a:p>
            <a:r>
              <a:rPr lang="en-US" dirty="0" smtClean="0"/>
              <a:t>via email to your Departmental Liaison</a:t>
            </a:r>
          </a:p>
          <a:p>
            <a:r>
              <a:rPr lang="en-US" dirty="0" smtClean="0"/>
              <a:t>via the </a:t>
            </a:r>
            <a:r>
              <a:rPr lang="en-US" dirty="0" smtClean="0">
                <a:hlinkClick r:id="rId4"/>
              </a:rPr>
              <a:t>online purchase request form</a:t>
            </a:r>
            <a:endParaRPr lang="en-US" dirty="0" smtClean="0"/>
          </a:p>
          <a:p>
            <a:r>
              <a:rPr lang="en-US" dirty="0" smtClean="0"/>
              <a:t>Any requests of particularly urgent instructional need can be labeled as a “rush” order. Please note if items are for Course Reserves.</a:t>
            </a:r>
          </a:p>
          <a:p>
            <a:r>
              <a:rPr lang="en-US" dirty="0" smtClean="0"/>
              <a:t>Questions about collection development and purchase requests can be directed to your Departmental Liaison, your </a:t>
            </a:r>
            <a:r>
              <a:rPr lang="en-US" dirty="0" smtClean="0">
                <a:hlinkClick r:id="rId3"/>
              </a:rPr>
              <a:t>Librarian Liaison</a:t>
            </a:r>
            <a:r>
              <a:rPr lang="en-US" dirty="0" smtClean="0"/>
              <a:t>, or the Acquisitions Manager, Karen Gruber (</a:t>
            </a:r>
            <a:r>
              <a:rPr lang="en-US" dirty="0" smtClean="0">
                <a:hlinkClick r:id="rId5"/>
              </a:rPr>
              <a:t>gruber@muhlenberg.edu</a:t>
            </a:r>
            <a:r>
              <a:rPr lang="en-US" dirty="0" smtClean="0"/>
              <a:t> / 484-664-3570).</a:t>
            </a:r>
          </a:p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CD88D0-B809-40C9-BB02-4284DFBCDCC5}" type="slidenum">
              <a:rPr lang="en-US"/>
              <a:pPr/>
              <a:t>4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Pros</a:t>
            </a:r>
          </a:p>
          <a:p>
            <a:r>
              <a:rPr lang="en-US" dirty="0" smtClean="0"/>
              <a:t>1.Streamlined:</a:t>
            </a:r>
            <a:r>
              <a:rPr lang="en-US" baseline="0" dirty="0" smtClean="0"/>
              <a:t> from worldcat.org to OCLC WMS</a:t>
            </a:r>
          </a:p>
          <a:p>
            <a:r>
              <a:rPr lang="en-US" baseline="0" dirty="0" smtClean="0"/>
              <a:t>2. Efficiency: We only need one step going from item request to place orders</a:t>
            </a:r>
          </a:p>
          <a:p>
            <a:r>
              <a:rPr lang="en-US" baseline="0" dirty="0" smtClean="0"/>
              <a:t>3. Seamless connection is formed between worldcat.org and OCLC WMS</a:t>
            </a:r>
          </a:p>
          <a:p>
            <a:r>
              <a:rPr lang="en-US" baseline="0" dirty="0" smtClean="0"/>
              <a:t>Cons.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Approval step for liaison is lost in this solutions. This increases the burden of Acquisition librarian.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Requests backup is lost. If some requests are not approved, they will be deleted and fail to leave trace in system.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It is difficult to let patron to send order request from https://muhlenberg.on.worldcat.org/  to OCLC WMS. It just could send order requests from https://muhlenberg.worldcat.org/  to OCLC WMS.</a:t>
            </a:r>
          </a:p>
          <a:p>
            <a:pPr marL="228600" indent="-228600">
              <a:buAutoNum type="arabicPeriod"/>
            </a:pPr>
            <a:endParaRPr lang="en-US" baseline="0" dirty="0" smtClean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The faculty uses </a:t>
            </a:r>
            <a:r>
              <a:rPr lang="en-US" dirty="0" smtClean="0"/>
              <a:t>“Record Link” function provided by OCLC to copy the link of item</a:t>
            </a:r>
            <a:r>
              <a:rPr lang="en-US" baseline="0" dirty="0" smtClean="0"/>
              <a:t> they want to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faculty uses mouse right key to click the link and copy it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faculty c</a:t>
            </a:r>
            <a:r>
              <a:rPr lang="en-US" sz="1200" dirty="0" smtClean="0"/>
              <a:t>licks PHP script link “Order Request” from top navigation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Faculty inputs and pastes the name, email, and link</a:t>
            </a:r>
            <a:r>
              <a:rPr lang="en-US" sz="1200" baseline="0" dirty="0" smtClean="0"/>
              <a:t> which they just copy in previous step. After the faculty clicks submit button, the data is sent to </a:t>
            </a:r>
            <a:r>
              <a:rPr lang="en-US" sz="1200" baseline="0" dirty="0" err="1" smtClean="0"/>
              <a:t>mysql</a:t>
            </a:r>
            <a:r>
              <a:rPr lang="en-US" sz="1200" baseline="0" dirty="0" smtClean="0"/>
              <a:t>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After the</a:t>
            </a:r>
            <a:r>
              <a:rPr lang="en-US" baseline="0" dirty="0" smtClean="0"/>
              <a:t> liaison librarian clicks the “Liaison Approve” link, it will go into this page to let he or she to submit their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Acquisition</a:t>
            </a:r>
            <a:r>
              <a:rPr lang="en-US" baseline="0" dirty="0" smtClean="0"/>
              <a:t> librarian click “Order Process” to check liaison approval status. If “Liaison”  name is the right side of “Liaison Approval”, it means it is approved by liaison.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After we</a:t>
            </a:r>
            <a:r>
              <a:rPr lang="en-US" baseline="0" dirty="0" smtClean="0"/>
              <a:t> click the button “Add to Order”, it will go into the normal process of OCLC WMS acquisition. See Appendix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Sometimes, password</a:t>
            </a:r>
            <a:r>
              <a:rPr lang="en-US" baseline="0" dirty="0" smtClean="0"/>
              <a:t> protected are advantage and disadvantage.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What are UPCs, EANs, ISBNs. and ASINs?</a:t>
            </a:r>
          </a:p>
          <a:p>
            <a:r>
              <a:rPr lang="en-US" dirty="0" smtClean="0"/>
              <a:t>http://www.amazon.com/gp/seller/asin-upc-isbn-info.html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smtClean="0"/>
              <a:t>******************************************</a:t>
            </a:r>
          </a:p>
          <a:p>
            <a:pPr>
              <a:buFont typeface="Arial" charset="0"/>
              <a:buNone/>
            </a:pPr>
            <a:r>
              <a:rPr lang="en-US" dirty="0" smtClean="0"/>
              <a:t>*</a:t>
            </a:r>
            <a:r>
              <a:rPr lang="en-US" dirty="0" err="1" smtClean="0"/>
              <a:t>index.php</a:t>
            </a:r>
            <a:endParaRPr lang="en-US" dirty="0" smtClean="0"/>
          </a:p>
          <a:p>
            <a:pPr>
              <a:buFont typeface="Arial" charset="0"/>
              <a:buNone/>
            </a:pPr>
            <a:r>
              <a:rPr lang="en-US" dirty="0" smtClean="0"/>
              <a:t>********************************************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&lt;style type="text/</a:t>
            </a:r>
            <a:r>
              <a:rPr lang="en-US" dirty="0" err="1" smtClean="0"/>
              <a:t>css</a:t>
            </a:r>
            <a:r>
              <a:rPr lang="en-US" dirty="0" smtClean="0"/>
              <a:t>"&gt;</a:t>
            </a:r>
          </a:p>
          <a:p>
            <a:r>
              <a:rPr lang="en-US" dirty="0" smtClean="0"/>
              <a:t>&lt;!--</a:t>
            </a:r>
          </a:p>
          <a:p>
            <a:r>
              <a:rPr lang="en-US" dirty="0" smtClean="0"/>
              <a:t>#apDiv1 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position:absolute</a:t>
            </a:r>
            <a:r>
              <a:rPr lang="en-US" dirty="0" smtClean="0"/>
              <a:t>;</a:t>
            </a:r>
          </a:p>
          <a:p>
            <a:r>
              <a:rPr lang="en-US" dirty="0" smtClean="0"/>
              <a:t>	left:162px;</a:t>
            </a:r>
          </a:p>
          <a:p>
            <a:r>
              <a:rPr lang="en-US" dirty="0" smtClean="0"/>
              <a:t>	top:49px;</a:t>
            </a:r>
          </a:p>
          <a:p>
            <a:r>
              <a:rPr lang="en-US" dirty="0" smtClean="0"/>
              <a:t>	width:700px;</a:t>
            </a:r>
          </a:p>
          <a:p>
            <a:r>
              <a:rPr lang="en-US" dirty="0" smtClean="0"/>
              <a:t>	height:61px;</a:t>
            </a:r>
          </a:p>
          <a:p>
            <a:r>
              <a:rPr lang="en-US" dirty="0" smtClean="0"/>
              <a:t>	z-index:1;</a:t>
            </a:r>
          </a:p>
          <a:p>
            <a:r>
              <a:rPr lang="en-US" dirty="0" smtClean="0"/>
              <a:t>	background-color: #E3E3E3;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#apDiv2 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position:absolute</a:t>
            </a:r>
            <a:r>
              <a:rPr lang="en-US" dirty="0" smtClean="0"/>
              <a:t>;</a:t>
            </a:r>
          </a:p>
          <a:p>
            <a:r>
              <a:rPr lang="en-US" dirty="0" smtClean="0"/>
              <a:t>	left:33px;</a:t>
            </a:r>
          </a:p>
          <a:p>
            <a:r>
              <a:rPr lang="en-US" dirty="0" smtClean="0"/>
              <a:t>	top:33px;</a:t>
            </a:r>
          </a:p>
          <a:p>
            <a:r>
              <a:rPr lang="en-US" dirty="0" smtClean="0"/>
              <a:t>	width:644px;</a:t>
            </a:r>
          </a:p>
          <a:p>
            <a:r>
              <a:rPr lang="en-US" dirty="0" smtClean="0"/>
              <a:t>	height:200px;</a:t>
            </a:r>
          </a:p>
          <a:p>
            <a:r>
              <a:rPr lang="en-US" dirty="0" smtClean="0"/>
              <a:t>	z-index:2;</a:t>
            </a:r>
          </a:p>
          <a:p>
            <a:r>
              <a:rPr lang="en-US" dirty="0" smtClean="0"/>
              <a:t>	background-color: #E3E3E3;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#apDiv3 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position:absolute</a:t>
            </a:r>
            <a:r>
              <a:rPr lang="en-US" dirty="0" smtClean="0"/>
              <a:t>;</a:t>
            </a:r>
          </a:p>
          <a:p>
            <a:r>
              <a:rPr lang="en-US" dirty="0" smtClean="0"/>
              <a:t>	left:300px;</a:t>
            </a:r>
          </a:p>
          <a:p>
            <a:r>
              <a:rPr lang="en-US" dirty="0" smtClean="0"/>
              <a:t>	top:174px;</a:t>
            </a:r>
          </a:p>
          <a:p>
            <a:r>
              <a:rPr lang="en-US" dirty="0" smtClean="0"/>
              <a:t>	width:57px;</a:t>
            </a:r>
          </a:p>
          <a:p>
            <a:r>
              <a:rPr lang="en-US" dirty="0" smtClean="0"/>
              <a:t>	height:25px;</a:t>
            </a:r>
          </a:p>
          <a:p>
            <a:r>
              <a:rPr lang="en-US" dirty="0" smtClean="0"/>
              <a:t>	z-index:3;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#apDiv4 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position:absolute</a:t>
            </a:r>
            <a:r>
              <a:rPr lang="en-US" dirty="0" smtClean="0"/>
              <a:t>;</a:t>
            </a:r>
          </a:p>
          <a:p>
            <a:r>
              <a:rPr lang="en-US" dirty="0" smtClean="0"/>
              <a:t>	left:161px;</a:t>
            </a:r>
          </a:p>
          <a:p>
            <a:r>
              <a:rPr lang="en-US" dirty="0" smtClean="0"/>
              <a:t>	top:125px;</a:t>
            </a:r>
          </a:p>
          <a:p>
            <a:r>
              <a:rPr lang="en-US" dirty="0" smtClean="0"/>
              <a:t>	width:700px;</a:t>
            </a:r>
          </a:p>
          <a:p>
            <a:r>
              <a:rPr lang="en-US" dirty="0" smtClean="0"/>
              <a:t>	height:270px;</a:t>
            </a:r>
          </a:p>
          <a:p>
            <a:r>
              <a:rPr lang="en-US" dirty="0" smtClean="0"/>
              <a:t>	z-index:3;</a:t>
            </a:r>
          </a:p>
          <a:p>
            <a:r>
              <a:rPr lang="en-US" dirty="0" smtClean="0"/>
              <a:t>	background-color: #E3E3E3;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--&gt;</a:t>
            </a:r>
          </a:p>
          <a:p>
            <a:r>
              <a:rPr lang="en-US" dirty="0" smtClean="0"/>
              <a:t>&lt;/style&gt;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&lt;div id="apDiv1"&gt;&lt;h1 align="center"&gt;Order Request Simplified Version (for Staff)&lt;/h1&gt;</a:t>
            </a:r>
          </a:p>
          <a:p>
            <a:r>
              <a:rPr lang="en-US" dirty="0" smtClean="0"/>
              <a:t>&lt;/div&gt;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&lt;div id="apDiv4"&gt;</a:t>
            </a:r>
          </a:p>
          <a:p>
            <a:r>
              <a:rPr lang="en-US" dirty="0" smtClean="0"/>
              <a:t>  &lt;div id="apDiv2"&gt;</a:t>
            </a:r>
          </a:p>
          <a:p>
            <a:r>
              <a:rPr lang="en-US" dirty="0" smtClean="0"/>
              <a:t>    &lt;form action="insert.php" method="post"&gt;</a:t>
            </a:r>
          </a:p>
          <a:p>
            <a:r>
              <a:rPr lang="en-US" dirty="0" smtClean="0"/>
              <a:t>      Requester Name:</a:t>
            </a:r>
          </a:p>
          <a:p>
            <a:r>
              <a:rPr lang="en-US" dirty="0" smtClean="0"/>
              <a:t>      &lt;input type="text" name="</a:t>
            </a:r>
            <a:r>
              <a:rPr lang="en-US" dirty="0" err="1" smtClean="0"/>
              <a:t>requestername</a:t>
            </a:r>
            <a:r>
              <a:rPr lang="en-US" dirty="0" smtClean="0"/>
              <a:t>" size=50 /&gt;</a:t>
            </a:r>
          </a:p>
          <a:p>
            <a:r>
              <a:rPr lang="en-US" dirty="0" smtClean="0"/>
              <a:t>     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Requester Email:</a:t>
            </a:r>
          </a:p>
          <a:p>
            <a:r>
              <a:rPr lang="en-US" dirty="0" smtClean="0"/>
              <a:t>      &lt;input type="text" name="</a:t>
            </a:r>
            <a:r>
              <a:rPr lang="en-US" dirty="0" err="1" smtClean="0"/>
              <a:t>requesteremail</a:t>
            </a:r>
            <a:r>
              <a:rPr lang="en-US" dirty="0" smtClean="0"/>
              <a:t>" size=50/&gt;</a:t>
            </a:r>
          </a:p>
          <a:p>
            <a:r>
              <a:rPr lang="en-US" dirty="0" smtClean="0"/>
              <a:t>     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Record Link:</a:t>
            </a:r>
          </a:p>
          <a:p>
            <a:r>
              <a:rPr lang="en-US" dirty="0" smtClean="0"/>
              <a:t>      &lt;input type="text" name="</a:t>
            </a:r>
            <a:r>
              <a:rPr lang="en-US" dirty="0" err="1" smtClean="0"/>
              <a:t>recordlink</a:t>
            </a:r>
            <a:r>
              <a:rPr lang="en-US" dirty="0" smtClean="0"/>
              <a:t>" size=60/&gt;</a:t>
            </a:r>
          </a:p>
          <a:p>
            <a:r>
              <a:rPr lang="en-US" dirty="0" smtClean="0"/>
              <a:t>     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	  	        &lt;div id="apDiv3"&gt;</a:t>
            </a:r>
          </a:p>
          <a:p>
            <a:r>
              <a:rPr lang="en-US" dirty="0" smtClean="0"/>
              <a:t>				&lt;input type="submit" value="Submit" /&gt;</a:t>
            </a:r>
          </a:p>
          <a:p>
            <a:r>
              <a:rPr lang="en-US" dirty="0" smtClean="0"/>
              <a:t>		     &lt;/div&gt;</a:t>
            </a:r>
          </a:p>
          <a:p>
            <a:r>
              <a:rPr lang="en-US" dirty="0" smtClean="0"/>
              <a:t>    &lt;/form&gt;</a:t>
            </a:r>
          </a:p>
          <a:p>
            <a:endParaRPr lang="en-US" dirty="0" smtClean="0"/>
          </a:p>
          <a:p>
            <a:r>
              <a:rPr lang="en-US" dirty="0" smtClean="0"/>
              <a:t>  &lt;/div&gt;</a:t>
            </a:r>
          </a:p>
          <a:p>
            <a:r>
              <a:rPr lang="en-US" dirty="0" smtClean="0"/>
              <a:t>&lt;/div&gt;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</a:p>
          <a:p>
            <a:endParaRPr lang="en-US" dirty="0" smtClean="0"/>
          </a:p>
          <a:p>
            <a:r>
              <a:rPr lang="en-US" dirty="0" smtClean="0"/>
              <a:t>******************************************</a:t>
            </a:r>
          </a:p>
          <a:p>
            <a:pPr>
              <a:buFont typeface="Arial" charset="0"/>
              <a:buNone/>
            </a:pPr>
            <a:r>
              <a:rPr lang="en-US" dirty="0" smtClean="0"/>
              <a:t>*</a:t>
            </a:r>
            <a:r>
              <a:rPr lang="en-US" dirty="0" err="1" smtClean="0"/>
              <a:t>insert.php</a:t>
            </a:r>
            <a:endParaRPr lang="en-US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 smtClean="0"/>
              <a:t>*copyright</a:t>
            </a:r>
            <a:r>
              <a:rPr lang="en-US" baseline="0" dirty="0" smtClean="0"/>
              <a:t> Andy Tang</a:t>
            </a:r>
            <a:endParaRPr lang="en-US" dirty="0" smtClean="0"/>
          </a:p>
          <a:p>
            <a:r>
              <a:rPr lang="en-US" dirty="0" smtClean="0"/>
              <a:t>*******************************************</a:t>
            </a:r>
          </a:p>
          <a:p>
            <a:r>
              <a:rPr lang="en-US" dirty="0" smtClean="0"/>
              <a:t>&lt;?php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servername</a:t>
            </a:r>
            <a:r>
              <a:rPr lang="en-US" dirty="0" smtClean="0"/>
              <a:t> = "</a:t>
            </a:r>
            <a:r>
              <a:rPr lang="en-US" dirty="0" err="1" smtClean="0"/>
              <a:t>localhost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$username = "</a:t>
            </a:r>
            <a:r>
              <a:rPr lang="en-US" dirty="0" err="1" smtClean="0"/>
              <a:t>admin_resume</a:t>
            </a:r>
            <a:r>
              <a:rPr lang="en-US" dirty="0" smtClean="0"/>
              <a:t>";</a:t>
            </a:r>
          </a:p>
          <a:p>
            <a:r>
              <a:rPr lang="en-US" dirty="0" smtClean="0"/>
              <a:t>$password = "";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dbname</a:t>
            </a:r>
            <a:r>
              <a:rPr lang="en-US" dirty="0" smtClean="0"/>
              <a:t> = "</a:t>
            </a:r>
            <a:r>
              <a:rPr lang="en-US" dirty="0" err="1" smtClean="0"/>
              <a:t>kcordershort</a:t>
            </a:r>
            <a:r>
              <a:rPr lang="en-US" dirty="0" smtClean="0"/>
              <a:t>";</a:t>
            </a:r>
          </a:p>
          <a:p>
            <a:endParaRPr lang="en-US" dirty="0" smtClean="0"/>
          </a:p>
          <a:p>
            <a:r>
              <a:rPr lang="en-US" dirty="0" smtClean="0"/>
              <a:t>// Create connection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conn</a:t>
            </a:r>
            <a:r>
              <a:rPr lang="en-US" dirty="0" smtClean="0"/>
              <a:t> = </a:t>
            </a:r>
            <a:r>
              <a:rPr lang="en-US" dirty="0" err="1" smtClean="0"/>
              <a:t>mysqli_connect</a:t>
            </a:r>
            <a:r>
              <a:rPr lang="en-US" dirty="0" smtClean="0"/>
              <a:t>($</a:t>
            </a:r>
            <a:r>
              <a:rPr lang="en-US" dirty="0" err="1" smtClean="0"/>
              <a:t>servername</a:t>
            </a:r>
            <a:r>
              <a:rPr lang="en-US" dirty="0" smtClean="0"/>
              <a:t>, $username, $password, $</a:t>
            </a:r>
            <a:r>
              <a:rPr lang="en-US" dirty="0" err="1" smtClean="0"/>
              <a:t>dbname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// Check connection</a:t>
            </a:r>
          </a:p>
          <a:p>
            <a:r>
              <a:rPr lang="en-US" dirty="0" smtClean="0"/>
              <a:t>if (!$</a:t>
            </a:r>
            <a:r>
              <a:rPr lang="en-US" dirty="0" err="1" smtClean="0"/>
              <a:t>conn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die("Connection failed: " . </a:t>
            </a:r>
            <a:r>
              <a:rPr lang="en-US" dirty="0" err="1" smtClean="0"/>
              <a:t>mysqli_connect_error</a:t>
            </a:r>
            <a:r>
              <a:rPr lang="en-US" dirty="0" smtClean="0"/>
              <a:t>());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//$</a:t>
            </a:r>
            <a:r>
              <a:rPr lang="en-US" dirty="0" err="1" smtClean="0"/>
              <a:t>title_post</a:t>
            </a:r>
            <a:r>
              <a:rPr lang="en-US" dirty="0" smtClean="0"/>
              <a:t>=</a:t>
            </a:r>
            <a:r>
              <a:rPr lang="en-US" dirty="0" err="1" smtClean="0"/>
              <a:t>addslashes</a:t>
            </a:r>
            <a:r>
              <a:rPr lang="en-US" dirty="0" smtClean="0"/>
              <a:t>($_POST['title']);</a:t>
            </a:r>
          </a:p>
          <a:p>
            <a:endParaRPr lang="en-US" dirty="0" smtClean="0"/>
          </a:p>
          <a:p>
            <a:r>
              <a:rPr lang="en-US" dirty="0" smtClean="0"/>
              <a:t>//$</a:t>
            </a:r>
            <a:r>
              <a:rPr lang="en-US" dirty="0" err="1" smtClean="0"/>
              <a:t>title_post</a:t>
            </a:r>
            <a:r>
              <a:rPr lang="en-US" dirty="0" smtClean="0"/>
              <a:t>=</a:t>
            </a:r>
            <a:r>
              <a:rPr lang="en-US" dirty="0" err="1" smtClean="0"/>
              <a:t>mysqli_real_escape_string</a:t>
            </a:r>
            <a:r>
              <a:rPr lang="en-US" dirty="0" smtClean="0"/>
              <a:t>($_POST[title]);  does not work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recordLink_post</a:t>
            </a:r>
            <a:r>
              <a:rPr lang="en-US" dirty="0" smtClean="0"/>
              <a:t>=$_POST['</a:t>
            </a:r>
            <a:r>
              <a:rPr lang="en-US" dirty="0" err="1" smtClean="0"/>
              <a:t>recordlink</a:t>
            </a:r>
            <a:r>
              <a:rPr lang="en-US" dirty="0" smtClean="0"/>
              <a:t>'];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requesterName_post</a:t>
            </a:r>
            <a:r>
              <a:rPr lang="en-US" dirty="0" smtClean="0"/>
              <a:t>=$_POST['</a:t>
            </a:r>
            <a:r>
              <a:rPr lang="en-US" dirty="0" err="1" smtClean="0"/>
              <a:t>requestername</a:t>
            </a:r>
            <a:r>
              <a:rPr lang="en-US" dirty="0" smtClean="0"/>
              <a:t>'];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requesterEmail_post</a:t>
            </a:r>
            <a:r>
              <a:rPr lang="en-US" dirty="0" smtClean="0"/>
              <a:t>=$_POST['</a:t>
            </a:r>
            <a:r>
              <a:rPr lang="en-US" dirty="0" err="1" smtClean="0"/>
              <a:t>requesteremail</a:t>
            </a:r>
            <a:r>
              <a:rPr lang="en-US" dirty="0" smtClean="0"/>
              <a:t>'];</a:t>
            </a:r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beginning_position</a:t>
            </a:r>
            <a:r>
              <a:rPr lang="en-US" dirty="0" smtClean="0"/>
              <a:t>=</a:t>
            </a:r>
            <a:r>
              <a:rPr lang="en-US" dirty="0" err="1" smtClean="0"/>
              <a:t>strpos</a:t>
            </a:r>
            <a:r>
              <a:rPr lang="en-US" dirty="0" smtClean="0"/>
              <a:t>($</a:t>
            </a:r>
            <a:r>
              <a:rPr lang="en-US" dirty="0" err="1" smtClean="0"/>
              <a:t>recordLink_post,"oclc</a:t>
            </a:r>
            <a:r>
              <a:rPr lang="en-US" dirty="0" smtClean="0"/>
              <a:t>");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ending_position</a:t>
            </a:r>
            <a:r>
              <a:rPr lang="en-US" dirty="0" smtClean="0"/>
              <a:t>=</a:t>
            </a:r>
            <a:r>
              <a:rPr lang="en-US" dirty="0" err="1" smtClean="0"/>
              <a:t>strpos</a:t>
            </a:r>
            <a:r>
              <a:rPr lang="en-US" dirty="0" smtClean="0"/>
              <a:t>($</a:t>
            </a:r>
            <a:r>
              <a:rPr lang="en-US" dirty="0" err="1" smtClean="0"/>
              <a:t>recordLink_post</a:t>
            </a:r>
            <a:r>
              <a:rPr lang="en-US" dirty="0" smtClean="0"/>
              <a:t>,"?");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number_string</a:t>
            </a:r>
            <a:r>
              <a:rPr lang="en-US" dirty="0" smtClean="0"/>
              <a:t>=$</a:t>
            </a:r>
            <a:r>
              <a:rPr lang="en-US" dirty="0" err="1" smtClean="0"/>
              <a:t>ending_position</a:t>
            </a:r>
            <a:r>
              <a:rPr lang="en-US" dirty="0" smtClean="0"/>
              <a:t>-($beginning_position+5);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oclcNumber_processed</a:t>
            </a:r>
            <a:r>
              <a:rPr lang="en-US" dirty="0" smtClean="0"/>
              <a:t>=</a:t>
            </a:r>
            <a:r>
              <a:rPr lang="en-US" dirty="0" err="1" smtClean="0"/>
              <a:t>substr</a:t>
            </a:r>
            <a:r>
              <a:rPr lang="en-US" dirty="0" smtClean="0"/>
              <a:t>($recordLink_post,$beginning_position+5,$number_string);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recordLink_processed</a:t>
            </a:r>
            <a:r>
              <a:rPr lang="en-US" dirty="0" smtClean="0"/>
              <a:t>="https://kilgore.share.worldcat.org/wms/cmnd/acq/search/?ai0type=scope&amp;ai0id=level3&amp;si0in=no%3A&amp;si0qs=".$oclcNumber_processed;</a:t>
            </a:r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sql</a:t>
            </a:r>
            <a:r>
              <a:rPr lang="en-US" dirty="0" smtClean="0"/>
              <a:t> = "INSERT INTO </a:t>
            </a:r>
            <a:r>
              <a:rPr lang="en-US" dirty="0" err="1" smtClean="0"/>
              <a:t>orderrequest</a:t>
            </a:r>
            <a:r>
              <a:rPr lang="en-US" dirty="0" smtClean="0"/>
              <a:t> (</a:t>
            </a:r>
            <a:r>
              <a:rPr lang="en-US" dirty="0" err="1" smtClean="0"/>
              <a:t>oclcNumber</a:t>
            </a:r>
            <a:r>
              <a:rPr lang="en-US" dirty="0" smtClean="0"/>
              <a:t>, </a:t>
            </a:r>
            <a:r>
              <a:rPr lang="en-US" dirty="0" err="1" smtClean="0"/>
              <a:t>requesterName,requesterEmail,recordLink</a:t>
            </a:r>
            <a:r>
              <a:rPr lang="en-US" dirty="0" smtClean="0"/>
              <a:t>, </a:t>
            </a:r>
            <a:r>
              <a:rPr lang="en-US" dirty="0" err="1" smtClean="0"/>
              <a:t>oclcNumberLink</a:t>
            </a:r>
            <a:r>
              <a:rPr lang="en-US" dirty="0" smtClean="0"/>
              <a:t>) VALUES ('$oclcNumber_processed','$requesterName_post','$requesterEmail_post','$recordLink_post','$recordLink_processed')";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/*echo $</a:t>
            </a:r>
            <a:r>
              <a:rPr lang="en-US" dirty="0" err="1" smtClean="0"/>
              <a:t>titleLink_cal</a:t>
            </a:r>
            <a:r>
              <a:rPr lang="en-US" dirty="0" smtClean="0"/>
              <a:t>;</a:t>
            </a:r>
          </a:p>
          <a:p>
            <a:r>
              <a:rPr lang="en-US" dirty="0" smtClean="0"/>
              <a:t>echo "&lt;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r>
              <a:rPr lang="en-US" dirty="0" smtClean="0"/>
              <a:t>echo $</a:t>
            </a:r>
            <a:r>
              <a:rPr lang="en-US" dirty="0" err="1" smtClean="0"/>
              <a:t>isbnLink_cal</a:t>
            </a:r>
            <a:r>
              <a:rPr lang="en-US" dirty="0" smtClean="0"/>
              <a:t>;</a:t>
            </a:r>
          </a:p>
          <a:p>
            <a:r>
              <a:rPr lang="en-US" dirty="0" smtClean="0"/>
              <a:t>echo "&lt;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r>
              <a:rPr lang="en-US" dirty="0" smtClean="0"/>
              <a:t>echo $</a:t>
            </a:r>
            <a:r>
              <a:rPr lang="en-US" dirty="0" err="1" smtClean="0"/>
              <a:t>oclcNumber_cal</a:t>
            </a:r>
            <a:r>
              <a:rPr lang="en-US" dirty="0" smtClean="0"/>
              <a:t>;</a:t>
            </a:r>
          </a:p>
          <a:p>
            <a:r>
              <a:rPr lang="en-US" dirty="0" smtClean="0"/>
              <a:t>echo "&lt;</a:t>
            </a:r>
            <a:r>
              <a:rPr lang="en-US" dirty="0" err="1" smtClean="0"/>
              <a:t>br</a:t>
            </a:r>
            <a:r>
              <a:rPr lang="en-US" dirty="0" smtClean="0"/>
              <a:t>&gt;";*/</a:t>
            </a:r>
          </a:p>
          <a:p>
            <a:endParaRPr lang="en-US" dirty="0" smtClean="0"/>
          </a:p>
          <a:p>
            <a:r>
              <a:rPr lang="en-US" dirty="0" smtClean="0"/>
              <a:t>if (</a:t>
            </a:r>
            <a:r>
              <a:rPr lang="en-US" dirty="0" err="1" smtClean="0"/>
              <a:t>mysqli_query</a:t>
            </a:r>
            <a:r>
              <a:rPr lang="en-US" dirty="0" smtClean="0"/>
              <a:t>($</a:t>
            </a:r>
            <a:r>
              <a:rPr lang="en-US" dirty="0" err="1" smtClean="0"/>
              <a:t>conn</a:t>
            </a:r>
            <a:r>
              <a:rPr lang="en-US" dirty="0" smtClean="0"/>
              <a:t>, $</a:t>
            </a:r>
            <a:r>
              <a:rPr lang="en-US" dirty="0" err="1" smtClean="0"/>
              <a:t>sql</a:t>
            </a:r>
            <a:r>
              <a:rPr lang="en-US" dirty="0" smtClean="0"/>
              <a:t>)) {</a:t>
            </a:r>
          </a:p>
          <a:p>
            <a:r>
              <a:rPr lang="en-US" dirty="0" smtClean="0"/>
              <a:t>    echo "New record created successfully";</a:t>
            </a:r>
          </a:p>
          <a:p>
            <a:r>
              <a:rPr lang="en-US" dirty="0" smtClean="0"/>
              <a:t>							?&gt;</a:t>
            </a:r>
          </a:p>
          <a:p>
            <a:r>
              <a:rPr lang="en-US" dirty="0" smtClean="0"/>
              <a:t>							&lt;form action="index.php"&gt;</a:t>
            </a:r>
          </a:p>
          <a:p>
            <a:r>
              <a:rPr lang="en-US" dirty="0" smtClean="0"/>
              <a:t>								&lt;input type="submit" value="Back to previous page"&gt;</a:t>
            </a:r>
          </a:p>
          <a:p>
            <a:r>
              <a:rPr lang="en-US" dirty="0" smtClean="0"/>
              <a:t>							&lt;/form&gt;</a:t>
            </a:r>
          </a:p>
          <a:p>
            <a:r>
              <a:rPr lang="en-US" dirty="0" smtClean="0"/>
              <a:t>						&lt;?php</a:t>
            </a:r>
          </a:p>
          <a:p>
            <a:r>
              <a:rPr lang="en-US" dirty="0" smtClean="0"/>
              <a:t>} else {</a:t>
            </a:r>
          </a:p>
          <a:p>
            <a:r>
              <a:rPr lang="en-US" dirty="0" smtClean="0"/>
              <a:t>    echo "Error: " . $</a:t>
            </a:r>
            <a:r>
              <a:rPr lang="en-US" dirty="0" err="1" smtClean="0"/>
              <a:t>sql</a:t>
            </a:r>
            <a:r>
              <a:rPr lang="en-US" dirty="0" smtClean="0"/>
              <a:t> . "&lt;</a:t>
            </a:r>
            <a:r>
              <a:rPr lang="en-US" dirty="0" err="1" smtClean="0"/>
              <a:t>br</a:t>
            </a:r>
            <a:r>
              <a:rPr lang="en-US" dirty="0" smtClean="0"/>
              <a:t>&gt;" . </a:t>
            </a:r>
            <a:r>
              <a:rPr lang="en-US" dirty="0" err="1" smtClean="0"/>
              <a:t>mysqli_error</a:t>
            </a:r>
            <a:r>
              <a:rPr lang="en-US" dirty="0" smtClean="0"/>
              <a:t>($</a:t>
            </a:r>
            <a:r>
              <a:rPr lang="en-US" dirty="0" err="1" smtClean="0"/>
              <a:t>conn</a:t>
            </a:r>
            <a:r>
              <a:rPr lang="en-US" dirty="0" smtClean="0"/>
              <a:t>);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err="1" smtClean="0"/>
              <a:t>mysqli_close</a:t>
            </a:r>
            <a:r>
              <a:rPr lang="en-US" dirty="0" smtClean="0"/>
              <a:t>($</a:t>
            </a:r>
            <a:r>
              <a:rPr lang="en-US" dirty="0" err="1" smtClean="0"/>
              <a:t>conn</a:t>
            </a:r>
            <a:r>
              <a:rPr lang="en-US" dirty="0" smtClean="0"/>
              <a:t>);</a:t>
            </a:r>
          </a:p>
          <a:p>
            <a:r>
              <a:rPr lang="en-US" dirty="0" smtClean="0"/>
              <a:t>?&gt;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******************************************</a:t>
            </a:r>
          </a:p>
          <a:p>
            <a:r>
              <a:rPr lang="en-US" dirty="0" smtClean="0"/>
              <a:t>* display.php</a:t>
            </a:r>
          </a:p>
          <a:p>
            <a:r>
              <a:rPr lang="en-US" dirty="0" smtClean="0"/>
              <a:t>*******************************************</a:t>
            </a:r>
          </a:p>
          <a:p>
            <a:r>
              <a:rPr lang="en-US" dirty="0" smtClean="0"/>
              <a:t>&lt;?php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servername</a:t>
            </a:r>
            <a:r>
              <a:rPr lang="en-US" dirty="0" smtClean="0"/>
              <a:t> = "</a:t>
            </a:r>
            <a:r>
              <a:rPr lang="en-US" dirty="0" err="1" smtClean="0"/>
              <a:t>localhost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$username = "</a:t>
            </a:r>
            <a:r>
              <a:rPr lang="en-US" dirty="0" err="1" smtClean="0"/>
              <a:t>admin_resume</a:t>
            </a:r>
            <a:r>
              <a:rPr lang="en-US" dirty="0" smtClean="0"/>
              <a:t>";</a:t>
            </a:r>
          </a:p>
          <a:p>
            <a:r>
              <a:rPr lang="en-US" dirty="0" smtClean="0"/>
              <a:t>$password = "";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dbname</a:t>
            </a:r>
            <a:r>
              <a:rPr lang="en-US" dirty="0" smtClean="0"/>
              <a:t> = "</a:t>
            </a:r>
            <a:r>
              <a:rPr lang="en-US" dirty="0" err="1" smtClean="0"/>
              <a:t>kcordershort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?&gt;</a:t>
            </a:r>
          </a:p>
          <a:p>
            <a:endParaRPr lang="en-US" dirty="0" smtClean="0"/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&lt;?php include 'main.css'; ?&gt;</a:t>
            </a:r>
          </a:p>
          <a:p>
            <a:r>
              <a:rPr lang="en-US" dirty="0" smtClean="0"/>
              <a:t>&lt;/style&gt;</a:t>
            </a:r>
          </a:p>
          <a:p>
            <a:r>
              <a:rPr lang="en-US" dirty="0" smtClean="0"/>
              <a:t>&lt;?php</a:t>
            </a:r>
          </a:p>
          <a:p>
            <a:r>
              <a:rPr lang="en-US" dirty="0" smtClean="0"/>
              <a:t>echo "&lt;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r>
              <a:rPr lang="en-US" dirty="0" smtClean="0"/>
              <a:t>?&gt;</a:t>
            </a:r>
          </a:p>
          <a:p>
            <a:r>
              <a:rPr lang="en-US" dirty="0" smtClean="0"/>
              <a:t>	  &lt;div id="apDiv1"&gt;</a:t>
            </a:r>
          </a:p>
          <a:p>
            <a:r>
              <a:rPr lang="en-US" dirty="0" smtClean="0"/>
              <a:t>			&lt;?php</a:t>
            </a:r>
          </a:p>
          <a:p>
            <a:r>
              <a:rPr lang="en-US" dirty="0" smtClean="0"/>
              <a:t>			echo "&lt;h1&gt;Preprocessing Simplified Version(for librarian)&lt;/h1&gt;";</a:t>
            </a:r>
          </a:p>
          <a:p>
            <a:r>
              <a:rPr lang="en-US" dirty="0" smtClean="0"/>
              <a:t>			?&gt;</a:t>
            </a:r>
          </a:p>
          <a:p>
            <a:r>
              <a:rPr lang="en-US" dirty="0" smtClean="0"/>
              <a:t>		&lt;/div&gt;</a:t>
            </a:r>
          </a:p>
          <a:p>
            <a:r>
              <a:rPr lang="en-US" dirty="0" smtClean="0"/>
              <a:t>&lt;?php</a:t>
            </a:r>
          </a:p>
          <a:p>
            <a:r>
              <a:rPr lang="en-US" dirty="0" smtClean="0"/>
              <a:t>echo "&lt;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// Create connection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conn</a:t>
            </a:r>
            <a:r>
              <a:rPr lang="en-US" dirty="0" smtClean="0"/>
              <a:t> = </a:t>
            </a:r>
            <a:r>
              <a:rPr lang="en-US" dirty="0" err="1" smtClean="0"/>
              <a:t>mysqli_connect</a:t>
            </a:r>
            <a:r>
              <a:rPr lang="en-US" dirty="0" smtClean="0"/>
              <a:t>($</a:t>
            </a:r>
            <a:r>
              <a:rPr lang="en-US" dirty="0" err="1" smtClean="0"/>
              <a:t>servername</a:t>
            </a:r>
            <a:r>
              <a:rPr lang="en-US" dirty="0" smtClean="0"/>
              <a:t>, $username, $password, $</a:t>
            </a:r>
            <a:r>
              <a:rPr lang="en-US" dirty="0" err="1" smtClean="0"/>
              <a:t>dbname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// Check connection</a:t>
            </a:r>
          </a:p>
          <a:p>
            <a:r>
              <a:rPr lang="en-US" dirty="0" smtClean="0"/>
              <a:t>if (!$</a:t>
            </a:r>
            <a:r>
              <a:rPr lang="en-US" dirty="0" err="1" smtClean="0"/>
              <a:t>conn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    die("Connection failed: " . </a:t>
            </a:r>
            <a:r>
              <a:rPr lang="en-US" dirty="0" err="1" smtClean="0"/>
              <a:t>mysqli_connect_error</a:t>
            </a:r>
            <a:r>
              <a:rPr lang="en-US" dirty="0" smtClean="0"/>
              <a:t>());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sql</a:t>
            </a:r>
            <a:r>
              <a:rPr lang="en-US" dirty="0" smtClean="0"/>
              <a:t> = "SELECT </a:t>
            </a:r>
            <a:r>
              <a:rPr lang="en-US" dirty="0" err="1" smtClean="0"/>
              <a:t>idOrderRequest</a:t>
            </a:r>
            <a:r>
              <a:rPr lang="en-US" dirty="0" smtClean="0"/>
              <a:t>, </a:t>
            </a:r>
            <a:r>
              <a:rPr lang="en-US" dirty="0" err="1" smtClean="0"/>
              <a:t>oclcNumber</a:t>
            </a:r>
            <a:r>
              <a:rPr lang="en-US" dirty="0" smtClean="0"/>
              <a:t>, </a:t>
            </a:r>
            <a:r>
              <a:rPr lang="en-US" dirty="0" err="1" smtClean="0"/>
              <a:t>requesterName,requesterEmail,recordLink</a:t>
            </a:r>
            <a:r>
              <a:rPr lang="en-US" dirty="0" smtClean="0"/>
              <a:t>, </a:t>
            </a:r>
            <a:r>
              <a:rPr lang="en-US" dirty="0" err="1" smtClean="0"/>
              <a:t>oclcNumberLink,liaisonVerification</a:t>
            </a:r>
            <a:r>
              <a:rPr lang="en-US" dirty="0" smtClean="0"/>
              <a:t> FROM </a:t>
            </a:r>
            <a:r>
              <a:rPr lang="en-US" dirty="0" err="1" smtClean="0"/>
              <a:t>orderrequest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$result = $</a:t>
            </a:r>
            <a:r>
              <a:rPr lang="en-US" dirty="0" err="1" smtClean="0"/>
              <a:t>conn</a:t>
            </a:r>
            <a:r>
              <a:rPr lang="en-US" dirty="0" smtClean="0"/>
              <a:t>-&gt;query($</a:t>
            </a:r>
            <a:r>
              <a:rPr lang="en-US" dirty="0" err="1" smtClean="0"/>
              <a:t>sql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if ($result-&gt;</a:t>
            </a:r>
            <a:r>
              <a:rPr lang="en-US" dirty="0" err="1" smtClean="0"/>
              <a:t>num_rows</a:t>
            </a:r>
            <a:r>
              <a:rPr lang="en-US" dirty="0" smtClean="0"/>
              <a:t> &gt; 0) {</a:t>
            </a:r>
          </a:p>
          <a:p>
            <a:r>
              <a:rPr lang="en-US" dirty="0" smtClean="0"/>
              <a:t>    // output data of each row</a:t>
            </a:r>
          </a:p>
          <a:p>
            <a:r>
              <a:rPr lang="en-US" dirty="0" smtClean="0"/>
              <a:t>	?&gt;</a:t>
            </a:r>
          </a:p>
          <a:p>
            <a:r>
              <a:rPr lang="en-US" dirty="0" smtClean="0"/>
              <a:t>&lt;div id="apDiv2"&gt;</a:t>
            </a:r>
          </a:p>
          <a:p>
            <a:r>
              <a:rPr lang="en-US" dirty="0" smtClean="0"/>
              <a:t>&lt;?php</a:t>
            </a:r>
          </a:p>
          <a:p>
            <a:r>
              <a:rPr lang="en-US" dirty="0" smtClean="0"/>
              <a:t>			while($row = $result-&gt;</a:t>
            </a:r>
            <a:r>
              <a:rPr lang="en-US" dirty="0" err="1" smtClean="0"/>
              <a:t>fetch_assoc</a:t>
            </a:r>
            <a:r>
              <a:rPr lang="en-US" dirty="0" smtClean="0"/>
              <a:t>()) {</a:t>
            </a:r>
          </a:p>
          <a:p>
            <a:r>
              <a:rPr lang="en-US" dirty="0" smtClean="0"/>
              <a:t>				echo " Requester Name: " . $row["</a:t>
            </a:r>
            <a:r>
              <a:rPr lang="en-US" dirty="0" err="1" smtClean="0"/>
              <a:t>requesterName</a:t>
            </a:r>
            <a:r>
              <a:rPr lang="en-US" dirty="0" smtClean="0"/>
              <a:t>"]."&lt;</a:t>
            </a:r>
            <a:r>
              <a:rPr lang="en-US" dirty="0" err="1" smtClean="0"/>
              <a:t>br</a:t>
            </a:r>
            <a:r>
              <a:rPr lang="en-US" dirty="0" smtClean="0"/>
              <a:t>&gt;"." Requester Email: " . $row["</a:t>
            </a:r>
            <a:r>
              <a:rPr lang="en-US" dirty="0" err="1" smtClean="0"/>
              <a:t>requesterEmail</a:t>
            </a:r>
            <a:r>
              <a:rPr lang="en-US" dirty="0" smtClean="0"/>
              <a:t>"]."&lt;</a:t>
            </a:r>
            <a:r>
              <a:rPr lang="en-US" dirty="0" err="1" smtClean="0"/>
              <a:t>br</a:t>
            </a:r>
            <a:r>
              <a:rPr lang="en-US" dirty="0" smtClean="0"/>
              <a:t>&gt;"." </a:t>
            </a:r>
            <a:r>
              <a:rPr lang="en-US" dirty="0" err="1" smtClean="0"/>
              <a:t>Oclc</a:t>
            </a:r>
            <a:r>
              <a:rPr lang="en-US" dirty="0" smtClean="0"/>
              <a:t> Number: " . $row["</a:t>
            </a:r>
            <a:r>
              <a:rPr lang="en-US" dirty="0" err="1" smtClean="0"/>
              <a:t>oclcNumber</a:t>
            </a:r>
            <a:r>
              <a:rPr lang="en-US" dirty="0" smtClean="0"/>
              <a:t>"]."&lt;</a:t>
            </a:r>
            <a:r>
              <a:rPr lang="en-US" dirty="0" err="1" smtClean="0"/>
              <a:t>br</a:t>
            </a:r>
            <a:r>
              <a:rPr lang="en-US" dirty="0" smtClean="0"/>
              <a:t>&gt;"." Liaison Approval: " . $row["</a:t>
            </a:r>
            <a:r>
              <a:rPr lang="en-US" dirty="0" err="1" smtClean="0"/>
              <a:t>liaisonVerification</a:t>
            </a:r>
            <a:r>
              <a:rPr lang="en-US" dirty="0" smtClean="0"/>
              <a:t>"]."&lt;</a:t>
            </a:r>
            <a:r>
              <a:rPr lang="en-US" dirty="0" err="1" smtClean="0"/>
              <a:t>br</a:t>
            </a:r>
            <a:r>
              <a:rPr lang="en-US" dirty="0" smtClean="0"/>
              <a:t>&gt;"." Request link: " . "&lt;a </a:t>
            </a:r>
            <a:r>
              <a:rPr lang="en-US" dirty="0" err="1" smtClean="0"/>
              <a:t>href</a:t>
            </a:r>
            <a:r>
              <a:rPr lang="en-US" dirty="0" smtClean="0"/>
              <a:t>='".$row["</a:t>
            </a:r>
            <a:r>
              <a:rPr lang="en-US" dirty="0" err="1" smtClean="0"/>
              <a:t>oclcNumberLink</a:t>
            </a:r>
            <a:r>
              <a:rPr lang="en-US" dirty="0" smtClean="0"/>
              <a:t>"]." '  target=\"_blank\"&gt;Link&lt;/a&gt;"."&lt;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r>
              <a:rPr lang="en-US" dirty="0" smtClean="0"/>
              <a:t>                </a:t>
            </a:r>
          </a:p>
          <a:p>
            <a:r>
              <a:rPr lang="en-US" dirty="0" smtClean="0"/>
              <a:t>				?&gt;</a:t>
            </a:r>
          </a:p>
          <a:p>
            <a:r>
              <a:rPr lang="en-US" dirty="0" smtClean="0"/>
              <a:t>				</a:t>
            </a:r>
          </a:p>
          <a:p>
            <a:r>
              <a:rPr lang="en-US" dirty="0" smtClean="0"/>
              <a:t>				</a:t>
            </a:r>
          </a:p>
          <a:p>
            <a:r>
              <a:rPr lang="en-US" dirty="0" smtClean="0"/>
              <a:t>				&lt;!--&lt;form action="edit.php"&gt;</a:t>
            </a:r>
          </a:p>
          <a:p>
            <a:r>
              <a:rPr lang="en-US" dirty="0" smtClean="0"/>
              <a:t>					&lt;input type="submit" value="Liaison Approval"&gt;</a:t>
            </a:r>
          </a:p>
          <a:p>
            <a:r>
              <a:rPr lang="en-US" dirty="0" smtClean="0"/>
              <a:t>				&lt;/form&gt;</a:t>
            </a:r>
          </a:p>
          <a:p>
            <a:r>
              <a:rPr lang="en-US" dirty="0" smtClean="0"/>
              <a:t>				</a:t>
            </a:r>
          </a:p>
          <a:p>
            <a:r>
              <a:rPr lang="en-US" dirty="0" smtClean="0"/>
              <a:t>				&lt;form action="edit.php" method="post"&gt;</a:t>
            </a:r>
          </a:p>
          <a:p>
            <a:r>
              <a:rPr lang="en-US" dirty="0" smtClean="0"/>
              <a:t>					&lt;input type="text" name="</a:t>
            </a:r>
            <a:r>
              <a:rPr lang="en-US" dirty="0" err="1" smtClean="0"/>
              <a:t>idRecord</a:t>
            </a:r>
            <a:r>
              <a:rPr lang="en-US" dirty="0" smtClean="0"/>
              <a:t>" value="&lt;?php echo $ids;?&gt;" size=5  </a:t>
            </a:r>
            <a:r>
              <a:rPr lang="en-US" dirty="0" err="1" smtClean="0"/>
              <a:t>readonly</a:t>
            </a:r>
            <a:r>
              <a:rPr lang="en-US" dirty="0" smtClean="0"/>
              <a:t> /&gt;	</a:t>
            </a:r>
          </a:p>
          <a:p>
            <a:r>
              <a:rPr lang="en-US" dirty="0" smtClean="0"/>
              <a:t>					&lt;input type="text" name="</a:t>
            </a:r>
            <a:r>
              <a:rPr lang="en-US" dirty="0" err="1" smtClean="0"/>
              <a:t>liaisonName</a:t>
            </a:r>
            <a:r>
              <a:rPr lang="en-US" dirty="0" smtClean="0"/>
              <a:t>" size=40/&gt;				</a:t>
            </a:r>
          </a:p>
          <a:p>
            <a:r>
              <a:rPr lang="en-US" dirty="0" smtClean="0"/>
              <a:t>					&lt;input type="submit" value="Submit" /&gt;</a:t>
            </a:r>
          </a:p>
          <a:p>
            <a:r>
              <a:rPr lang="en-US" dirty="0" smtClean="0"/>
              <a:t>				&lt;/form&gt;--&gt;</a:t>
            </a:r>
          </a:p>
          <a:p>
            <a:endParaRPr lang="en-US" dirty="0" smtClean="0"/>
          </a:p>
          <a:p>
            <a:r>
              <a:rPr lang="en-US" dirty="0" smtClean="0"/>
              <a:t>				&lt;?PHP</a:t>
            </a:r>
          </a:p>
          <a:p>
            <a:r>
              <a:rPr lang="en-US" dirty="0" smtClean="0"/>
              <a:t>				echo "&lt;</a:t>
            </a:r>
            <a:r>
              <a:rPr lang="en-US" dirty="0" err="1" smtClean="0"/>
              <a:t>br</a:t>
            </a:r>
            <a:r>
              <a:rPr lang="en-US" dirty="0" smtClean="0"/>
              <a:t>&gt;&lt;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r>
              <a:rPr lang="en-US" dirty="0" smtClean="0"/>
              <a:t>			}</a:t>
            </a:r>
          </a:p>
          <a:p>
            <a:r>
              <a:rPr lang="en-US" dirty="0" smtClean="0"/>
              <a:t>?&gt;</a:t>
            </a:r>
          </a:p>
          <a:p>
            <a:r>
              <a:rPr lang="en-US" dirty="0" smtClean="0"/>
              <a:t>&lt;/div&gt;</a:t>
            </a:r>
          </a:p>
          <a:p>
            <a:r>
              <a:rPr lang="en-US" dirty="0" smtClean="0"/>
              <a:t>&lt;?php</a:t>
            </a:r>
          </a:p>
          <a:p>
            <a:r>
              <a:rPr lang="en-US" dirty="0" smtClean="0"/>
              <a:t>} else {</a:t>
            </a:r>
          </a:p>
          <a:p>
            <a:r>
              <a:rPr lang="en-US" dirty="0" smtClean="0"/>
              <a:t>    echo "0 results";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//$</a:t>
            </a:r>
            <a:r>
              <a:rPr lang="en-US" dirty="0" err="1" smtClean="0"/>
              <a:t>conn</a:t>
            </a:r>
            <a:r>
              <a:rPr lang="en-US" dirty="0" smtClean="0"/>
              <a:t>-&gt;close();</a:t>
            </a:r>
          </a:p>
          <a:p>
            <a:endParaRPr lang="en-US" dirty="0" smtClean="0"/>
          </a:p>
          <a:p>
            <a:r>
              <a:rPr lang="en-US" dirty="0" err="1" smtClean="0"/>
              <a:t>mysqli_close</a:t>
            </a:r>
            <a:r>
              <a:rPr lang="en-US" dirty="0" smtClean="0"/>
              <a:t>($</a:t>
            </a:r>
            <a:r>
              <a:rPr lang="en-US" dirty="0" err="1" smtClean="0"/>
              <a:t>conn</a:t>
            </a:r>
            <a:r>
              <a:rPr lang="en-US" dirty="0" smtClean="0"/>
              <a:t>);</a:t>
            </a:r>
          </a:p>
          <a:p>
            <a:r>
              <a:rPr lang="en-US" dirty="0" smtClean="0"/>
              <a:t>?&gt;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******************************************</a:t>
            </a:r>
          </a:p>
          <a:p>
            <a:pPr>
              <a:buFont typeface="Arial" charset="0"/>
              <a:buNone/>
            </a:pPr>
            <a:r>
              <a:rPr lang="en-US" dirty="0" smtClean="0"/>
              <a:t>*</a:t>
            </a:r>
            <a:r>
              <a:rPr lang="en-US" dirty="0" err="1" smtClean="0"/>
              <a:t>edit.php</a:t>
            </a:r>
            <a:endParaRPr lang="en-US" dirty="0" smtClean="0"/>
          </a:p>
          <a:p>
            <a:pPr>
              <a:buFont typeface="Arial" charset="0"/>
              <a:buNone/>
            </a:pPr>
            <a:r>
              <a:rPr lang="en-US" dirty="0" smtClean="0"/>
              <a:t>*</a:t>
            </a:r>
            <a:r>
              <a:rPr lang="en-US" baseline="0" dirty="0" smtClean="0"/>
              <a:t> Copyright: Andy Tang</a:t>
            </a:r>
            <a:endParaRPr lang="en-US" dirty="0" smtClean="0"/>
          </a:p>
          <a:p>
            <a:r>
              <a:rPr lang="en-US" dirty="0" smtClean="0"/>
              <a:t>*******************************************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   </a:t>
            </a:r>
          </a:p>
          <a:p>
            <a:r>
              <a:rPr lang="en-US" dirty="0" smtClean="0"/>
              <a:t>   &lt;head&gt;</a:t>
            </a:r>
          </a:p>
          <a:p>
            <a:r>
              <a:rPr lang="en-US" dirty="0" smtClean="0"/>
              <a:t>      &lt;title&gt;Update a Record in MySQL Database&lt;/title&gt;</a:t>
            </a:r>
          </a:p>
          <a:p>
            <a:r>
              <a:rPr lang="en-US" dirty="0" smtClean="0"/>
              <a:t>   &lt;/head&gt;</a:t>
            </a:r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&lt;?php include 'main.css'; ?&gt;</a:t>
            </a:r>
          </a:p>
          <a:p>
            <a:r>
              <a:rPr lang="en-US" dirty="0" smtClean="0"/>
              <a:t>&lt;/style&gt;</a:t>
            </a:r>
          </a:p>
          <a:p>
            <a:r>
              <a:rPr lang="en-US" dirty="0" smtClean="0"/>
              <a:t>   &lt;body&gt;</a:t>
            </a:r>
          </a:p>
          <a:p>
            <a:r>
              <a:rPr lang="en-US" dirty="0" smtClean="0"/>
              <a:t>      &lt;?php</a:t>
            </a:r>
          </a:p>
          <a:p>
            <a:r>
              <a:rPr lang="en-US" dirty="0" smtClean="0"/>
              <a:t>	  </a:t>
            </a:r>
          </a:p>
          <a:p>
            <a:r>
              <a:rPr lang="en-US" dirty="0" smtClean="0"/>
              <a:t>	   </a:t>
            </a:r>
          </a:p>
          <a:p>
            <a:r>
              <a:rPr lang="en-US" dirty="0" smtClean="0"/>
              <a:t>         if(</a:t>
            </a:r>
            <a:r>
              <a:rPr lang="en-US" dirty="0" err="1" smtClean="0"/>
              <a:t>isset</a:t>
            </a:r>
            <a:r>
              <a:rPr lang="en-US" dirty="0" smtClean="0"/>
              <a:t>($_POST['update'])) {</a:t>
            </a:r>
          </a:p>
          <a:p>
            <a:r>
              <a:rPr lang="en-US" dirty="0" smtClean="0"/>
              <a:t>				$</a:t>
            </a:r>
            <a:r>
              <a:rPr lang="en-US" dirty="0" err="1" smtClean="0"/>
              <a:t>servername</a:t>
            </a:r>
            <a:r>
              <a:rPr lang="en-US" dirty="0" smtClean="0"/>
              <a:t> = "</a:t>
            </a:r>
            <a:r>
              <a:rPr lang="en-US" dirty="0" err="1" smtClean="0"/>
              <a:t>localhost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				$username = "</a:t>
            </a:r>
            <a:r>
              <a:rPr lang="en-US" dirty="0" err="1" smtClean="0"/>
              <a:t>admin_resume</a:t>
            </a:r>
            <a:r>
              <a:rPr lang="en-US" dirty="0" smtClean="0"/>
              <a:t>";</a:t>
            </a:r>
          </a:p>
          <a:p>
            <a:r>
              <a:rPr lang="en-US" dirty="0" smtClean="0"/>
              <a:t>				$password = "";</a:t>
            </a:r>
          </a:p>
          <a:p>
            <a:r>
              <a:rPr lang="en-US" dirty="0" smtClean="0"/>
              <a:t>				$</a:t>
            </a:r>
            <a:r>
              <a:rPr lang="en-US" dirty="0" err="1" smtClean="0"/>
              <a:t>dbname</a:t>
            </a:r>
            <a:r>
              <a:rPr lang="en-US" dirty="0" smtClean="0"/>
              <a:t> = "</a:t>
            </a:r>
            <a:r>
              <a:rPr lang="en-US" dirty="0" err="1" smtClean="0"/>
              <a:t>kcordershort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            </a:t>
            </a:r>
          </a:p>
          <a:p>
            <a:r>
              <a:rPr lang="en-US" dirty="0" smtClean="0"/>
              <a:t>				$</a:t>
            </a:r>
            <a:r>
              <a:rPr lang="en-US" dirty="0" err="1" smtClean="0"/>
              <a:t>conn</a:t>
            </a:r>
            <a:r>
              <a:rPr lang="en-US" dirty="0" smtClean="0"/>
              <a:t> = </a:t>
            </a:r>
            <a:r>
              <a:rPr lang="en-US" dirty="0" err="1" smtClean="0"/>
              <a:t>mysqli_connect</a:t>
            </a:r>
            <a:r>
              <a:rPr lang="en-US" dirty="0" smtClean="0"/>
              <a:t>($</a:t>
            </a:r>
            <a:r>
              <a:rPr lang="en-US" dirty="0" err="1" smtClean="0"/>
              <a:t>servername</a:t>
            </a:r>
            <a:r>
              <a:rPr lang="en-US" dirty="0" smtClean="0"/>
              <a:t>, $username, $password, $</a:t>
            </a:r>
            <a:r>
              <a:rPr lang="en-US" dirty="0" err="1" smtClean="0"/>
              <a:t>dbname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				</a:t>
            </a:r>
          </a:p>
          <a:p>
            <a:r>
              <a:rPr lang="en-US" dirty="0" smtClean="0"/>
              <a:t>				if (!$</a:t>
            </a:r>
            <a:r>
              <a:rPr lang="en-US" dirty="0" err="1" smtClean="0"/>
              <a:t>conn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					die("Connection failed: " . </a:t>
            </a:r>
            <a:r>
              <a:rPr lang="en-US" dirty="0" err="1" smtClean="0"/>
              <a:t>mysqli_connect_error</a:t>
            </a:r>
            <a:r>
              <a:rPr lang="en-US" dirty="0" smtClean="0"/>
              <a:t>());</a:t>
            </a:r>
          </a:p>
          <a:p>
            <a:r>
              <a:rPr lang="en-US" dirty="0" smtClean="0"/>
              <a:t>				}</a:t>
            </a:r>
          </a:p>
          <a:p>
            <a:r>
              <a:rPr lang="en-US" dirty="0" smtClean="0"/>
              <a:t>							</a:t>
            </a:r>
          </a:p>
          <a:p>
            <a:r>
              <a:rPr lang="en-US" dirty="0" smtClean="0"/>
              <a:t>            $</a:t>
            </a:r>
            <a:r>
              <a:rPr lang="en-US" dirty="0" err="1" smtClean="0"/>
              <a:t>id_table</a:t>
            </a:r>
            <a:r>
              <a:rPr lang="en-US" dirty="0" smtClean="0"/>
              <a:t> = $_POST['</a:t>
            </a:r>
            <a:r>
              <a:rPr lang="en-US" dirty="0" err="1" smtClean="0"/>
              <a:t>idRecord</a:t>
            </a:r>
            <a:r>
              <a:rPr lang="en-US" dirty="0" smtClean="0"/>
              <a:t>'];</a:t>
            </a:r>
          </a:p>
          <a:p>
            <a:r>
              <a:rPr lang="en-US" dirty="0" smtClean="0"/>
              <a:t>            $liaison = $_POST['</a:t>
            </a:r>
            <a:r>
              <a:rPr lang="en-US" dirty="0" err="1" smtClean="0"/>
              <a:t>liaisonName</a:t>
            </a:r>
            <a:r>
              <a:rPr lang="en-US" dirty="0" smtClean="0"/>
              <a:t>'];</a:t>
            </a:r>
          </a:p>
          <a:p>
            <a:endParaRPr lang="en-US" dirty="0" smtClean="0"/>
          </a:p>
          <a:p>
            <a:r>
              <a:rPr lang="en-US" dirty="0" smtClean="0"/>
              <a:t>				$</a:t>
            </a:r>
            <a:r>
              <a:rPr lang="en-US" dirty="0" err="1" smtClean="0"/>
              <a:t>sql</a:t>
            </a:r>
            <a:r>
              <a:rPr lang="en-US" dirty="0" smtClean="0"/>
              <a:t> = "update </a:t>
            </a:r>
            <a:r>
              <a:rPr lang="en-US" dirty="0" err="1" smtClean="0"/>
              <a:t>orderrequest</a:t>
            </a:r>
            <a:r>
              <a:rPr lang="en-US" dirty="0" smtClean="0"/>
              <a:t> ". "set </a:t>
            </a:r>
            <a:r>
              <a:rPr lang="en-US" dirty="0" err="1" smtClean="0"/>
              <a:t>liaisonVerification</a:t>
            </a:r>
            <a:r>
              <a:rPr lang="en-US" dirty="0" smtClean="0"/>
              <a:t> = '$liaison' ". "where </a:t>
            </a:r>
            <a:r>
              <a:rPr lang="en-US" dirty="0" err="1" smtClean="0"/>
              <a:t>idOrderRequest</a:t>
            </a:r>
            <a:r>
              <a:rPr lang="en-US" dirty="0" smtClean="0"/>
              <a:t>=$</a:t>
            </a:r>
            <a:r>
              <a:rPr lang="en-US" dirty="0" err="1" smtClean="0"/>
              <a:t>id_table</a:t>
            </a:r>
            <a:r>
              <a:rPr lang="en-US" dirty="0" smtClean="0"/>
              <a:t>";</a:t>
            </a:r>
          </a:p>
          <a:p>
            <a:r>
              <a:rPr lang="en-US" dirty="0" smtClean="0"/>
              <a:t>				$result = $</a:t>
            </a:r>
            <a:r>
              <a:rPr lang="en-US" dirty="0" err="1" smtClean="0"/>
              <a:t>conn</a:t>
            </a:r>
            <a:r>
              <a:rPr lang="en-US" dirty="0" smtClean="0"/>
              <a:t>-&gt;query($</a:t>
            </a:r>
            <a:r>
              <a:rPr lang="en-US" dirty="0" err="1" smtClean="0"/>
              <a:t>sql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					if (</a:t>
            </a:r>
            <a:r>
              <a:rPr lang="en-US" dirty="0" err="1" smtClean="0"/>
              <a:t>mysqli_query</a:t>
            </a:r>
            <a:r>
              <a:rPr lang="en-US" dirty="0" smtClean="0"/>
              <a:t>($</a:t>
            </a:r>
            <a:r>
              <a:rPr lang="en-US" dirty="0" err="1" smtClean="0"/>
              <a:t>conn</a:t>
            </a:r>
            <a:r>
              <a:rPr lang="en-US" dirty="0" smtClean="0"/>
              <a:t>, $</a:t>
            </a:r>
            <a:r>
              <a:rPr lang="en-US" dirty="0" err="1" smtClean="0"/>
              <a:t>sql</a:t>
            </a:r>
            <a:r>
              <a:rPr lang="en-US" dirty="0" smtClean="0"/>
              <a:t>)) {</a:t>
            </a:r>
          </a:p>
          <a:p>
            <a:r>
              <a:rPr lang="en-US" dirty="0" smtClean="0"/>
              <a:t>						echo "The record modified successfully";</a:t>
            </a:r>
          </a:p>
          <a:p>
            <a:r>
              <a:rPr lang="en-US" dirty="0" smtClean="0"/>
              <a:t>						?&gt;</a:t>
            </a:r>
          </a:p>
          <a:p>
            <a:r>
              <a:rPr lang="en-US" dirty="0" smtClean="0"/>
              <a:t>							&lt;form action="edit.php"&gt;</a:t>
            </a:r>
          </a:p>
          <a:p>
            <a:r>
              <a:rPr lang="en-US" dirty="0" smtClean="0"/>
              <a:t>								&lt;input type="submit" value="Back to Liaison Approving page"&gt;</a:t>
            </a:r>
          </a:p>
          <a:p>
            <a:r>
              <a:rPr lang="en-US" dirty="0" smtClean="0"/>
              <a:t>							&lt;/form&gt;</a:t>
            </a:r>
          </a:p>
          <a:p>
            <a:r>
              <a:rPr lang="en-US" dirty="0" smtClean="0"/>
              <a:t>						&lt;?php</a:t>
            </a:r>
          </a:p>
          <a:p>
            <a:r>
              <a:rPr lang="en-US" dirty="0" smtClean="0"/>
              <a:t>						</a:t>
            </a:r>
          </a:p>
          <a:p>
            <a:r>
              <a:rPr lang="en-US" dirty="0" smtClean="0"/>
              <a:t>					} else {</a:t>
            </a:r>
          </a:p>
          <a:p>
            <a:r>
              <a:rPr lang="en-US" dirty="0" smtClean="0"/>
              <a:t>						echo "Error: " . $</a:t>
            </a:r>
            <a:r>
              <a:rPr lang="en-US" dirty="0" err="1" smtClean="0"/>
              <a:t>sql</a:t>
            </a:r>
            <a:r>
              <a:rPr lang="en-US" dirty="0" smtClean="0"/>
              <a:t> . "&lt;</a:t>
            </a:r>
            <a:r>
              <a:rPr lang="en-US" dirty="0" err="1" smtClean="0"/>
              <a:t>br</a:t>
            </a:r>
            <a:r>
              <a:rPr lang="en-US" dirty="0" smtClean="0"/>
              <a:t>&gt;" . </a:t>
            </a:r>
            <a:r>
              <a:rPr lang="en-US" dirty="0" err="1" smtClean="0"/>
              <a:t>mysqli_error</a:t>
            </a:r>
            <a:r>
              <a:rPr lang="en-US" dirty="0" smtClean="0"/>
              <a:t>($</a:t>
            </a:r>
            <a:r>
              <a:rPr lang="en-US" dirty="0" err="1" smtClean="0"/>
              <a:t>conn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		}</a:t>
            </a:r>
          </a:p>
          <a:p>
            <a:r>
              <a:rPr lang="en-US" dirty="0" smtClean="0"/>
              <a:t>					</a:t>
            </a:r>
          </a:p>
          <a:p>
            <a:r>
              <a:rPr lang="en-US" dirty="0" smtClean="0"/>
              <a:t>					</a:t>
            </a:r>
            <a:r>
              <a:rPr lang="en-US" dirty="0" err="1" smtClean="0"/>
              <a:t>mysqli_close</a:t>
            </a:r>
            <a:r>
              <a:rPr lang="en-US" dirty="0" smtClean="0"/>
              <a:t>($</a:t>
            </a:r>
            <a:r>
              <a:rPr lang="en-US" dirty="0" err="1" smtClean="0"/>
              <a:t>conn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		 </a:t>
            </a:r>
          </a:p>
          <a:p>
            <a:r>
              <a:rPr lang="en-US" dirty="0" smtClean="0"/>
              <a:t>							   // $</a:t>
            </a:r>
            <a:r>
              <a:rPr lang="en-US" dirty="0" err="1" smtClean="0"/>
              <a:t>sql</a:t>
            </a:r>
            <a:r>
              <a:rPr lang="en-US" dirty="0" smtClean="0"/>
              <a:t> = "UPDATE employee ". "SET </a:t>
            </a:r>
            <a:r>
              <a:rPr lang="en-US" dirty="0" err="1" smtClean="0"/>
              <a:t>emp_salary</a:t>
            </a:r>
            <a:r>
              <a:rPr lang="en-US" dirty="0" smtClean="0"/>
              <a:t> = $</a:t>
            </a:r>
            <a:r>
              <a:rPr lang="en-US" dirty="0" err="1" smtClean="0"/>
              <a:t>emp_salary</a:t>
            </a:r>
            <a:r>
              <a:rPr lang="en-US" dirty="0" smtClean="0"/>
              <a:t> ". </a:t>
            </a:r>
          </a:p>
          <a:p>
            <a:r>
              <a:rPr lang="en-US" dirty="0" smtClean="0"/>
              <a:t>							   //    "WHERE </a:t>
            </a:r>
            <a:r>
              <a:rPr lang="en-US" dirty="0" err="1" smtClean="0"/>
              <a:t>emp_id</a:t>
            </a:r>
            <a:r>
              <a:rPr lang="en-US" dirty="0" smtClean="0"/>
              <a:t> = $</a:t>
            </a:r>
            <a:r>
              <a:rPr lang="en-US" dirty="0" err="1" smtClean="0"/>
              <a:t>emp_id</a:t>
            </a:r>
            <a:r>
              <a:rPr lang="en-US" dirty="0" smtClean="0"/>
              <a:t>" ;</a:t>
            </a:r>
          </a:p>
          <a:p>
            <a:r>
              <a:rPr lang="en-US" dirty="0" smtClean="0"/>
              <a:t>							  //  </a:t>
            </a:r>
            <a:r>
              <a:rPr lang="en-US" dirty="0" err="1" smtClean="0"/>
              <a:t>mysql_select_db</a:t>
            </a:r>
            <a:r>
              <a:rPr lang="en-US" dirty="0" smtClean="0"/>
              <a:t>('</a:t>
            </a:r>
            <a:r>
              <a:rPr lang="en-US" dirty="0" err="1" smtClean="0"/>
              <a:t>test_db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							  //  $</a:t>
            </a:r>
            <a:r>
              <a:rPr lang="en-US" dirty="0" err="1" smtClean="0"/>
              <a:t>retval</a:t>
            </a:r>
            <a:r>
              <a:rPr lang="en-US" dirty="0" smtClean="0"/>
              <a:t> = </a:t>
            </a:r>
            <a:r>
              <a:rPr lang="en-US" dirty="0" err="1" smtClean="0"/>
              <a:t>mysql_query</a:t>
            </a:r>
            <a:r>
              <a:rPr lang="en-US" dirty="0" smtClean="0"/>
              <a:t>( $</a:t>
            </a:r>
            <a:r>
              <a:rPr lang="en-US" dirty="0" err="1" smtClean="0"/>
              <a:t>sql</a:t>
            </a:r>
            <a:r>
              <a:rPr lang="en-US" dirty="0" smtClean="0"/>
              <a:t>, $</a:t>
            </a:r>
            <a:r>
              <a:rPr lang="en-US" dirty="0" err="1" smtClean="0"/>
              <a:t>conn</a:t>
            </a:r>
            <a:r>
              <a:rPr lang="en-US" dirty="0" smtClean="0"/>
              <a:t> );</a:t>
            </a:r>
          </a:p>
          <a:p>
            <a:endParaRPr lang="en-US" dirty="0" smtClean="0"/>
          </a:p>
          <a:p>
            <a:r>
              <a:rPr lang="en-US" dirty="0" smtClean="0"/>
              <a:t>								//if(! $</a:t>
            </a:r>
            <a:r>
              <a:rPr lang="en-US" dirty="0" err="1" smtClean="0"/>
              <a:t>retval</a:t>
            </a:r>
            <a:r>
              <a:rPr lang="en-US" dirty="0" smtClean="0"/>
              <a:t> ) {</a:t>
            </a:r>
          </a:p>
          <a:p>
            <a:r>
              <a:rPr lang="en-US" dirty="0" smtClean="0"/>
              <a:t>							  //     die('Could not update data: ' . </a:t>
            </a:r>
            <a:r>
              <a:rPr lang="en-US" dirty="0" err="1" smtClean="0"/>
              <a:t>mysql_error</a:t>
            </a:r>
            <a:r>
              <a:rPr lang="en-US" dirty="0" smtClean="0"/>
              <a:t>());</a:t>
            </a:r>
          </a:p>
          <a:p>
            <a:r>
              <a:rPr lang="en-US" dirty="0" smtClean="0"/>
              <a:t>							  //  }</a:t>
            </a:r>
          </a:p>
          <a:p>
            <a:r>
              <a:rPr lang="en-US" dirty="0" smtClean="0"/>
              <a:t>							  //  echo "Updated data successfully\n";</a:t>
            </a:r>
          </a:p>
          <a:p>
            <a:endParaRPr lang="en-US" dirty="0" smtClean="0"/>
          </a:p>
          <a:p>
            <a:r>
              <a:rPr lang="en-US" dirty="0" smtClean="0"/>
              <a:t>         }else {</a:t>
            </a:r>
          </a:p>
          <a:p>
            <a:r>
              <a:rPr lang="en-US" dirty="0" smtClean="0"/>
              <a:t>            ?&gt;</a:t>
            </a:r>
          </a:p>
          <a:p>
            <a:r>
              <a:rPr lang="en-US" dirty="0" smtClean="0"/>
              <a:t>               &lt;form method = "post" action = "&lt;?php $_PHP_SELF ?&gt;"&gt;</a:t>
            </a:r>
          </a:p>
          <a:p>
            <a:r>
              <a:rPr lang="en-US" dirty="0" smtClean="0"/>
              <a:t>			   &lt;?php</a:t>
            </a:r>
          </a:p>
          <a:p>
            <a:r>
              <a:rPr lang="en-US" dirty="0" smtClean="0"/>
              <a:t>						$</a:t>
            </a:r>
            <a:r>
              <a:rPr lang="en-US" dirty="0" err="1" smtClean="0"/>
              <a:t>servername</a:t>
            </a:r>
            <a:r>
              <a:rPr lang="en-US" dirty="0" smtClean="0"/>
              <a:t> = "</a:t>
            </a:r>
            <a:r>
              <a:rPr lang="en-US" dirty="0" err="1" smtClean="0"/>
              <a:t>localhost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						$username = "</a:t>
            </a:r>
            <a:r>
              <a:rPr lang="en-US" dirty="0" err="1" smtClean="0"/>
              <a:t>admin_resume</a:t>
            </a:r>
            <a:r>
              <a:rPr lang="en-US" dirty="0" smtClean="0"/>
              <a:t>";</a:t>
            </a:r>
          </a:p>
          <a:p>
            <a:r>
              <a:rPr lang="en-US" dirty="0" smtClean="0"/>
              <a:t>						$password = "Pepsi5567";</a:t>
            </a:r>
          </a:p>
          <a:p>
            <a:r>
              <a:rPr lang="en-US" dirty="0" smtClean="0"/>
              <a:t>						$</a:t>
            </a:r>
            <a:r>
              <a:rPr lang="en-US" dirty="0" err="1" smtClean="0"/>
              <a:t>dbname</a:t>
            </a:r>
            <a:r>
              <a:rPr lang="en-US" dirty="0" smtClean="0"/>
              <a:t> = "</a:t>
            </a:r>
            <a:r>
              <a:rPr lang="en-US" dirty="0" err="1" smtClean="0"/>
              <a:t>kcordershort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					</a:t>
            </a:r>
          </a:p>
          <a:p>
            <a:r>
              <a:rPr lang="en-US" dirty="0" smtClean="0"/>
              <a:t>						$</a:t>
            </a:r>
            <a:r>
              <a:rPr lang="en-US" dirty="0" err="1" smtClean="0"/>
              <a:t>conn</a:t>
            </a:r>
            <a:r>
              <a:rPr lang="en-US" dirty="0" smtClean="0"/>
              <a:t> = </a:t>
            </a:r>
            <a:r>
              <a:rPr lang="en-US" dirty="0" err="1" smtClean="0"/>
              <a:t>mysqli_connect</a:t>
            </a:r>
            <a:r>
              <a:rPr lang="en-US" dirty="0" smtClean="0"/>
              <a:t>($</a:t>
            </a:r>
            <a:r>
              <a:rPr lang="en-US" dirty="0" err="1" smtClean="0"/>
              <a:t>servername</a:t>
            </a:r>
            <a:r>
              <a:rPr lang="en-US" dirty="0" smtClean="0"/>
              <a:t>, $username, $password, $</a:t>
            </a:r>
            <a:r>
              <a:rPr lang="en-US" dirty="0" err="1" smtClean="0"/>
              <a:t>dbname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						</a:t>
            </a:r>
          </a:p>
          <a:p>
            <a:r>
              <a:rPr lang="en-US" dirty="0" smtClean="0"/>
              <a:t>						if (!$</a:t>
            </a:r>
            <a:r>
              <a:rPr lang="en-US" dirty="0" err="1" smtClean="0"/>
              <a:t>conn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							die("Connection failed: " . </a:t>
            </a:r>
            <a:r>
              <a:rPr lang="en-US" dirty="0" err="1" smtClean="0"/>
              <a:t>mysqli_connect_error</a:t>
            </a:r>
            <a:r>
              <a:rPr lang="en-US" dirty="0" smtClean="0"/>
              <a:t>());</a:t>
            </a:r>
          </a:p>
          <a:p>
            <a:r>
              <a:rPr lang="en-US" dirty="0" smtClean="0"/>
              <a:t>						}</a:t>
            </a:r>
          </a:p>
          <a:p>
            <a:r>
              <a:rPr lang="en-US" dirty="0" smtClean="0"/>
              <a:t>			   </a:t>
            </a:r>
          </a:p>
          <a:p>
            <a:r>
              <a:rPr lang="en-US" dirty="0" smtClean="0"/>
              <a:t>			   </a:t>
            </a:r>
          </a:p>
          <a:p>
            <a:r>
              <a:rPr lang="en-US" dirty="0" smtClean="0"/>
              <a:t>					$</a:t>
            </a:r>
            <a:r>
              <a:rPr lang="en-US" dirty="0" err="1" smtClean="0"/>
              <a:t>sql</a:t>
            </a:r>
            <a:r>
              <a:rPr lang="en-US" dirty="0" smtClean="0"/>
              <a:t> = "SELECT </a:t>
            </a:r>
            <a:r>
              <a:rPr lang="en-US" dirty="0" err="1" smtClean="0"/>
              <a:t>idOrderRequest</a:t>
            </a:r>
            <a:r>
              <a:rPr lang="en-US" dirty="0" smtClean="0"/>
              <a:t>, </a:t>
            </a:r>
            <a:r>
              <a:rPr lang="en-US" dirty="0" err="1" smtClean="0"/>
              <a:t>oclcNumber</a:t>
            </a:r>
            <a:r>
              <a:rPr lang="en-US" dirty="0" smtClean="0"/>
              <a:t>, </a:t>
            </a:r>
            <a:r>
              <a:rPr lang="en-US" dirty="0" err="1" smtClean="0"/>
              <a:t>requesterName,requesterEmail,recordLink</a:t>
            </a:r>
            <a:r>
              <a:rPr lang="en-US" dirty="0" smtClean="0"/>
              <a:t>, </a:t>
            </a:r>
            <a:r>
              <a:rPr lang="en-US" dirty="0" err="1" smtClean="0"/>
              <a:t>oclcNumberLink,liaisonVerification</a:t>
            </a:r>
            <a:r>
              <a:rPr lang="en-US" dirty="0" smtClean="0"/>
              <a:t> FROM </a:t>
            </a:r>
            <a:r>
              <a:rPr lang="en-US" dirty="0" err="1" smtClean="0"/>
              <a:t>orderrequest</a:t>
            </a:r>
            <a:r>
              <a:rPr lang="en-US" dirty="0" smtClean="0"/>
              <a:t>";</a:t>
            </a:r>
          </a:p>
          <a:p>
            <a:r>
              <a:rPr lang="en-US" dirty="0" smtClean="0"/>
              <a:t>					$result = $</a:t>
            </a:r>
            <a:r>
              <a:rPr lang="en-US" dirty="0" err="1" smtClean="0"/>
              <a:t>conn</a:t>
            </a:r>
            <a:r>
              <a:rPr lang="en-US" dirty="0" smtClean="0"/>
              <a:t>-&gt;query($</a:t>
            </a:r>
            <a:r>
              <a:rPr lang="en-US" dirty="0" err="1" smtClean="0"/>
              <a:t>sql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					if ($result-&gt;</a:t>
            </a:r>
            <a:r>
              <a:rPr lang="en-US" dirty="0" err="1" smtClean="0"/>
              <a:t>num_rows</a:t>
            </a:r>
            <a:r>
              <a:rPr lang="en-US" dirty="0" smtClean="0"/>
              <a:t> &gt; 0) {</a:t>
            </a:r>
          </a:p>
          <a:p>
            <a:r>
              <a:rPr lang="en-US" dirty="0" smtClean="0"/>
              <a:t>						// output data of each row</a:t>
            </a:r>
          </a:p>
          <a:p>
            <a:r>
              <a:rPr lang="en-US" dirty="0" smtClean="0"/>
              <a:t>				?&gt;</a:t>
            </a:r>
          </a:p>
          <a:p>
            <a:r>
              <a:rPr lang="en-US" dirty="0" smtClean="0"/>
              <a:t>				</a:t>
            </a:r>
          </a:p>
          <a:p>
            <a:r>
              <a:rPr lang="en-US" dirty="0" smtClean="0"/>
              <a:t>				&lt;div id="apDiv1"&gt;</a:t>
            </a:r>
          </a:p>
          <a:p>
            <a:r>
              <a:rPr lang="en-US" dirty="0" smtClean="0"/>
              <a:t>				&lt;?php</a:t>
            </a:r>
          </a:p>
          <a:p>
            <a:r>
              <a:rPr lang="en-US" dirty="0" smtClean="0"/>
              <a:t>						echo "&lt;h1&gt;Liaison Approving(for Liaison)&lt;/h1&gt;";</a:t>
            </a:r>
          </a:p>
          <a:p>
            <a:r>
              <a:rPr lang="en-US" dirty="0" smtClean="0"/>
              <a:t>			     ?&gt;</a:t>
            </a:r>
          </a:p>
          <a:p>
            <a:r>
              <a:rPr lang="en-US" dirty="0" smtClean="0"/>
              <a:t>				&lt;/div&gt;</a:t>
            </a:r>
          </a:p>
          <a:p>
            <a:r>
              <a:rPr lang="en-US" dirty="0" smtClean="0"/>
              <a:t>	&lt;div id="apDiv2"&gt;</a:t>
            </a:r>
          </a:p>
          <a:p>
            <a:r>
              <a:rPr lang="en-US" dirty="0" smtClean="0"/>
              <a:t>			&lt;?php</a:t>
            </a:r>
          </a:p>
          <a:p>
            <a:r>
              <a:rPr lang="en-US" dirty="0" smtClean="0"/>
              <a:t>			while($row = $result-&gt;</a:t>
            </a:r>
            <a:r>
              <a:rPr lang="en-US" dirty="0" err="1" smtClean="0"/>
              <a:t>fetch_assoc</a:t>
            </a:r>
            <a:r>
              <a:rPr lang="en-US" dirty="0" smtClean="0"/>
              <a:t>()) {</a:t>
            </a:r>
          </a:p>
          <a:p>
            <a:r>
              <a:rPr lang="en-US" dirty="0" smtClean="0"/>
              <a:t>					echo " Requester Name: " . $row["</a:t>
            </a:r>
            <a:r>
              <a:rPr lang="en-US" dirty="0" err="1" smtClean="0"/>
              <a:t>requesterName</a:t>
            </a:r>
            <a:r>
              <a:rPr lang="en-US" dirty="0" smtClean="0"/>
              <a:t>"]."&lt;</a:t>
            </a:r>
            <a:r>
              <a:rPr lang="en-US" dirty="0" err="1" smtClean="0"/>
              <a:t>br</a:t>
            </a:r>
            <a:r>
              <a:rPr lang="en-US" dirty="0" smtClean="0"/>
              <a:t>&gt;"." Requester Email: " . $row["</a:t>
            </a:r>
            <a:r>
              <a:rPr lang="en-US" dirty="0" err="1" smtClean="0"/>
              <a:t>requesterEmail</a:t>
            </a:r>
            <a:r>
              <a:rPr lang="en-US" dirty="0" smtClean="0"/>
              <a:t>"]."&lt;</a:t>
            </a:r>
            <a:r>
              <a:rPr lang="en-US" dirty="0" err="1" smtClean="0"/>
              <a:t>br</a:t>
            </a:r>
            <a:r>
              <a:rPr lang="en-US" dirty="0" smtClean="0"/>
              <a:t>&gt;"." </a:t>
            </a:r>
            <a:r>
              <a:rPr lang="en-US" dirty="0" err="1" smtClean="0"/>
              <a:t>Oclc</a:t>
            </a:r>
            <a:r>
              <a:rPr lang="en-US" dirty="0" smtClean="0"/>
              <a:t> Number: " . $row["</a:t>
            </a:r>
            <a:r>
              <a:rPr lang="en-US" dirty="0" err="1" smtClean="0"/>
              <a:t>oclcNumber</a:t>
            </a:r>
            <a:r>
              <a:rPr lang="en-US" dirty="0" smtClean="0"/>
              <a:t>"]."&lt;</a:t>
            </a:r>
            <a:r>
              <a:rPr lang="en-US" dirty="0" err="1" smtClean="0"/>
              <a:t>br</a:t>
            </a:r>
            <a:r>
              <a:rPr lang="en-US" dirty="0" smtClean="0"/>
              <a:t>&gt;"." Request link: " . "&lt;a </a:t>
            </a:r>
            <a:r>
              <a:rPr lang="en-US" dirty="0" err="1" smtClean="0"/>
              <a:t>href</a:t>
            </a:r>
            <a:r>
              <a:rPr lang="en-US" dirty="0" smtClean="0"/>
              <a:t>='".$row["</a:t>
            </a:r>
            <a:r>
              <a:rPr lang="en-US" dirty="0" err="1" smtClean="0"/>
              <a:t>oclcNumberLink</a:t>
            </a:r>
            <a:r>
              <a:rPr lang="en-US" dirty="0" smtClean="0"/>
              <a:t>"]." '  target=\"_blank\"&gt;Link&lt;/a&gt;"."&lt;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r>
              <a:rPr lang="en-US" dirty="0" smtClean="0"/>
              <a:t>					$ids=$row["</a:t>
            </a:r>
            <a:r>
              <a:rPr lang="en-US" dirty="0" err="1" smtClean="0"/>
              <a:t>idOrderRequest</a:t>
            </a:r>
            <a:r>
              <a:rPr lang="en-US" dirty="0" smtClean="0"/>
              <a:t>"];</a:t>
            </a:r>
          </a:p>
          <a:p>
            <a:r>
              <a:rPr lang="en-US" dirty="0" smtClean="0"/>
              <a:t>					 $liaisons=$row["</a:t>
            </a:r>
            <a:r>
              <a:rPr lang="en-US" dirty="0" err="1" smtClean="0"/>
              <a:t>liaisonVerification</a:t>
            </a:r>
            <a:r>
              <a:rPr lang="en-US" dirty="0" smtClean="0"/>
              <a:t>"]; </a:t>
            </a:r>
          </a:p>
          <a:p>
            <a:r>
              <a:rPr lang="en-US" dirty="0" smtClean="0"/>
              <a:t>					?&gt;</a:t>
            </a:r>
          </a:p>
          <a:p>
            <a:r>
              <a:rPr lang="en-US" dirty="0" smtClean="0"/>
              <a:t>					</a:t>
            </a:r>
          </a:p>
          <a:p>
            <a:r>
              <a:rPr lang="en-US" dirty="0" smtClean="0"/>
              <a:t>					Liaison Approval:</a:t>
            </a:r>
          </a:p>
          <a:p>
            <a:r>
              <a:rPr lang="en-US" dirty="0" smtClean="0"/>
              <a:t>					&lt;form action="edit.php" method="post"&gt;</a:t>
            </a:r>
          </a:p>
          <a:p>
            <a:r>
              <a:rPr lang="en-US" dirty="0" smtClean="0"/>
              <a:t>						&lt;input type="hidden" name="</a:t>
            </a:r>
            <a:r>
              <a:rPr lang="en-US" dirty="0" err="1" smtClean="0"/>
              <a:t>idRecord</a:t>
            </a:r>
            <a:r>
              <a:rPr lang="en-US" dirty="0" smtClean="0"/>
              <a:t>" value="&lt;?php echo $ids;?&gt;" size=5  </a:t>
            </a:r>
            <a:r>
              <a:rPr lang="en-US" dirty="0" err="1" smtClean="0"/>
              <a:t>readonly</a:t>
            </a:r>
            <a:r>
              <a:rPr lang="en-US" dirty="0" smtClean="0"/>
              <a:t> /&gt;	</a:t>
            </a:r>
          </a:p>
          <a:p>
            <a:r>
              <a:rPr lang="en-US" dirty="0" smtClean="0"/>
              <a:t>						&lt;input type="text" name="</a:t>
            </a:r>
            <a:r>
              <a:rPr lang="en-US" dirty="0" err="1" smtClean="0"/>
              <a:t>liaisonName</a:t>
            </a:r>
            <a:r>
              <a:rPr lang="en-US" dirty="0" smtClean="0"/>
              <a:t>" value="&lt;?php echo $liaisons;?&gt;" size=40 /&gt;				</a:t>
            </a:r>
          </a:p>
          <a:p>
            <a:r>
              <a:rPr lang="en-US" dirty="0" smtClean="0"/>
              <a:t>                         &lt;input name = "update" type = "submit"   id = "update" value = "Update"&gt;</a:t>
            </a:r>
          </a:p>
          <a:p>
            <a:r>
              <a:rPr lang="en-US" dirty="0" smtClean="0"/>
              <a:t>					&lt;/form&gt;</a:t>
            </a:r>
          </a:p>
          <a:p>
            <a:endParaRPr lang="en-US" dirty="0" smtClean="0"/>
          </a:p>
          <a:p>
            <a:r>
              <a:rPr lang="en-US" dirty="0" smtClean="0"/>
              <a:t>					&lt;?PHP</a:t>
            </a:r>
          </a:p>
          <a:p>
            <a:r>
              <a:rPr lang="en-US" dirty="0" smtClean="0"/>
              <a:t>							echo "&lt;</a:t>
            </a:r>
            <a:r>
              <a:rPr lang="en-US" dirty="0" err="1" smtClean="0"/>
              <a:t>br</a:t>
            </a:r>
            <a:r>
              <a:rPr lang="en-US" dirty="0" smtClean="0"/>
              <a:t>&gt;&lt;</a:t>
            </a:r>
            <a:r>
              <a:rPr lang="en-US" dirty="0" err="1" smtClean="0"/>
              <a:t>br</a:t>
            </a:r>
            <a:r>
              <a:rPr lang="en-US" dirty="0" smtClean="0"/>
              <a:t>&gt;";</a:t>
            </a:r>
          </a:p>
          <a:p>
            <a:r>
              <a:rPr lang="en-US" dirty="0" smtClean="0"/>
              <a:t>				}</a:t>
            </a:r>
          </a:p>
          <a:p>
            <a:r>
              <a:rPr lang="en-US" dirty="0" smtClean="0"/>
              <a:t>				?&gt;</a:t>
            </a:r>
          </a:p>
          <a:p>
            <a:r>
              <a:rPr lang="en-US" dirty="0" smtClean="0"/>
              <a:t>	&lt;/div&gt;</a:t>
            </a:r>
          </a:p>
          <a:p>
            <a:r>
              <a:rPr lang="en-US" dirty="0" smtClean="0"/>
              <a:t>			&lt;?php</a:t>
            </a:r>
          </a:p>
          <a:p>
            <a:r>
              <a:rPr lang="en-US" dirty="0" smtClean="0"/>
              <a:t>			} else {</a:t>
            </a:r>
          </a:p>
          <a:p>
            <a:r>
              <a:rPr lang="en-US" dirty="0" smtClean="0"/>
              <a:t>				echo "0 results";</a:t>
            </a:r>
          </a:p>
          <a:p>
            <a:r>
              <a:rPr lang="en-US" dirty="0" smtClean="0"/>
              <a:t>			}</a:t>
            </a:r>
          </a:p>
          <a:p>
            <a:r>
              <a:rPr lang="en-US" dirty="0" smtClean="0"/>
              <a:t>			?&gt;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           &lt;/form&gt;</a:t>
            </a:r>
          </a:p>
          <a:p>
            <a:r>
              <a:rPr lang="en-US" dirty="0" smtClean="0"/>
              <a:t>            &lt;?php</a:t>
            </a:r>
          </a:p>
          <a:p>
            <a:r>
              <a:rPr lang="en-US" dirty="0" smtClean="0"/>
              <a:t>         }</a:t>
            </a:r>
          </a:p>
          <a:p>
            <a:r>
              <a:rPr lang="en-US" dirty="0" smtClean="0"/>
              <a:t>      ?&gt;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&lt;/body&gt;</a:t>
            </a:r>
          </a:p>
          <a:p>
            <a:r>
              <a:rPr lang="en-US" dirty="0" smtClean="0"/>
              <a:t>&lt;/html&gt;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en-US" dirty="0" smtClean="0"/>
              <a:t>Designer: programming</a:t>
            </a:r>
            <a:r>
              <a:rPr lang="en-US" baseline="0" dirty="0" smtClean="0"/>
              <a:t> logic-</a:t>
            </a:r>
            <a:r>
              <a:rPr lang="en-US" sz="1200" dirty="0" smtClean="0"/>
              <a:t>Automatically extract OCLC number</a:t>
            </a:r>
            <a:endParaRPr lang="en-US" dirty="0" smtClean="0"/>
          </a:p>
          <a:p>
            <a:pPr marL="228600" indent="-228600">
              <a:buAutoNum type="arabicPeriod"/>
            </a:pPr>
            <a:r>
              <a:rPr lang="en-US" dirty="0" err="1" smtClean="0"/>
              <a:t>strpos</a:t>
            </a:r>
            <a:r>
              <a:rPr lang="en-US" dirty="0" smtClean="0"/>
              <a:t>()</a:t>
            </a:r>
          </a:p>
          <a:p>
            <a:pPr marL="228600" marR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strpos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— Find the position of the first occurrence of a substring in a string</a:t>
            </a:r>
          </a:p>
          <a:p>
            <a:pPr marL="228600" marR="0" indent="-2286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mixed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strpos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( string $haystack 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mixed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$needle [,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int$offset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= 0 ] )</a:t>
            </a:r>
            <a:endParaRPr lang="en-US" dirty="0" smtClean="0"/>
          </a:p>
          <a:p>
            <a:pPr marL="228600" indent="-228600">
              <a:buNone/>
            </a:pPr>
            <a:r>
              <a:rPr lang="en-US" dirty="0" smtClean="0"/>
              <a:t>2.  </a:t>
            </a:r>
            <a:r>
              <a:rPr lang="en-US" dirty="0" err="1" smtClean="0"/>
              <a:t>substr</a:t>
            </a:r>
            <a:r>
              <a:rPr lang="en-US" dirty="0" smtClean="0"/>
              <a:t>()</a:t>
            </a:r>
          </a:p>
          <a:p>
            <a:pPr marL="228600" indent="-228600">
              <a:buNone/>
            </a:pPr>
            <a:r>
              <a:rPr lang="en-US" sz="1200" b="0" i="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substr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— Return part of a string</a:t>
            </a:r>
          </a:p>
          <a:p>
            <a:pPr marL="228600" indent="-228600"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string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substr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( string $string ,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$start [,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</a:t>
            </a: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 $length] )</a:t>
            </a:r>
          </a:p>
          <a:p>
            <a:pPr marL="228600" indent="-228600">
              <a:buNone/>
            </a:pPr>
            <a:r>
              <a:rPr lang="en-US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3.Php script</a:t>
            </a:r>
          </a:p>
          <a:p>
            <a:pPr marL="228600" indent="-228600">
              <a:buNone/>
            </a:pPr>
            <a:r>
              <a:rPr lang="en-US" dirty="0" smtClean="0"/>
              <a:t>$</a:t>
            </a:r>
            <a:r>
              <a:rPr lang="en-US" dirty="0" err="1" smtClean="0"/>
              <a:t>beginning_position</a:t>
            </a:r>
            <a:r>
              <a:rPr lang="en-US" dirty="0" smtClean="0"/>
              <a:t>=</a:t>
            </a:r>
            <a:r>
              <a:rPr lang="en-US" dirty="0" err="1" smtClean="0"/>
              <a:t>strpos</a:t>
            </a:r>
            <a:r>
              <a:rPr lang="en-US" dirty="0" smtClean="0"/>
              <a:t>($</a:t>
            </a:r>
            <a:r>
              <a:rPr lang="en-US" dirty="0" err="1" smtClean="0"/>
              <a:t>recordLink_post,"oclc</a:t>
            </a:r>
            <a:r>
              <a:rPr lang="en-US" dirty="0" smtClean="0"/>
              <a:t>");</a:t>
            </a:r>
          </a:p>
          <a:p>
            <a:pPr marL="228600" indent="-228600">
              <a:buNone/>
            </a:pPr>
            <a:r>
              <a:rPr lang="en-US" dirty="0" smtClean="0"/>
              <a:t>$</a:t>
            </a:r>
            <a:r>
              <a:rPr lang="en-US" dirty="0" err="1" smtClean="0"/>
              <a:t>ending_position</a:t>
            </a:r>
            <a:r>
              <a:rPr lang="en-US" dirty="0" smtClean="0"/>
              <a:t>=</a:t>
            </a:r>
            <a:r>
              <a:rPr lang="en-US" dirty="0" err="1" smtClean="0"/>
              <a:t>strpos</a:t>
            </a:r>
            <a:r>
              <a:rPr lang="en-US" dirty="0" smtClean="0"/>
              <a:t>($</a:t>
            </a:r>
            <a:r>
              <a:rPr lang="en-US" dirty="0" err="1" smtClean="0"/>
              <a:t>recordLink_post</a:t>
            </a:r>
            <a:r>
              <a:rPr lang="en-US" dirty="0" smtClean="0"/>
              <a:t>,"?");</a:t>
            </a:r>
          </a:p>
          <a:p>
            <a:pPr marL="228600" indent="-228600">
              <a:buNone/>
            </a:pPr>
            <a:r>
              <a:rPr lang="en-US" dirty="0" smtClean="0"/>
              <a:t>$</a:t>
            </a:r>
            <a:r>
              <a:rPr lang="en-US" dirty="0" err="1" smtClean="0"/>
              <a:t>number_string</a:t>
            </a:r>
            <a:r>
              <a:rPr lang="en-US" dirty="0" smtClean="0"/>
              <a:t>=$</a:t>
            </a:r>
            <a:r>
              <a:rPr lang="en-US" dirty="0" err="1" smtClean="0"/>
              <a:t>ending_position</a:t>
            </a:r>
            <a:r>
              <a:rPr lang="en-US" dirty="0" smtClean="0"/>
              <a:t>-($beginning_position+5);</a:t>
            </a:r>
          </a:p>
          <a:p>
            <a:pPr marL="228600" indent="-228600">
              <a:buNone/>
            </a:pPr>
            <a:r>
              <a:rPr lang="en-US" dirty="0" smtClean="0"/>
              <a:t>$</a:t>
            </a:r>
            <a:r>
              <a:rPr lang="en-US" dirty="0" err="1" smtClean="0"/>
              <a:t>oclcNumber_processed</a:t>
            </a:r>
            <a:r>
              <a:rPr lang="en-US" dirty="0" smtClean="0"/>
              <a:t>=</a:t>
            </a:r>
            <a:r>
              <a:rPr lang="en-US" dirty="0" err="1" smtClean="0"/>
              <a:t>substr</a:t>
            </a:r>
            <a:r>
              <a:rPr lang="en-US" dirty="0" smtClean="0"/>
              <a:t>($recordLink_post,$beginning_position+5,$number_string);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Php script: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recordLink_processed</a:t>
            </a:r>
            <a:r>
              <a:rPr lang="en-US" dirty="0" smtClean="0"/>
              <a:t>="https://kilgore.share.worldcat.org/wms/cmnd/acq/search/?ai0type=scope&amp;ai0id=level3&amp;si0in=no%3A&amp;si0qs=".$oclcNumber_processed;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8C7076-7580-465C-B955-B9485B2A6B37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Click to edit Master title style</a:t>
            </a:r>
            <a:endParaRPr lang="en-US" alt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r>
              <a:rPr lang="en-US" altLang="en-US" smtClean="0"/>
              <a:t>Click to edit Master subtitle style</a:t>
            </a:r>
            <a:endParaRPr lang="en-US" alt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EB50C84-3E55-484E-8EA1-8408250BD8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0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 userDrawn="1"/>
        </p:nvGrpSpPr>
        <p:grpSpPr bwMode="auto">
          <a:xfrm>
            <a:off x="7467600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76ADB4-BCBD-4791-B2F5-E8A0F650F6E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ED86D-2E11-4F23-B4DB-FF0B69387CE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E8E49-DDF8-4547-88E7-174C81C16A5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523535-5D44-4AF1-ACAC-748F7EC0314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41AF29-26AD-4A5D-A4AA-AB1253089DF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05E67-5468-4E65-8B31-589B7553007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B14C3-DCC9-4D6D-9A7A-107BECF9EEC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FF4E4C-EAB8-45E3-8719-AAA15E37773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BC71DA-CA80-4073-B746-000A9262D1C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D2005-990B-42B0-988F-B0035F15B16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D73DB68-8E5E-4FF5-A57E-DCE43A25679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US" alt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30FDA1E9-8194-4A8E-92AD-974E7565032D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5703888" cy="2133600"/>
          </a:xfrm>
        </p:spPr>
        <p:txBody>
          <a:bodyPr/>
          <a:lstStyle/>
          <a:p>
            <a:r>
              <a:rPr lang="en-US" dirty="0" smtClean="0"/>
              <a:t>Purchase Requests Connecting to OCLC WMS Acquisition</a:t>
            </a:r>
            <a:endParaRPr 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dirty="0" smtClean="0"/>
              <a:t>Andy Tang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Agenda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Current Procedure</a:t>
            </a:r>
          </a:p>
          <a:p>
            <a:r>
              <a:rPr lang="en-US" dirty="0" smtClean="0"/>
              <a:t>The possible changes</a:t>
            </a:r>
          </a:p>
          <a:p>
            <a:r>
              <a:rPr lang="en-US" dirty="0" smtClean="0"/>
              <a:t>OCLC WMS solutions</a:t>
            </a:r>
          </a:p>
          <a:p>
            <a:r>
              <a:rPr lang="en-US" dirty="0" smtClean="0"/>
              <a:t>My solution</a:t>
            </a:r>
          </a:p>
          <a:p>
            <a:r>
              <a:rPr lang="en-US" dirty="0" smtClean="0"/>
              <a:t>Liaison involvement</a:t>
            </a:r>
          </a:p>
          <a:p>
            <a:r>
              <a:rPr lang="en-US" dirty="0" smtClean="0"/>
              <a:t>Amazon solutions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3990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Procedure</a:t>
            </a:r>
          </a:p>
        </p:txBody>
      </p:sp>
      <p:cxnSp>
        <p:nvCxnSpPr>
          <p:cNvPr id="11" name="Straight Arrow Connector 10"/>
          <p:cNvCxnSpPr>
            <a:endCxn id="71685" idx="1"/>
          </p:cNvCxnSpPr>
          <p:nvPr/>
        </p:nvCxnSpPr>
        <p:spPr bwMode="auto">
          <a:xfrm rot="5400000" flipH="1" flipV="1">
            <a:off x="1853783" y="2461014"/>
            <a:ext cx="935841" cy="928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endCxn id="71684" idx="1"/>
          </p:cNvCxnSpPr>
          <p:nvPr/>
        </p:nvCxnSpPr>
        <p:spPr bwMode="auto">
          <a:xfrm>
            <a:off x="1857356" y="3393281"/>
            <a:ext cx="1000132" cy="3323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>
            <a:endCxn id="71686" idx="1"/>
          </p:cNvCxnSpPr>
          <p:nvPr/>
        </p:nvCxnSpPr>
        <p:spPr bwMode="auto">
          <a:xfrm rot="16200000" flipH="1">
            <a:off x="1565653" y="3684984"/>
            <a:ext cx="1583539" cy="10001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168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0" y="3000372"/>
            <a:ext cx="1643074" cy="1403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0" name="Straight Arrow Connector 29"/>
          <p:cNvCxnSpPr>
            <a:stCxn id="71685" idx="3"/>
          </p:cNvCxnSpPr>
          <p:nvPr/>
        </p:nvCxnSpPr>
        <p:spPr bwMode="auto">
          <a:xfrm>
            <a:off x="4195750" y="2457440"/>
            <a:ext cx="1233506" cy="7572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Straight Arrow Connector 31"/>
          <p:cNvCxnSpPr>
            <a:stCxn id="71684" idx="3"/>
          </p:cNvCxnSpPr>
          <p:nvPr/>
        </p:nvCxnSpPr>
        <p:spPr bwMode="auto">
          <a:xfrm flipV="1">
            <a:off x="3929058" y="3571876"/>
            <a:ext cx="1643074" cy="1537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>
            <a:stCxn id="71686" idx="3"/>
          </p:cNvCxnSpPr>
          <p:nvPr/>
        </p:nvCxnSpPr>
        <p:spPr bwMode="auto">
          <a:xfrm flipV="1">
            <a:off x="4181463" y="4214818"/>
            <a:ext cx="1604983" cy="7620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57818" y="2285992"/>
            <a:ext cx="18573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7488" y="3214685"/>
            <a:ext cx="1071570" cy="1021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86050" y="1928802"/>
            <a:ext cx="14097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6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488" y="4500570"/>
            <a:ext cx="132397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7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705454" y="3214686"/>
            <a:ext cx="115083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8" name="Straight Arrow Connector 47"/>
          <p:cNvCxnSpPr>
            <a:endCxn id="71687" idx="1"/>
          </p:cNvCxnSpPr>
          <p:nvPr/>
        </p:nvCxnSpPr>
        <p:spPr bwMode="auto">
          <a:xfrm>
            <a:off x="7072330" y="3643314"/>
            <a:ext cx="63312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1688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643702" y="4857760"/>
            <a:ext cx="22669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6" name="Straight Arrow Connector 65"/>
          <p:cNvCxnSpPr/>
          <p:nvPr/>
        </p:nvCxnSpPr>
        <p:spPr bwMode="auto">
          <a:xfrm rot="5400000">
            <a:off x="7572396" y="4500570"/>
            <a:ext cx="85725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1689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57158" y="3000372"/>
            <a:ext cx="145732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The Current Form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643050"/>
            <a:ext cx="8073438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Possible Changes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28662" y="2000240"/>
            <a:ext cx="1409524" cy="105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>
            <a:endCxn id="9" idx="2"/>
          </p:cNvCxnSpPr>
          <p:nvPr/>
        </p:nvCxnSpPr>
        <p:spPr bwMode="auto">
          <a:xfrm>
            <a:off x="2428860" y="2500306"/>
            <a:ext cx="1571636" cy="8929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Round Same Side Corner Rectangle 8"/>
          <p:cNvSpPr/>
          <p:nvPr/>
        </p:nvSpPr>
        <p:spPr bwMode="auto">
          <a:xfrm>
            <a:off x="4000496" y="2857496"/>
            <a:ext cx="2071702" cy="1071570"/>
          </a:xfrm>
          <a:prstGeom prst="round2Same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charset="0"/>
              </a:rPr>
              <a:t>Embedded</a:t>
            </a:r>
            <a:r>
              <a:rPr kumimoji="0" lang="en-US" sz="1800" b="1" i="0" u="none" strike="noStrike" cap="none" normalizeH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charset="0"/>
              </a:rPr>
              <a:t> Online Form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charset="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4935822"/>
            <a:ext cx="1214446" cy="1158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Straight Arrow Connector 11"/>
          <p:cNvCxnSpPr>
            <a:stCxn id="10" idx="3"/>
          </p:cNvCxnSpPr>
          <p:nvPr/>
        </p:nvCxnSpPr>
        <p:spPr bwMode="auto">
          <a:xfrm flipV="1">
            <a:off x="2214546" y="3500438"/>
            <a:ext cx="1785950" cy="20144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00100" y="3571876"/>
            <a:ext cx="132397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Straight Arrow Connector 19"/>
          <p:cNvCxnSpPr>
            <a:stCxn id="17" idx="3"/>
            <a:endCxn id="9" idx="2"/>
          </p:cNvCxnSpPr>
          <p:nvPr/>
        </p:nvCxnSpPr>
        <p:spPr bwMode="auto">
          <a:xfrm flipV="1">
            <a:off x="2324075" y="3393281"/>
            <a:ext cx="1676421" cy="6548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4" name="Picture 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929454" y="2857496"/>
            <a:ext cx="1505425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86578" y="2071678"/>
            <a:ext cx="18573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7" name="Straight Arrow Connector 26"/>
          <p:cNvCxnSpPr>
            <a:stCxn id="9" idx="0"/>
          </p:cNvCxnSpPr>
          <p:nvPr/>
        </p:nvCxnSpPr>
        <p:spPr bwMode="auto">
          <a:xfrm>
            <a:off x="6072198" y="3393281"/>
            <a:ext cx="1071570" cy="357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072066" y="4572008"/>
            <a:ext cx="1071570" cy="105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Straight Arrow Connector 31"/>
          <p:cNvCxnSpPr>
            <a:endCxn id="94210" idx="0"/>
          </p:cNvCxnSpPr>
          <p:nvPr/>
        </p:nvCxnSpPr>
        <p:spPr bwMode="auto">
          <a:xfrm rot="16200000" flipH="1">
            <a:off x="5268522" y="4232679"/>
            <a:ext cx="642940" cy="3571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34" name="Straight Arrow Connector 33"/>
          <p:cNvCxnSpPr>
            <a:stCxn id="10" idx="3"/>
          </p:cNvCxnSpPr>
          <p:nvPr/>
        </p:nvCxnSpPr>
        <p:spPr bwMode="auto">
          <a:xfrm flipV="1">
            <a:off x="2214546" y="5500702"/>
            <a:ext cx="857256" cy="14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143240" y="5072074"/>
            <a:ext cx="10477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7" name="Straight Arrow Connector 36"/>
          <p:cNvCxnSpPr>
            <a:stCxn id="94211" idx="3"/>
            <a:endCxn id="94210" idx="1"/>
          </p:cNvCxnSpPr>
          <p:nvPr/>
        </p:nvCxnSpPr>
        <p:spPr bwMode="auto">
          <a:xfrm flipV="1">
            <a:off x="4190990" y="5101179"/>
            <a:ext cx="881076" cy="3852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2" name="Picture 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358082" y="4572008"/>
            <a:ext cx="115083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4" name="Straight Arrow Connector 43"/>
          <p:cNvCxnSpPr/>
          <p:nvPr/>
        </p:nvCxnSpPr>
        <p:spPr bwMode="auto">
          <a:xfrm rot="5400000">
            <a:off x="7679553" y="4321975"/>
            <a:ext cx="50006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5" name="Picture 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7000892" y="5786454"/>
            <a:ext cx="1838322" cy="818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7" name="Straight Arrow Connector 46"/>
          <p:cNvCxnSpPr>
            <a:stCxn id="42" idx="2"/>
            <a:endCxn id="45" idx="0"/>
          </p:cNvCxnSpPr>
          <p:nvPr/>
        </p:nvCxnSpPr>
        <p:spPr bwMode="auto">
          <a:xfrm rot="5400000">
            <a:off x="7748182" y="5601135"/>
            <a:ext cx="357190" cy="134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OCLC WMS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Admin: enable selector roles for purchase requests</a:t>
            </a:r>
          </a:p>
          <a:p>
            <a:r>
              <a:rPr lang="en-US" dirty="0" smtClean="0"/>
              <a:t>Faculty: double sign in within Worldcat.org</a:t>
            </a:r>
          </a:p>
          <a:p>
            <a:r>
              <a:rPr lang="en-US" dirty="0" smtClean="0"/>
              <a:t>Faculty : search items they want</a:t>
            </a:r>
          </a:p>
          <a:p>
            <a:r>
              <a:rPr lang="en-US" dirty="0" smtClean="0"/>
              <a:t>Faculty : add to list</a:t>
            </a:r>
          </a:p>
          <a:p>
            <a:r>
              <a:rPr lang="en-US" dirty="0" smtClean="0"/>
              <a:t>Faculty : request an item</a:t>
            </a:r>
          </a:p>
          <a:p>
            <a:r>
              <a:rPr lang="en-US" dirty="0" smtClean="0"/>
              <a:t>Acquisition: browse and pick up the order</a:t>
            </a:r>
          </a:p>
          <a:p>
            <a:r>
              <a:rPr lang="en-US" dirty="0" smtClean="0"/>
              <a:t>Acquisition: complete the order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Admin: enable selector roles for purchase requests</a:t>
            </a:r>
            <a:endParaRPr lang="en-US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82736" y="1719263"/>
            <a:ext cx="6378528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Faculty: sign in at Worldcat.org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00200"/>
            <a:ext cx="8083931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Faculty: double Sign 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71612"/>
            <a:ext cx="7904157" cy="49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Faculty: add to list</a:t>
            </a:r>
            <a:endParaRPr lang="en-US" dirty="0"/>
          </a:p>
        </p:txBody>
      </p:sp>
      <p:pic>
        <p:nvPicPr>
          <p:cNvPr id="983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15440" y="1719263"/>
            <a:ext cx="6913119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Faculty: request the item</a:t>
            </a:r>
            <a:endParaRPr lang="en-US" dirty="0"/>
          </a:p>
        </p:txBody>
      </p:sp>
      <p:pic>
        <p:nvPicPr>
          <p:cNvPr id="993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71612"/>
            <a:ext cx="585787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Acquisition: browse and pick up the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7513651" cy="492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Acquisition: complete the order</a:t>
            </a:r>
            <a:endParaRPr lang="en-US" dirty="0"/>
          </a:p>
        </p:txBody>
      </p:sp>
      <p:pic>
        <p:nvPicPr>
          <p:cNvPr id="10137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8268" y="1719262"/>
            <a:ext cx="8144942" cy="456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pros and cons of OCLC WMS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Pros</a:t>
            </a:r>
          </a:p>
          <a:p>
            <a:pPr lvl="1"/>
            <a:r>
              <a:rPr lang="en-US" dirty="0" smtClean="0"/>
              <a:t>Streamlined</a:t>
            </a:r>
          </a:p>
          <a:p>
            <a:pPr lvl="1"/>
            <a:r>
              <a:rPr lang="en-US" dirty="0" smtClean="0"/>
              <a:t>One step from item request to orders</a:t>
            </a:r>
          </a:p>
          <a:p>
            <a:pPr lvl="1"/>
            <a:r>
              <a:rPr lang="en-US" dirty="0" smtClean="0"/>
              <a:t>Seamless connection</a:t>
            </a:r>
          </a:p>
          <a:p>
            <a:r>
              <a:rPr lang="en-US" dirty="0" smtClean="0"/>
              <a:t>Cons</a:t>
            </a:r>
          </a:p>
          <a:p>
            <a:pPr lvl="1"/>
            <a:r>
              <a:rPr lang="en-US" dirty="0" smtClean="0"/>
              <a:t>Approval step is lost</a:t>
            </a:r>
          </a:p>
          <a:p>
            <a:pPr lvl="1"/>
            <a:r>
              <a:rPr lang="en-US" dirty="0" smtClean="0"/>
              <a:t>Backup for requests does not exist</a:t>
            </a:r>
          </a:p>
          <a:p>
            <a:pPr lvl="1"/>
            <a:r>
              <a:rPr lang="en-US" dirty="0" smtClean="0"/>
              <a:t>OCLC discovery         OCLC WMS</a:t>
            </a:r>
          </a:p>
        </p:txBody>
      </p:sp>
      <p:pic>
        <p:nvPicPr>
          <p:cNvPr id="1024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5143512"/>
            <a:ext cx="607733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71612"/>
            <a:ext cx="8472518" cy="4853010"/>
          </a:xfrm>
        </p:spPr>
        <p:txBody>
          <a:bodyPr/>
          <a:lstStyle/>
          <a:p>
            <a:r>
              <a:rPr lang="en-US" sz="2400" dirty="0" smtClean="0"/>
              <a:t>Designer: design PHP script</a:t>
            </a:r>
          </a:p>
          <a:p>
            <a:r>
              <a:rPr lang="en-US" sz="2400" dirty="0" smtClean="0"/>
              <a:t>Designer: create </a:t>
            </a:r>
            <a:r>
              <a:rPr lang="en-US" sz="2400" dirty="0" err="1" smtClean="0"/>
              <a:t>MySQL</a:t>
            </a:r>
            <a:r>
              <a:rPr lang="en-US" sz="2400" dirty="0" smtClean="0"/>
              <a:t> database</a:t>
            </a:r>
          </a:p>
          <a:p>
            <a:r>
              <a:rPr lang="en-US" sz="2400" dirty="0" smtClean="0"/>
              <a:t>Designer: use top navigation bar to hold PHP script links</a:t>
            </a:r>
          </a:p>
          <a:p>
            <a:r>
              <a:rPr lang="en-US" sz="2400" dirty="0" smtClean="0"/>
              <a:t>Faculty: start with OCLC Discovery</a:t>
            </a:r>
          </a:p>
          <a:p>
            <a:r>
              <a:rPr lang="en-US" sz="2400" dirty="0" smtClean="0"/>
              <a:t>Faculty : use Record Link function provided by OCLC</a:t>
            </a:r>
          </a:p>
          <a:p>
            <a:r>
              <a:rPr lang="en-US" sz="2400" dirty="0" smtClean="0"/>
              <a:t>Faculty : click PHP script links from top navigation bar </a:t>
            </a:r>
          </a:p>
          <a:p>
            <a:r>
              <a:rPr lang="en-US" sz="2400" dirty="0" smtClean="0"/>
              <a:t>Faculty : inputs and pastes name, email, and item link</a:t>
            </a:r>
          </a:p>
          <a:p>
            <a:r>
              <a:rPr lang="en-US" sz="2400" dirty="0" smtClean="0"/>
              <a:t>Liaison involvement</a:t>
            </a:r>
          </a:p>
          <a:p>
            <a:r>
              <a:rPr lang="en-US" sz="2400" dirty="0" smtClean="0"/>
              <a:t>Designer: transfer the item link in OCLC discovery to the one which can take us to OCLC WMS</a:t>
            </a:r>
          </a:p>
          <a:p>
            <a:r>
              <a:rPr lang="en-US" sz="2400" dirty="0" smtClean="0"/>
              <a:t>Acquisition: Click this link and go into Process </a:t>
            </a:r>
            <a:r>
              <a:rPr lang="en-US" sz="2400" smtClean="0"/>
              <a:t>order page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Design PHP script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571472" y="2928934"/>
            <a:ext cx="1285884" cy="57150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Index.php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2357422" y="2928934"/>
            <a:ext cx="1285884" cy="57150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Insert.php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6429388" y="2928934"/>
            <a:ext cx="1500198" cy="64294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Edit.php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4286248" y="2928934"/>
            <a:ext cx="1419236" cy="56198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Display.php</a:t>
            </a:r>
          </a:p>
        </p:txBody>
      </p:sp>
      <p:sp>
        <p:nvSpPr>
          <p:cNvPr id="10" name="Flowchart: Magnetic Disk 9"/>
          <p:cNvSpPr/>
          <p:nvPr/>
        </p:nvSpPr>
        <p:spPr bwMode="auto">
          <a:xfrm>
            <a:off x="3428992" y="4286256"/>
            <a:ext cx="1143008" cy="1071570"/>
          </a:xfrm>
          <a:prstGeom prst="flowChartMagneticDisk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MySQL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3214678" y="1857364"/>
            <a:ext cx="1785950" cy="57150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Main.css</a:t>
            </a:r>
          </a:p>
        </p:txBody>
      </p:sp>
      <p:cxnSp>
        <p:nvCxnSpPr>
          <p:cNvPr id="13" name="Straight Connector 12"/>
          <p:cNvCxnSpPr>
            <a:endCxn id="5" idx="0"/>
          </p:cNvCxnSpPr>
          <p:nvPr/>
        </p:nvCxnSpPr>
        <p:spPr bwMode="auto">
          <a:xfrm rot="5400000">
            <a:off x="1071538" y="2786058"/>
            <a:ext cx="285752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1214414" y="2643182"/>
            <a:ext cx="6000792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 rot="5400000">
            <a:off x="2786844" y="2785264"/>
            <a:ext cx="285752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rot="5400000">
            <a:off x="4787108" y="2785264"/>
            <a:ext cx="285752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rot="5400000">
            <a:off x="7071536" y="2785264"/>
            <a:ext cx="285752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5" idx="2"/>
          </p:cNvCxnSpPr>
          <p:nvPr/>
        </p:nvCxnSpPr>
        <p:spPr bwMode="auto">
          <a:xfrm rot="5400000" flipH="1" flipV="1">
            <a:off x="1035819" y="3679033"/>
            <a:ext cx="35719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rot="5400000" flipH="1" flipV="1">
            <a:off x="4751389" y="3678239"/>
            <a:ext cx="35719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 rot="5400000" flipH="1" flipV="1">
            <a:off x="7073124" y="3713958"/>
            <a:ext cx="285752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rot="5400000" flipH="1" flipV="1">
            <a:off x="2751125" y="3678239"/>
            <a:ext cx="35719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>
            <a:off x="1214414" y="3857628"/>
            <a:ext cx="6000792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rot="5400000">
            <a:off x="4037008" y="2535232"/>
            <a:ext cx="214316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 rot="16200000" flipH="1">
            <a:off x="3786182" y="4071942"/>
            <a:ext cx="428630" cy="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rot="5400000">
            <a:off x="-356428" y="4643446"/>
            <a:ext cx="2285222" cy="7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8" name="Rectangle 27"/>
          <p:cNvSpPr/>
          <p:nvPr/>
        </p:nvSpPr>
        <p:spPr bwMode="auto">
          <a:xfrm>
            <a:off x="214282" y="5786454"/>
            <a:ext cx="1571636" cy="7143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Order Request</a:t>
            </a:r>
          </a:p>
        </p:txBody>
      </p:sp>
      <p:cxnSp>
        <p:nvCxnSpPr>
          <p:cNvPr id="29" name="Straight Arrow Connector 28"/>
          <p:cNvCxnSpPr/>
          <p:nvPr/>
        </p:nvCxnSpPr>
        <p:spPr bwMode="auto">
          <a:xfrm rot="5400000">
            <a:off x="4358480" y="4642652"/>
            <a:ext cx="228601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31" name="Rectangle 30"/>
          <p:cNvSpPr/>
          <p:nvPr/>
        </p:nvSpPr>
        <p:spPr bwMode="auto">
          <a:xfrm>
            <a:off x="4500562" y="5786454"/>
            <a:ext cx="1571636" cy="7143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Order </a:t>
            </a:r>
            <a:r>
              <a:rPr lang="en-US" dirty="0" smtClean="0"/>
              <a:t>Process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 rot="5400000">
            <a:off x="5822165" y="4679165"/>
            <a:ext cx="221457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6429388" y="5786454"/>
            <a:ext cx="1571636" cy="7143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Liaison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Approval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4" name="Straight Connector 43"/>
          <p:cNvCxnSpPr/>
          <p:nvPr/>
        </p:nvCxnSpPr>
        <p:spPr bwMode="auto">
          <a:xfrm>
            <a:off x="0" y="5500702"/>
            <a:ext cx="91440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2060"/>
            </a:solidFill>
            <a:prstDash val="dashDot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Rectangle 52"/>
          <p:cNvSpPr/>
          <p:nvPr/>
        </p:nvSpPr>
        <p:spPr bwMode="auto">
          <a:xfrm>
            <a:off x="8429652" y="1643050"/>
            <a:ext cx="714348" cy="378621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solidFill>
                  <a:schemeClr val="bg1"/>
                </a:solidFill>
              </a:rPr>
              <a:t>Design Logic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8429652" y="5500702"/>
            <a:ext cx="714348" cy="135729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Links</a:t>
            </a:r>
          </a:p>
        </p:txBody>
      </p:sp>
      <p:cxnSp>
        <p:nvCxnSpPr>
          <p:cNvPr id="33" name="Straight Arrow Connector 32"/>
          <p:cNvCxnSpPr>
            <a:endCxn id="28" idx="0"/>
          </p:cNvCxnSpPr>
          <p:nvPr/>
        </p:nvCxnSpPr>
        <p:spPr bwMode="auto">
          <a:xfrm rot="5400000">
            <a:off x="678629" y="3821909"/>
            <a:ext cx="2286016" cy="16430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err="1" smtClean="0"/>
              <a:t>MySQL</a:t>
            </a:r>
            <a:r>
              <a:rPr lang="en-US" dirty="0" smtClean="0"/>
              <a:t> database</a:t>
            </a:r>
            <a:endParaRPr lang="en-US" dirty="0"/>
          </a:p>
        </p:txBody>
      </p:sp>
      <p:pic>
        <p:nvPicPr>
          <p:cNvPr id="6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71612"/>
            <a:ext cx="7654265" cy="5025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top navigation bar to hold PHP script links</a:t>
            </a:r>
            <a:endParaRPr lang="en-US" dirty="0"/>
          </a:p>
        </p:txBody>
      </p:sp>
      <p:pic>
        <p:nvPicPr>
          <p:cNvPr id="1075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7543" y="1628800"/>
            <a:ext cx="7918731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Faculty: start with OCLC Discovery</a:t>
            </a:r>
            <a:endParaRPr lang="en-US" dirty="0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8027987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Faculty: use “Record Link” function provided by OCLC</a:t>
            </a:r>
            <a:endParaRPr lang="en-US" dirty="0"/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576" y="1761194"/>
            <a:ext cx="7056784" cy="4837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Faculty: copy the URL of the item</a:t>
            </a:r>
            <a:endParaRPr lang="en-US" dirty="0"/>
          </a:p>
        </p:txBody>
      </p:sp>
      <p:pic>
        <p:nvPicPr>
          <p:cNvPr id="1064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38666" y="1782236"/>
            <a:ext cx="7866667" cy="4285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Faculty clicks PHP script link “Order Request” from top navigation bar </a:t>
            </a:r>
            <a:endParaRPr lang="en-US" sz="3200" dirty="0"/>
          </a:p>
        </p:txBody>
      </p:sp>
      <p:pic>
        <p:nvPicPr>
          <p:cNvPr id="1085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54847" y="1719263"/>
            <a:ext cx="7434305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Faculty inputs and pastes  the name, email, and item link.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28596" y="1714488"/>
            <a:ext cx="8319040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Liaison involvement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Liaison approval required</a:t>
            </a:r>
          </a:p>
          <a:p>
            <a:r>
              <a:rPr lang="en-US" dirty="0" smtClean="0"/>
              <a:t>Which link </a:t>
            </a:r>
          </a:p>
          <a:p>
            <a:r>
              <a:rPr lang="en-US" dirty="0" smtClean="0"/>
              <a:t>How does liaison approve</a:t>
            </a:r>
          </a:p>
          <a:p>
            <a:r>
              <a:rPr lang="en-US" dirty="0" smtClean="0"/>
              <a:t>Liaison approval status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link will take liaison to the approval page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4123" y="1714488"/>
            <a:ext cx="845091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liaison approve</a:t>
            </a:r>
            <a:endParaRPr lang="en-US" dirty="0"/>
          </a:p>
        </p:txBody>
      </p:sp>
      <p:pic>
        <p:nvPicPr>
          <p:cNvPr id="1177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2910" y="1714488"/>
            <a:ext cx="7949035" cy="4969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Acquisition: how do we know liaison approved or not</a:t>
            </a:r>
            <a:endParaRPr lang="en-US" dirty="0"/>
          </a:p>
        </p:txBody>
      </p:sp>
      <p:pic>
        <p:nvPicPr>
          <p:cNvPr id="1187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571604" y="1571612"/>
            <a:ext cx="5643602" cy="5091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Acquisition : Click “Order process” link, then click “Request Link”.</a:t>
            </a:r>
            <a:endParaRPr lang="en-US" sz="32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337908"/>
            <a:ext cx="7215238" cy="5520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The purchase request is successfully connected to OCLC WMS</a:t>
            </a:r>
            <a:endParaRPr lang="en-US" sz="3200" dirty="0"/>
          </a:p>
        </p:txBody>
      </p:sp>
      <p:pic>
        <p:nvPicPr>
          <p:cNvPr id="1136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89985" y="1928802"/>
            <a:ext cx="8754015" cy="4186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pros and cons of my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72311242"/>
              </p:ext>
            </p:extLst>
          </p:nvPr>
        </p:nvGraphicFramePr>
        <p:xfrm>
          <a:off x="571472" y="1857364"/>
          <a:ext cx="7715304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652"/>
                <a:gridCol w="3857652"/>
              </a:tblGrid>
              <a:tr h="427397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Cons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Pros</a:t>
                      </a:r>
                      <a:endParaRPr lang="en-US" sz="2400" dirty="0"/>
                    </a:p>
                  </a:txBody>
                  <a:tcPr/>
                </a:tc>
              </a:tr>
              <a:tr h="1168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Key</a:t>
                      </a:r>
                      <a:r>
                        <a:rPr lang="en-US" sz="2400" baseline="0" dirty="0" smtClean="0"/>
                        <a:t> in r</a:t>
                      </a:r>
                      <a:r>
                        <a:rPr lang="en-US" sz="2400" dirty="0" smtClean="0"/>
                        <a:t>equester’s name and email address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Go from</a:t>
                      </a:r>
                      <a:r>
                        <a:rPr lang="en-US" sz="2400" baseline="0" dirty="0" smtClean="0"/>
                        <a:t> OCLC discovery directly into OLC WMS acquisition module</a:t>
                      </a:r>
                      <a:endParaRPr lang="en-US" sz="2400" dirty="0"/>
                    </a:p>
                  </a:txBody>
                  <a:tcPr/>
                </a:tc>
              </a:tr>
              <a:tr h="76931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Filter is </a:t>
                      </a:r>
                      <a:r>
                        <a:rPr lang="en-US" sz="2400" baseline="0" dirty="0" smtClean="0"/>
                        <a:t>not strong (not enough time)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Allow</a:t>
                      </a:r>
                      <a:r>
                        <a:rPr lang="en-US" sz="2400" baseline="0" smtClean="0"/>
                        <a:t> liaison to approve</a:t>
                      </a:r>
                      <a:endParaRPr lang="en-US" sz="2400" dirty="0"/>
                    </a:p>
                  </a:txBody>
                  <a:tcPr/>
                </a:tc>
              </a:tr>
              <a:tr h="769315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Request history</a:t>
                      </a:r>
                      <a:r>
                        <a:rPr lang="en-US" sz="2400" baseline="0" dirty="0" smtClean="0"/>
                        <a:t> can be preserved.</a:t>
                      </a:r>
                      <a:endParaRPr lang="en-US" sz="2400" dirty="0"/>
                    </a:p>
                  </a:txBody>
                  <a:tcPr/>
                </a:tc>
              </a:tr>
              <a:tr h="93348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No need to allocate selector rights for everyone in OCLC WMS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Choice</a:t>
            </a:r>
            <a:endParaRPr lang="en-US" dirty="0"/>
          </a:p>
        </p:txBody>
      </p:sp>
      <p:pic>
        <p:nvPicPr>
          <p:cNvPr id="1208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25692" y="1719263"/>
            <a:ext cx="8092615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 for Amazon:</a:t>
            </a:r>
            <a:br>
              <a:rPr lang="en-US" dirty="0" smtClean="0"/>
            </a:br>
            <a:r>
              <a:rPr lang="en-US" dirty="0" smtClean="0"/>
              <a:t>the possibilities on Amazon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Designer: analyze the link of Amazon books</a:t>
            </a:r>
          </a:p>
          <a:p>
            <a:r>
              <a:rPr lang="en-US" dirty="0" smtClean="0"/>
              <a:t>Designer: add 3 links to Firefox browser</a:t>
            </a:r>
          </a:p>
          <a:p>
            <a:pPr lvl="1"/>
            <a:r>
              <a:rPr lang="en-US" dirty="0" smtClean="0"/>
              <a:t>Order Request (for Faculty)</a:t>
            </a:r>
          </a:p>
          <a:p>
            <a:pPr lvl="1"/>
            <a:r>
              <a:rPr lang="en-US" dirty="0" smtClean="0"/>
              <a:t>Order Process (for Acquisition)</a:t>
            </a:r>
          </a:p>
          <a:p>
            <a:pPr lvl="1"/>
            <a:r>
              <a:rPr lang="en-US" dirty="0" smtClean="0"/>
              <a:t>Liaison Approval (for Liaison Staff)</a:t>
            </a:r>
          </a:p>
          <a:p>
            <a:r>
              <a:rPr lang="en-US" dirty="0" smtClean="0"/>
              <a:t>Patron: click Order Request link</a:t>
            </a:r>
          </a:p>
          <a:p>
            <a:r>
              <a:rPr lang="en-US" dirty="0" smtClean="0"/>
              <a:t>The result of clicking Order Request link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Analyze the link of Amazon book</a:t>
            </a:r>
            <a:endParaRPr lang="en-US" dirty="0"/>
          </a:p>
        </p:txBody>
      </p:sp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714488"/>
            <a:ext cx="7599363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does use ISBN to organize books</a:t>
            </a:r>
            <a:endParaRPr lang="en-US" dirty="0"/>
          </a:p>
        </p:txBody>
      </p:sp>
      <p:pic>
        <p:nvPicPr>
          <p:cNvPr id="1249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71611"/>
            <a:ext cx="6429420" cy="4874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possibility to use top navigational bar</a:t>
            </a:r>
            <a:endParaRPr lang="en-US" dirty="0"/>
          </a:p>
        </p:txBody>
      </p:sp>
      <p:pic>
        <p:nvPicPr>
          <p:cNvPr id="12595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85926"/>
            <a:ext cx="8229600" cy="365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Liaison Approve Bookmark</a:t>
            </a:r>
            <a:endParaRPr lang="en-US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436124"/>
            <a:ext cx="5650626" cy="492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Faculty : click Order Request link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444794"/>
            <a:ext cx="6858048" cy="5173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Acquisition: the results </a:t>
            </a:r>
            <a:r>
              <a:rPr lang="en-US" smtClean="0"/>
              <a:t>of Clicking Order Process Link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43050"/>
            <a:ext cx="7460300" cy="4804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Request link (ISBN) lead us to OCLC WMS directly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2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7" y="1857364"/>
            <a:ext cx="8648647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Q&amp;A</a:t>
            </a:r>
            <a:endParaRPr lang="en-US" dirty="0"/>
          </a:p>
        </p:txBody>
      </p:sp>
      <p:pic>
        <p:nvPicPr>
          <p:cNvPr id="14338" name="Picture 2" descr="C:\Program Files\Microsoft Office\MEDIA\CAGCAT10\j0216516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1572768" cy="182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67944" y="2492896"/>
            <a:ext cx="27363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 smtClean="0">
                <a:solidFill>
                  <a:srgbClr val="FF0000"/>
                </a:solidFill>
              </a:rPr>
              <a:t>?</a:t>
            </a:r>
            <a:endParaRPr lang="en-US" sz="16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I </a:t>
            </a:r>
            <a:br>
              <a:rPr lang="en-US" dirty="0" smtClean="0"/>
            </a:br>
            <a:r>
              <a:rPr lang="en-US" dirty="0" smtClean="0"/>
              <a:t>MySQL database structure</a:t>
            </a:r>
            <a:endParaRPr lang="en-US" dirty="0"/>
          </a:p>
        </p:txBody>
      </p:sp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7400085" cy="4859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II </a:t>
            </a:r>
            <a:br>
              <a:rPr lang="en-US" dirty="0" smtClean="0"/>
            </a:br>
            <a:r>
              <a:rPr lang="en-US" dirty="0" smtClean="0"/>
              <a:t>The PHP Script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index.php</a:t>
            </a:r>
          </a:p>
          <a:p>
            <a:pPr marL="514350" indent="-514350">
              <a:buAutoNum type="arabicPeriod"/>
            </a:pPr>
            <a:r>
              <a:rPr lang="en-US" dirty="0" smtClean="0"/>
              <a:t>insert.php</a:t>
            </a:r>
          </a:p>
          <a:p>
            <a:pPr marL="514350" indent="-514350">
              <a:buAutoNum type="arabicPeriod"/>
            </a:pPr>
            <a:r>
              <a:rPr lang="en-US" dirty="0" smtClean="0"/>
              <a:t>display.php</a:t>
            </a:r>
          </a:p>
          <a:p>
            <a:pPr marL="514350" indent="-514350">
              <a:buAutoNum type="arabicPeriod"/>
            </a:pPr>
            <a:r>
              <a:rPr lang="en-US" dirty="0" smtClean="0"/>
              <a:t>edit.php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III </a:t>
            </a:r>
            <a:br>
              <a:rPr lang="en-US" dirty="0" smtClean="0"/>
            </a:br>
            <a:r>
              <a:rPr lang="en-US" dirty="0" smtClean="0"/>
              <a:t>Exception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Ordering when there is no </a:t>
            </a:r>
            <a:r>
              <a:rPr lang="en-US" dirty="0" err="1" smtClean="0"/>
              <a:t>WorldCat</a:t>
            </a:r>
            <a:r>
              <a:rPr lang="en-US" dirty="0" smtClean="0"/>
              <a:t> record</a:t>
            </a:r>
          </a:p>
          <a:p>
            <a:pPr lvl="1"/>
            <a:r>
              <a:rPr lang="en-US" dirty="0" smtClean="0"/>
              <a:t>Check https://www.oclc.org/content/dam/training/WMS/acquisitions/order-when-no-record/field-notes-exercises-ordering-when-no-worldcat-record.pdf</a:t>
            </a:r>
          </a:p>
          <a:p>
            <a:r>
              <a:rPr lang="en-US" dirty="0" smtClean="0"/>
              <a:t>OCLC number is in mistake</a:t>
            </a:r>
          </a:p>
          <a:p>
            <a:pPr lvl="1"/>
            <a:r>
              <a:rPr lang="en-US" dirty="0" smtClean="0"/>
              <a:t>	a. Find the correct OCLC number</a:t>
            </a:r>
          </a:p>
          <a:p>
            <a:pPr lvl="1"/>
            <a:r>
              <a:rPr lang="en-US" dirty="0" smtClean="0"/>
              <a:t>	b. Handle as no </a:t>
            </a:r>
            <a:r>
              <a:rPr lang="en-US" dirty="0" err="1" smtClean="0"/>
              <a:t>Worldcat</a:t>
            </a:r>
            <a:r>
              <a:rPr lang="en-US" dirty="0" smtClean="0"/>
              <a:t> record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Appendix IV: </a:t>
            </a:r>
            <a:br>
              <a:rPr lang="en-US" sz="3200" dirty="0" smtClean="0"/>
            </a:br>
            <a:r>
              <a:rPr lang="en-US" sz="3200" dirty="0" smtClean="0"/>
              <a:t>The link transformation explanation</a:t>
            </a:r>
            <a:endParaRPr lang="en-US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714488"/>
            <a:ext cx="8610711" cy="4710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7543800" cy="1295400"/>
          </a:xfrm>
        </p:spPr>
        <p:txBody>
          <a:bodyPr/>
          <a:lstStyle/>
          <a:p>
            <a:r>
              <a:rPr lang="en-US" sz="3000" dirty="0" smtClean="0"/>
              <a:t>Designer: transform the link from OCLC Discovery to the one can take us to  OCLC WMS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Programming logic:</a:t>
            </a:r>
            <a:br>
              <a:rPr lang="en-US" sz="3200" dirty="0" smtClean="0"/>
            </a:br>
            <a:r>
              <a:rPr lang="en-US" sz="3200" dirty="0" smtClean="0"/>
              <a:t>Automatically extract OCLC number from item link provided by OCLC Discovery</a:t>
            </a:r>
          </a:p>
          <a:p>
            <a:r>
              <a:rPr lang="en-US" sz="3200" dirty="0" smtClean="0"/>
              <a:t>Add OCLC number to OCLC WMS prefix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/>
              <a:t>Programming logic: Automatically extract OCLC number from the item link provided by OCLC Discovery</a:t>
            </a:r>
            <a:endParaRPr lang="en-US" sz="3000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2910" y="1785926"/>
            <a:ext cx="7934912" cy="4710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Add OCLC number to the right side of OCLC WMS website prefix</a:t>
            </a:r>
            <a:endParaRPr lang="en-US" sz="3600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28596" y="1714488"/>
            <a:ext cx="8199258" cy="4518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aining presentation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9459</TotalTime>
  <Words>1119</Words>
  <Application>Microsoft Office PowerPoint</Application>
  <PresentationFormat>On-screen Show (4:3)</PresentationFormat>
  <Paragraphs>512</Paragraphs>
  <Slides>47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Training presentation</vt:lpstr>
      <vt:lpstr>Purchase Requests Connecting to OCLC WMS Acquisition</vt:lpstr>
      <vt:lpstr>Agenda</vt:lpstr>
      <vt:lpstr>Current Procedure</vt:lpstr>
      <vt:lpstr>The Current Form</vt:lpstr>
      <vt:lpstr>The Possible Changes</vt:lpstr>
      <vt:lpstr>OCLC WMS solutions</vt:lpstr>
      <vt:lpstr> Admin: enable selector roles for purchase requests</vt:lpstr>
      <vt:lpstr>Faculty: sign in at Worldcat.org</vt:lpstr>
      <vt:lpstr>Faculty: double Sign in</vt:lpstr>
      <vt:lpstr>Faculty: add to list</vt:lpstr>
      <vt:lpstr>Faculty: request the item</vt:lpstr>
      <vt:lpstr>Acquisition: browse and pick up the order</vt:lpstr>
      <vt:lpstr>Acquisition: complete the order</vt:lpstr>
      <vt:lpstr>The pros and cons of OCLC WMS solutions</vt:lpstr>
      <vt:lpstr>My solution</vt:lpstr>
      <vt:lpstr> Design PHP script</vt:lpstr>
      <vt:lpstr>Create MySQL database</vt:lpstr>
      <vt:lpstr>Use top navigation bar to hold PHP script links</vt:lpstr>
      <vt:lpstr>Faculty: start with OCLC Discovery</vt:lpstr>
      <vt:lpstr>Faculty: use “Record Link” function provided by OCLC</vt:lpstr>
      <vt:lpstr>Faculty: copy the URL of the item</vt:lpstr>
      <vt:lpstr>Faculty clicks PHP script link “Order Request” from top navigation bar </vt:lpstr>
      <vt:lpstr>Faculty inputs and pastes  the name, email, and item link. </vt:lpstr>
      <vt:lpstr>Liaison involvement</vt:lpstr>
      <vt:lpstr>Which link will take liaison to the approval page</vt:lpstr>
      <vt:lpstr>How does liaison approve</vt:lpstr>
      <vt:lpstr>Acquisition: how do we know liaison approved or not</vt:lpstr>
      <vt:lpstr>Acquisition : Click “Order process” link, then click “Request Link”.</vt:lpstr>
      <vt:lpstr>The purchase request is successfully connected to OCLC WMS</vt:lpstr>
      <vt:lpstr>The pros and cons of my solution</vt:lpstr>
      <vt:lpstr>Other Choice</vt:lpstr>
      <vt:lpstr>Solutions for Amazon: the possibilities on Amazon</vt:lpstr>
      <vt:lpstr>Analyze the link of Amazon book</vt:lpstr>
      <vt:lpstr>Amazon does use ISBN to organize books</vt:lpstr>
      <vt:lpstr>The possibility to use top navigational bar</vt:lpstr>
      <vt:lpstr>Liaison Approve Bookmark</vt:lpstr>
      <vt:lpstr>Faculty : click Order Request link</vt:lpstr>
      <vt:lpstr>Acquisition: the results of Clicking Order Process Link</vt:lpstr>
      <vt:lpstr>The Request link (ISBN) lead us to OCLC WMS directly </vt:lpstr>
      <vt:lpstr>Q&amp;A</vt:lpstr>
      <vt:lpstr>Appendix I  MySQL database structure</vt:lpstr>
      <vt:lpstr>Appendix II  The PHP Script code</vt:lpstr>
      <vt:lpstr>Appendix III  Exception</vt:lpstr>
      <vt:lpstr>Appendix IV:  The link transformation explanation</vt:lpstr>
      <vt:lpstr>Designer: transform the link from OCLC Discovery to the one can take us to  OCLC WMS</vt:lpstr>
      <vt:lpstr>Programming logic: Automatically extract OCLC number from the item link provided by OCLC Discovery</vt:lpstr>
      <vt:lpstr>Add OCLC number to the right side of OCLC WMS website prefix</vt:lpstr>
    </vt:vector>
  </TitlesOfParts>
  <Company>Victory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Training Presentation</dc:title>
  <dc:creator>Sarcasm101</dc:creator>
  <cp:lastModifiedBy>David</cp:lastModifiedBy>
  <cp:revision>700</cp:revision>
  <dcterms:created xsi:type="dcterms:W3CDTF">2014-12-13T15:27:58Z</dcterms:created>
  <dcterms:modified xsi:type="dcterms:W3CDTF">2016-07-18T15:37:17Z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TC060888081033</vt:lpwstr>
  </property>
</Properties>
</file>